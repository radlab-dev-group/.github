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60" r:id="rId3"/>
    <p:sldId id="259" r:id="rId4"/>
    <p:sldId id="261" r:id="rId5"/>
  </p:sldIdLst>
  <p:sldSz cx="12192000" cy="6858000"/>
  <p:notesSz cx="6858000" cy="9144000"/>
  <p:embeddedFontLst>
    <p:embeddedFont>
      <p:font typeface="Play" panose="020B0604020202020204" charset="0"/>
      <p:regular r:id="rId7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hgewdRCyQ+IXaJ34xI57d6gE1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09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i-tos.radlab.dev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683291" y="495110"/>
            <a:ext cx="11112088" cy="966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1B0532"/>
              </a:buClr>
              <a:buSzPts val="5200"/>
            </a:pPr>
            <a:endParaRPr dirty="0"/>
          </a:p>
        </p:txBody>
      </p:sp>
      <p:sp>
        <p:nvSpPr>
          <p:cNvPr id="100" name="Google Shape;100;p2"/>
          <p:cNvSpPr txBox="1"/>
          <p:nvPr/>
        </p:nvSpPr>
        <p:spPr>
          <a:xfrm>
            <a:off x="4010731" y="2105390"/>
            <a:ext cx="8181269" cy="3031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1B0532"/>
              </a:buClr>
              <a:buSzPts val="2000"/>
            </a:pPr>
            <a:endParaRPr lang="pl-PL" sz="3200" dirty="0">
              <a:solidFill>
                <a:srgbClr val="1B0532"/>
              </a:solidFill>
            </a:endParaRPr>
          </a:p>
          <a:p>
            <a:pPr lvl="0">
              <a:lnSpc>
                <a:spcPct val="90000"/>
              </a:lnSpc>
              <a:buClr>
                <a:srgbClr val="1B0532"/>
              </a:buClr>
              <a:buSzPts val="2000"/>
            </a:pPr>
            <a:r>
              <a:rPr lang="pl-PL" sz="2000" b="1" dirty="0">
                <a:solidFill>
                  <a:srgbClr val="1B0532"/>
                </a:solidFill>
              </a:rPr>
              <a:t>cel: </a:t>
            </a:r>
            <a:r>
              <a:rPr lang="pl-PL" sz="2000" dirty="0">
                <a:solidFill>
                  <a:srgbClr val="1B0532"/>
                </a:solidFill>
              </a:rPr>
              <a:t>usprawnienie nawigacji beneficjentów w systemie bezpłatnej pomocy psychologicznej w Warszawie;</a:t>
            </a:r>
          </a:p>
          <a:p>
            <a:pPr lvl="0">
              <a:lnSpc>
                <a:spcPct val="90000"/>
              </a:lnSpc>
              <a:buClr>
                <a:srgbClr val="1B0532"/>
              </a:buClr>
              <a:buSzPts val="2000"/>
            </a:pPr>
            <a:endParaRPr lang="pl-PL" sz="2000" dirty="0">
              <a:solidFill>
                <a:srgbClr val="1B0532"/>
              </a:solidFill>
            </a:endParaRPr>
          </a:p>
          <a:p>
            <a:pPr lvl="0">
              <a:lnSpc>
                <a:spcPct val="90000"/>
              </a:lnSpc>
              <a:buClr>
                <a:srgbClr val="1B0532"/>
              </a:buClr>
              <a:buSzPts val="2000"/>
            </a:pPr>
            <a:r>
              <a:rPr lang="pl-PL" sz="2000" b="1" dirty="0">
                <a:solidFill>
                  <a:srgbClr val="1B0532"/>
                </a:solidFill>
              </a:rPr>
              <a:t>kryterium: </a:t>
            </a:r>
            <a:r>
              <a:rPr lang="pl-PL" sz="2000" dirty="0">
                <a:solidFill>
                  <a:srgbClr val="1B0532"/>
                </a:solidFill>
              </a:rPr>
              <a:t>przedstawienie beneficjentowi danych teleadresowych adekwatnej placówki w szybkim czasie;</a:t>
            </a:r>
          </a:p>
          <a:p>
            <a:pPr lvl="0">
              <a:lnSpc>
                <a:spcPct val="90000"/>
              </a:lnSpc>
              <a:buClr>
                <a:srgbClr val="1B0532"/>
              </a:buClr>
              <a:buSzPts val="2000"/>
            </a:pPr>
            <a:endParaRPr lang="pl-PL" sz="2000" dirty="0">
              <a:solidFill>
                <a:srgbClr val="1B0532"/>
              </a:solidFill>
            </a:endParaRPr>
          </a:p>
          <a:p>
            <a:pPr lvl="0">
              <a:lnSpc>
                <a:spcPct val="90000"/>
              </a:lnSpc>
              <a:buClr>
                <a:srgbClr val="1B0532"/>
              </a:buClr>
              <a:buSzPts val="2000"/>
            </a:pPr>
            <a:r>
              <a:rPr lang="pl-PL" sz="2000" b="1" dirty="0">
                <a:solidFill>
                  <a:srgbClr val="1B0532"/>
                </a:solidFill>
              </a:rPr>
              <a:t>produkt końcowy: </a:t>
            </a:r>
            <a:r>
              <a:rPr lang="pl-PL" sz="2000" dirty="0" err="1">
                <a:solidFill>
                  <a:srgbClr val="1B0532"/>
                </a:solidFill>
              </a:rPr>
              <a:t>Chatbot</a:t>
            </a:r>
            <a:r>
              <a:rPr lang="pl-PL" sz="2000" dirty="0">
                <a:solidFill>
                  <a:srgbClr val="1B0532"/>
                </a:solidFill>
              </a:rPr>
              <a:t> </a:t>
            </a:r>
            <a:r>
              <a:rPr lang="pl-PL" sz="2000" dirty="0" err="1">
                <a:solidFill>
                  <a:srgbClr val="1B0532"/>
                </a:solidFill>
              </a:rPr>
              <a:t>Helpi</a:t>
            </a:r>
            <a:endParaRPr lang="pl-PL" sz="2000" dirty="0">
              <a:solidFill>
                <a:srgbClr val="1B0532"/>
              </a:solidFill>
            </a:endParaRPr>
          </a:p>
          <a:p>
            <a:pPr lvl="0">
              <a:lnSpc>
                <a:spcPct val="90000"/>
              </a:lnSpc>
              <a:buClr>
                <a:srgbClr val="1B0532"/>
              </a:buClr>
              <a:buSzPts val="2000"/>
            </a:pPr>
            <a:endParaRPr lang="pl-PL" sz="2000" dirty="0">
              <a:solidFill>
                <a:srgbClr val="1B0532"/>
              </a:solidFill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23130" y="6287239"/>
            <a:ext cx="5424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1B05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765587" y="6287238"/>
            <a:ext cx="4619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67613FE-8E8F-C50D-1B6E-9671D1B4568B}"/>
              </a:ext>
            </a:extLst>
          </p:cNvPr>
          <p:cNvSpPr txBox="1"/>
          <p:nvPr/>
        </p:nvSpPr>
        <p:spPr>
          <a:xfrm>
            <a:off x="3049191" y="3275111"/>
            <a:ext cx="6093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dirty="0">
                <a:effectLst/>
              </a:rPr>
              <a:t> </a:t>
            </a: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D27B00E-0F72-7F4E-4F9B-77C2AA5B9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701" y="426268"/>
            <a:ext cx="2636108" cy="1224692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A194196E-396E-C161-84E3-07EAE60B59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30" t="329" r="4704"/>
          <a:stretch>
            <a:fillRect/>
          </a:stretch>
        </p:blipFill>
        <p:spPr>
          <a:xfrm>
            <a:off x="500062" y="495110"/>
            <a:ext cx="2943225" cy="58394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825500" y="498823"/>
            <a:ext cx="5636966" cy="19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ctr" anchorCtr="0">
            <a:normAutofit lnSpcReduction="10000"/>
          </a:bodyPr>
          <a:lstStyle/>
          <a:p>
            <a:pPr>
              <a:buClr>
                <a:srgbClr val="B58827"/>
              </a:buClr>
              <a:buSzPts val="1650"/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25500" y="779736"/>
            <a:ext cx="5636966" cy="930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08000"/>
              </a:lnSpc>
              <a:buClr>
                <a:srgbClr val="1A1A1A"/>
              </a:buClr>
              <a:buSzPts val="4950"/>
            </a:pPr>
            <a:r>
              <a:rPr lang="en-US" sz="3300" b="1">
                <a:solidFill>
                  <a:srgbClr val="1A1A1A"/>
                </a:solidFill>
              </a:rPr>
              <a:t>Budowa języka i pierwszego zbioru danych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25500" y="1888015"/>
            <a:ext cx="5636966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0000"/>
              </a:lnSpc>
              <a:buClr>
                <a:srgbClr val="555555"/>
              </a:buClr>
              <a:buSzPts val="2250"/>
            </a:pPr>
            <a:r>
              <a:rPr lang="en-US" sz="1500">
                <a:solidFill>
                  <a:srgbClr val="555555"/>
                </a:solidFill>
              </a:rPr>
              <a:t>Narzędzie </a:t>
            </a:r>
            <a:r>
              <a:rPr lang="en-US" sz="1500" b="1">
                <a:solidFill>
                  <a:srgbClr val="1A1A1A"/>
                </a:solidFill>
              </a:rPr>
              <a:t>Helpi-Lab </a:t>
            </a:r>
            <a:r>
              <a:rPr lang="en-US" sz="1500">
                <a:solidFill>
                  <a:srgbClr val="555555"/>
                </a:solidFill>
              </a:rPr>
              <a:t>— aplikacja badawcza, w której testerzy wcielali się w różne role (rodzic szukający pomocy dla dziecka, osoba w kryzysie, student) i pisali naturalne zapytania.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25500" y="2949366"/>
            <a:ext cx="5472782" cy="1694409"/>
          </a:xfrm>
          <a:prstGeom prst="roundRect">
            <a:avLst>
              <a:gd name="adj" fmla="val 5996"/>
            </a:avLst>
          </a:prstGeom>
          <a:solidFill>
            <a:srgbClr val="FFFFFF"/>
          </a:solidFill>
          <a:ln w="11900" cap="flat" cmpd="sng">
            <a:solidFill>
              <a:srgbClr val="E8E2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19050" dir="54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074664" y="3173104"/>
            <a:ext cx="5123690" cy="75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10000"/>
          </a:bodyPr>
          <a:lstStyle/>
          <a:p>
            <a:pPr>
              <a:lnSpc>
                <a:spcPct val="90000"/>
              </a:lnSpc>
              <a:buClr>
                <a:srgbClr val="B58827"/>
              </a:buClr>
              <a:buSzPts val="9600"/>
            </a:pPr>
            <a:r>
              <a:rPr lang="en-US" sz="6400" b="1">
                <a:solidFill>
                  <a:srgbClr val="B58827"/>
                </a:solidFill>
              </a:rPr>
              <a:t>680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074664" y="3993395"/>
            <a:ext cx="5123690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40000"/>
              </a:lnSpc>
              <a:buClr>
                <a:srgbClr val="555555"/>
              </a:buClr>
              <a:buSzPts val="1800"/>
            </a:pPr>
            <a:r>
              <a:rPr lang="en-US" sz="1200">
                <a:solidFill>
                  <a:srgbClr val="555555"/>
                </a:solidFill>
              </a:rPr>
              <a:t>ręcznie zaanotowanych oczekiwanych zakresów tematycznych i językowych użytkownika — „seed dataset”.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25500" y="4849901"/>
            <a:ext cx="5472800" cy="1840800"/>
          </a:xfrm>
          <a:prstGeom prst="roundRect">
            <a:avLst>
              <a:gd name="adj" fmla="val 6548"/>
            </a:avLst>
          </a:prstGeom>
          <a:solidFill>
            <a:srgbClr val="FFFFFF">
              <a:alpha val="96862"/>
            </a:srgbClr>
          </a:solidFill>
          <a:ln w="11900" cap="flat" cmpd="sng">
            <a:solidFill>
              <a:srgbClr val="E8E2D4">
                <a:alpha val="96862"/>
              </a:srgbClr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19050" dir="54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74663" y="5060980"/>
            <a:ext cx="4974456" cy="260201"/>
          </a:xfrm>
          <a:prstGeom prst="roundRect">
            <a:avLst>
              <a:gd name="adj" fmla="val 19523"/>
            </a:avLst>
          </a:prstGeom>
          <a:solidFill>
            <a:srgbClr val="EAF1F8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76264" y="5111780"/>
            <a:ext cx="4920490" cy="18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ctr" anchorCtr="0">
            <a:normAutofit lnSpcReduction="10000"/>
          </a:bodyPr>
          <a:lstStyle/>
          <a:p>
            <a:pPr>
              <a:buClr>
                <a:srgbClr val="1867AA"/>
              </a:buClr>
              <a:buSzPts val="1500"/>
            </a:pPr>
            <a:r>
              <a:rPr lang="en-US" sz="1000" b="1">
                <a:solidFill>
                  <a:srgbClr val="1867AA"/>
                </a:solidFill>
              </a:rPr>
              <a:t>TAKSONOMIA + TŁUMACZONE ZBIORY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074667" y="5422747"/>
            <a:ext cx="51236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/>
          </a:bodyPr>
          <a:lstStyle/>
          <a:p>
            <a:pPr>
              <a:lnSpc>
                <a:spcPct val="155000"/>
              </a:lnSpc>
              <a:buClr>
                <a:srgbClr val="1A1A1A"/>
              </a:buClr>
              <a:buSzPts val="1950"/>
            </a:pPr>
            <a:r>
              <a:rPr lang="en-US" sz="1300">
                <a:solidFill>
                  <a:srgbClr val="1A1A1A"/>
                </a:solidFill>
              </a:rPr>
              <a:t>Zbiory </a:t>
            </a:r>
            <a:r>
              <a:rPr lang="en-US" sz="1300" b="1">
                <a:solidFill>
                  <a:srgbClr val="1A1A1A"/>
                </a:solidFill>
              </a:rPr>
              <a:t>mental health </a:t>
            </a:r>
            <a:r>
              <a:rPr lang="en-US" sz="1300">
                <a:solidFill>
                  <a:srgbClr val="1A1A1A"/>
                </a:solidFill>
              </a:rPr>
              <a:t>z HuggingFace przetłumaczono na polski, a na podstawie przeszukiwania (crawling)  stron placówek zdefiniowano: </a:t>
            </a:r>
            <a:r>
              <a:rPr lang="en-US" sz="1300" b="1">
                <a:solidFill>
                  <a:srgbClr val="1A1A1A"/>
                </a:solidFill>
              </a:rPr>
              <a:t>typy usług (T</a:t>
            </a:r>
            <a:r>
              <a:rPr lang="en-US" sz="1300">
                <a:solidFill>
                  <a:srgbClr val="1A1A1A"/>
                </a:solidFill>
              </a:rPr>
              <a:t>ypes</a:t>
            </a:r>
            <a:r>
              <a:rPr lang="en-US" sz="1300" b="1">
                <a:solidFill>
                  <a:srgbClr val="1A1A1A"/>
                </a:solidFill>
              </a:rPr>
              <a:t> O</a:t>
            </a:r>
            <a:r>
              <a:rPr lang="en-US" sz="1300">
                <a:solidFill>
                  <a:srgbClr val="1A1A1A"/>
                </a:solidFill>
              </a:rPr>
              <a:t>f </a:t>
            </a:r>
            <a:r>
              <a:rPr lang="en-US" sz="1300" b="1">
                <a:solidFill>
                  <a:srgbClr val="1A1A1A"/>
                </a:solidFill>
              </a:rPr>
              <a:t>S</a:t>
            </a:r>
            <a:r>
              <a:rPr lang="en-US" sz="1300">
                <a:solidFill>
                  <a:srgbClr val="1A1A1A"/>
                </a:solidFill>
              </a:rPr>
              <a:t>ervices</a:t>
            </a:r>
            <a:r>
              <a:rPr lang="en-US" sz="1300" b="1">
                <a:solidFill>
                  <a:srgbClr val="1A1A1A"/>
                </a:solidFill>
              </a:rPr>
              <a:t>) </a:t>
            </a:r>
            <a:r>
              <a:rPr lang="en-US" sz="1300">
                <a:solidFill>
                  <a:srgbClr val="1A1A1A"/>
                </a:solidFill>
              </a:rPr>
              <a:t>i </a:t>
            </a:r>
            <a:r>
              <a:rPr lang="en-US" sz="1300" b="1">
                <a:solidFill>
                  <a:srgbClr val="1A1A1A"/>
                </a:solidFill>
              </a:rPr>
              <a:t>grupy docelowe (T</a:t>
            </a:r>
            <a:r>
              <a:rPr lang="en-US" sz="1300">
                <a:solidFill>
                  <a:srgbClr val="1A1A1A"/>
                </a:solidFill>
              </a:rPr>
              <a:t>arget</a:t>
            </a:r>
            <a:r>
              <a:rPr lang="en-US" sz="1300" b="1">
                <a:solidFill>
                  <a:srgbClr val="1A1A1A"/>
                </a:solidFill>
              </a:rPr>
              <a:t> G</a:t>
            </a:r>
            <a:r>
              <a:rPr lang="en-US" sz="1300">
                <a:solidFill>
                  <a:srgbClr val="1A1A1A"/>
                </a:solidFill>
              </a:rPr>
              <a:t>roups</a:t>
            </a:r>
            <a:r>
              <a:rPr lang="en-US" sz="1300" b="1">
                <a:solidFill>
                  <a:srgbClr val="1A1A1A"/>
                </a:solidFill>
              </a:rPr>
              <a:t>)</a:t>
            </a:r>
            <a:r>
              <a:rPr lang="en-US" sz="1300">
                <a:solidFill>
                  <a:srgbClr val="1A1A1A"/>
                </a:solidFill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896324" y="784207"/>
            <a:ext cx="4278313" cy="4832573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1900" cap="flat" cmpd="sng">
            <a:solidFill>
              <a:srgbClr val="E8E2D4"/>
            </a:solidFill>
            <a:prstDash val="solid"/>
            <a:round/>
            <a:headEnd type="none" w="sm" len="sm"/>
            <a:tailEnd type="none" w="sm" len="sm"/>
          </a:ln>
          <a:effectLst>
            <a:outerShdw blurRad="266700" dist="762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4261" y="792144"/>
            <a:ext cx="4262437" cy="481669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6634654" y="5731012"/>
            <a:ext cx="4801775" cy="25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 algn="ctr">
              <a:lnSpc>
                <a:spcPct val="150000"/>
              </a:lnSpc>
              <a:buClr>
                <a:srgbClr val="888888"/>
              </a:buClr>
              <a:buSzPts val="1800"/>
            </a:pPr>
            <a:r>
              <a:rPr lang="en-US" sz="1200">
                <a:solidFill>
                  <a:srgbClr val="888888"/>
                </a:solidFill>
              </a:rPr>
              <a:t>Helpi-Lab — interfejs asystenta badawczego z rundami scenariuszy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/>
          <p:nvPr/>
        </p:nvSpPr>
        <p:spPr>
          <a:xfrm>
            <a:off x="1020093" y="571500"/>
            <a:ext cx="4070077" cy="5029523"/>
          </a:xfrm>
          <a:prstGeom prst="roundRect">
            <a:avLst>
              <a:gd name="adj" fmla="val 2496"/>
            </a:avLst>
          </a:prstGeom>
          <a:solidFill>
            <a:srgbClr val="FFFFFF"/>
          </a:solidFill>
          <a:ln w="11900" cap="flat" cmpd="sng">
            <a:solidFill>
              <a:srgbClr val="E8E2D4"/>
            </a:solidFill>
            <a:prstDash val="solid"/>
            <a:round/>
            <a:headEnd type="none" w="sm" len="sm"/>
            <a:tailEnd type="none" w="sm" len="sm"/>
          </a:ln>
          <a:effectLst>
            <a:outerShdw blurRad="266700" dist="762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8030" y="579438"/>
            <a:ext cx="4054202" cy="501364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758612" y="5715307"/>
            <a:ext cx="4593041" cy="48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 algn="ctr">
              <a:lnSpc>
                <a:spcPct val="150000"/>
              </a:lnSpc>
              <a:buClr>
                <a:srgbClr val="888888"/>
              </a:buClr>
              <a:buSzPts val="1800"/>
            </a:pPr>
            <a:r>
              <a:rPr lang="en-US" sz="1200">
                <a:solidFill>
                  <a:srgbClr val="888888"/>
                </a:solidFill>
              </a:rPr>
              <a:t>Helpi Inference (TOS, TG) — testowanie klasyfikatorów i rozkład prawdopodobieństw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691064" y="1042293"/>
            <a:ext cx="5845699" cy="19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ctr" anchorCtr="0">
            <a:normAutofit lnSpcReduction="10000"/>
          </a:bodyPr>
          <a:lstStyle/>
          <a:p>
            <a:pPr>
              <a:buClr>
                <a:srgbClr val="B58827"/>
              </a:buClr>
              <a:buSzPts val="1650"/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691064" y="1323207"/>
            <a:ext cx="5845699" cy="930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08000"/>
              </a:lnSpc>
              <a:buClr>
                <a:srgbClr val="1A1A1A"/>
              </a:buClr>
              <a:buSzPts val="4950"/>
            </a:pPr>
            <a:r>
              <a:rPr lang="en-US" sz="3300" b="1">
                <a:solidFill>
                  <a:srgbClr val="1A1A1A"/>
                </a:solidFill>
              </a:rPr>
              <a:t>Anotacja i trening modeli klasyfikacyjnych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691064" y="2418888"/>
            <a:ext cx="5845699" cy="88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0000"/>
              </a:lnSpc>
              <a:buClr>
                <a:srgbClr val="555555"/>
              </a:buClr>
              <a:buSzPts val="2250"/>
            </a:pPr>
            <a:r>
              <a:rPr lang="en-US" sz="1500">
                <a:solidFill>
                  <a:srgbClr val="555555"/>
                </a:solidFill>
              </a:rPr>
              <a:t>Model </a:t>
            </a:r>
            <a:r>
              <a:rPr lang="en-US" sz="1500" b="1">
                <a:solidFill>
                  <a:srgbClr val="1A1A1A"/>
                </a:solidFill>
              </a:rPr>
              <a:t>GPT-OSS:120b </a:t>
            </a:r>
            <a:r>
              <a:rPr lang="en-US" sz="1500">
                <a:solidFill>
                  <a:srgbClr val="555555"/>
                </a:solidFill>
              </a:rPr>
              <a:t>generował wstępne klasyfikacje (typ usługi TOS + grupa docelowa TG), a ludzie weryfikowali i korygowali je w aplikacji </a:t>
            </a:r>
            <a:r>
              <a:rPr lang="en-US" sz="1500" b="1">
                <a:solidFill>
                  <a:srgbClr val="1A1A1A"/>
                </a:solidFill>
              </a:rPr>
              <a:t>Helpi-Lab-Chat-Anno</a:t>
            </a:r>
            <a:r>
              <a:rPr lang="en-US" sz="1500">
                <a:solidFill>
                  <a:srgbClr val="555555"/>
                </a:solidFill>
              </a:rPr>
              <a:t>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691064" y="3467922"/>
            <a:ext cx="2748855" cy="1684983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1900" cap="flat" cmpd="sng">
            <a:solidFill>
              <a:srgbClr val="E8E2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19050" dir="54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927576" y="3686948"/>
            <a:ext cx="2344105" cy="75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10000"/>
          </a:bodyPr>
          <a:lstStyle/>
          <a:p>
            <a:pPr>
              <a:lnSpc>
                <a:spcPct val="90000"/>
              </a:lnSpc>
              <a:buClr>
                <a:srgbClr val="B58827"/>
              </a:buClr>
              <a:buSzPts val="9600"/>
            </a:pPr>
            <a:r>
              <a:rPr lang="en-US" sz="6400" b="1">
                <a:solidFill>
                  <a:srgbClr val="B58827"/>
                </a:solidFill>
              </a:rPr>
              <a:t>4933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791667" y="4507233"/>
            <a:ext cx="2648200" cy="4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40000"/>
              </a:lnSpc>
              <a:buClr>
                <a:srgbClr val="555555"/>
              </a:buClr>
              <a:buSzPts val="1800"/>
            </a:pPr>
            <a:r>
              <a:rPr lang="en-US" sz="1200">
                <a:solidFill>
                  <a:srgbClr val="555555"/>
                </a:solidFill>
              </a:rPr>
              <a:t>sprawdzone anotacje (etykietowanie) — pierwszy „oficjalny” dataset.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617645" y="3467922"/>
            <a:ext cx="2748855" cy="1684983"/>
          </a:xfrm>
          <a:prstGeom prst="roundRect">
            <a:avLst>
              <a:gd name="adj" fmla="val 6030"/>
            </a:avLst>
          </a:prstGeom>
          <a:solidFill>
            <a:srgbClr val="FFFFFF"/>
          </a:solidFill>
          <a:ln w="11900" cap="flat" cmpd="sng">
            <a:solidFill>
              <a:srgbClr val="E8E2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19050" dir="54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854158" y="3679010"/>
            <a:ext cx="2344105" cy="756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10000"/>
          </a:bodyPr>
          <a:lstStyle/>
          <a:p>
            <a:pPr>
              <a:lnSpc>
                <a:spcPct val="90000"/>
              </a:lnSpc>
              <a:buClr>
                <a:srgbClr val="1867AA"/>
              </a:buClr>
              <a:buSzPts val="9600"/>
            </a:pPr>
            <a:r>
              <a:rPr lang="en-US" sz="6400" b="1">
                <a:solidFill>
                  <a:srgbClr val="1867AA"/>
                </a:solidFill>
              </a:rPr>
              <a:t>2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854158" y="4499301"/>
            <a:ext cx="2344105" cy="467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40000"/>
              </a:lnSpc>
              <a:buClr>
                <a:srgbClr val="555555"/>
              </a:buClr>
              <a:buSzPts val="1800"/>
            </a:pPr>
            <a:r>
              <a:rPr lang="en-US" sz="1200">
                <a:solidFill>
                  <a:srgbClr val="555555"/>
                </a:solidFill>
              </a:rPr>
              <a:t>modele klasyfikacyjne: </a:t>
            </a:r>
            <a:r>
              <a:rPr lang="en-US" sz="1200" b="1">
                <a:solidFill>
                  <a:srgbClr val="555555"/>
                </a:solidFill>
              </a:rPr>
              <a:t>TOS </a:t>
            </a:r>
            <a:r>
              <a:rPr lang="en-US" sz="1200">
                <a:solidFill>
                  <a:srgbClr val="555555"/>
                </a:solidFill>
              </a:rPr>
              <a:t>(typy usług) i </a:t>
            </a:r>
            <a:r>
              <a:rPr lang="en-US" sz="1200" b="1">
                <a:solidFill>
                  <a:srgbClr val="555555"/>
                </a:solidFill>
              </a:rPr>
              <a:t>TG </a:t>
            </a:r>
            <a:r>
              <a:rPr lang="en-US" sz="1200">
                <a:solidFill>
                  <a:srgbClr val="555555"/>
                </a:solidFill>
              </a:rPr>
              <a:t>(grupy docelowe).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691064" y="5346837"/>
            <a:ext cx="5845699" cy="537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5000"/>
              </a:lnSpc>
              <a:buClr>
                <a:srgbClr val="1A1A1A"/>
              </a:buClr>
              <a:buSzPts val="1950"/>
            </a:pPr>
            <a:r>
              <a:rPr lang="en-US" sz="1300">
                <a:solidFill>
                  <a:srgbClr val="1A1A1A"/>
                </a:solidFill>
              </a:rPr>
              <a:t>Te modele stały się </a:t>
            </a:r>
            <a:r>
              <a:rPr lang="en-US" sz="1300" b="1">
                <a:solidFill>
                  <a:srgbClr val="1A1A1A"/>
                </a:solidFill>
              </a:rPr>
              <a:t>rdzeniem logiki Helpi </a:t>
            </a:r>
            <a:r>
              <a:rPr lang="en-US" sz="1300">
                <a:solidFill>
                  <a:srgbClr val="1A1A1A"/>
                </a:solidFill>
              </a:rPr>
              <a:t>— one decydują, jakie placówki zaproponować użytkownikowi na podstawie opisu problemu.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825500" y="571501"/>
            <a:ext cx="10857230" cy="19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ctr" anchorCtr="0">
            <a:normAutofit lnSpcReduction="10000"/>
          </a:bodyPr>
          <a:lstStyle/>
          <a:p>
            <a:pPr>
              <a:buClr>
                <a:srgbClr val="B58827"/>
              </a:buClr>
              <a:buSzPts val="1650"/>
            </a:pP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25500" y="852414"/>
            <a:ext cx="10857230" cy="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08000"/>
              </a:lnSpc>
              <a:buClr>
                <a:srgbClr val="1A1A1A"/>
              </a:buClr>
              <a:buSzPts val="4950"/>
            </a:pPr>
            <a:r>
              <a:rPr lang="en-US" sz="3300" b="1">
                <a:solidFill>
                  <a:srgbClr val="1A1A1A"/>
                </a:solidFill>
              </a:rPr>
              <a:t> Balans - skalowanie danych i doskonalenie modeli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825500" y="1584281"/>
            <a:ext cx="9156700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0000"/>
              </a:lnSpc>
              <a:buClr>
                <a:srgbClr val="555555"/>
              </a:buClr>
              <a:buSzPts val="2250"/>
            </a:pPr>
            <a:r>
              <a:rPr lang="en-US" sz="1500">
                <a:solidFill>
                  <a:srgbClr val="555555"/>
                </a:solidFill>
              </a:rPr>
              <a:t>Wytrenowane klasyfikatory same anotowały nowo wygenerowane przypadki, a ludzie weryfikowali wyniki — pętla, która systematycznie podnosiła precyzję klasyfikacji.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25500" y="2435077"/>
            <a:ext cx="4719092" cy="3889623"/>
          </a:xfrm>
          <a:prstGeom prst="roundRect">
            <a:avLst>
              <a:gd name="adj" fmla="val 2612"/>
            </a:avLst>
          </a:prstGeom>
          <a:solidFill>
            <a:srgbClr val="FFFFFF"/>
          </a:solidFill>
          <a:ln w="11900" cap="flat" cmpd="sng">
            <a:solidFill>
              <a:srgbClr val="E8E2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19050" dir="54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138164" y="3220889"/>
            <a:ext cx="4093765" cy="260201"/>
          </a:xfrm>
          <a:prstGeom prst="roundRect">
            <a:avLst>
              <a:gd name="adj" fmla="val 19523"/>
            </a:avLst>
          </a:prstGeom>
          <a:solidFill>
            <a:srgbClr val="EAF1F8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239763" y="3271689"/>
            <a:ext cx="4013379" cy="18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ctr" anchorCtr="0">
            <a:normAutofit lnSpcReduction="10000"/>
          </a:bodyPr>
          <a:lstStyle/>
          <a:p>
            <a:pPr>
              <a:buClr>
                <a:srgbClr val="1867AA"/>
              </a:buClr>
              <a:buSzPts val="1500"/>
            </a:pPr>
            <a:r>
              <a:rPr lang="en-US" sz="1000" b="1">
                <a:solidFill>
                  <a:srgbClr val="1867AA"/>
                </a:solidFill>
              </a:rPr>
              <a:t>PĘTLA DOSKONALENIA MODELI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138163" y="3620740"/>
            <a:ext cx="213395" cy="28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90000"/>
              </a:lnSpc>
              <a:buClr>
                <a:srgbClr val="B58827"/>
              </a:buClr>
              <a:buSzPts val="3450"/>
            </a:pPr>
            <a:r>
              <a:rPr lang="en-US" sz="2300" b="1">
                <a:solidFill>
                  <a:srgbClr val="B58827"/>
                </a:solidFill>
              </a:rPr>
              <a:t>1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414984" y="3624213"/>
            <a:ext cx="1162918" cy="281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5000"/>
              </a:lnSpc>
              <a:buClr>
                <a:srgbClr val="1A1A1A"/>
              </a:buClr>
              <a:buSzPts val="1950"/>
            </a:pPr>
            <a:r>
              <a:rPr lang="en-US" sz="1300" b="1">
                <a:solidFill>
                  <a:srgbClr val="1A1A1A"/>
                </a:solidFill>
              </a:rPr>
              <a:t>Model trenuje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886213" y="3972333"/>
            <a:ext cx="3926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0000"/>
              </a:lnSpc>
              <a:buClr>
                <a:srgbClr val="B58827"/>
              </a:buClr>
              <a:buSzPts val="1800"/>
            </a:pPr>
            <a:r>
              <a:rPr lang="en-US" sz="1200" b="1">
                <a:solidFill>
                  <a:srgbClr val="B58827"/>
                </a:solidFill>
              </a:rPr>
              <a:t>↓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38163" y="4289723"/>
            <a:ext cx="213395" cy="28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90000"/>
              </a:lnSpc>
              <a:buClr>
                <a:srgbClr val="B58827"/>
              </a:buClr>
              <a:buSzPts val="3450"/>
            </a:pPr>
            <a:r>
              <a:rPr lang="en-US" sz="2300" b="1">
                <a:solidFill>
                  <a:srgbClr val="B58827"/>
                </a:solidFill>
              </a:rPr>
              <a:t>2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414984" y="4293196"/>
            <a:ext cx="1601961" cy="281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5000"/>
              </a:lnSpc>
              <a:buClr>
                <a:srgbClr val="1A1A1A"/>
              </a:buClr>
              <a:buSzPts val="1950"/>
            </a:pPr>
            <a:r>
              <a:rPr lang="en-US" sz="1300" b="1">
                <a:solidFill>
                  <a:srgbClr val="1A1A1A"/>
                </a:solidFill>
              </a:rPr>
              <a:t>Anotuje nowe dane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886214" y="4641317"/>
            <a:ext cx="39260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0000"/>
              </a:lnSpc>
              <a:buClr>
                <a:srgbClr val="B58827"/>
              </a:buClr>
              <a:buSzPts val="1800"/>
            </a:pPr>
            <a:r>
              <a:rPr lang="en-US" sz="1200" b="1">
                <a:solidFill>
                  <a:srgbClr val="B58827"/>
                </a:solidFill>
              </a:rPr>
              <a:t>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138163" y="4958706"/>
            <a:ext cx="213395" cy="288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90000"/>
              </a:lnSpc>
              <a:buClr>
                <a:srgbClr val="B58827"/>
              </a:buClr>
              <a:buSzPts val="3450"/>
            </a:pPr>
            <a:r>
              <a:rPr lang="en-US" sz="2300" b="1">
                <a:solidFill>
                  <a:srgbClr val="B58827"/>
                </a:solidFill>
              </a:rPr>
              <a:t>3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414983" y="4962178"/>
            <a:ext cx="1335063" cy="281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5000"/>
              </a:lnSpc>
              <a:buClr>
                <a:srgbClr val="1A1A1A"/>
              </a:buClr>
              <a:buSzPts val="1950"/>
            </a:pPr>
            <a:r>
              <a:rPr lang="en-US" sz="1300" b="1">
                <a:solidFill>
                  <a:srgbClr val="1A1A1A"/>
                </a:solidFill>
              </a:rPr>
              <a:t>Ludzie korygują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290563" y="5310312"/>
            <a:ext cx="4064179" cy="25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50000"/>
              </a:lnSpc>
              <a:buClr>
                <a:srgbClr val="B58827"/>
              </a:buClr>
              <a:buSzPts val="1800"/>
            </a:pPr>
            <a:r>
              <a:rPr lang="en-US" sz="1200" b="1">
                <a:solidFill>
                  <a:srgbClr val="B58827"/>
                </a:solidFill>
              </a:rPr>
              <a:t>↺ model trenuje ponownie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849317" y="2435083"/>
            <a:ext cx="2682379" cy="1657573"/>
          </a:xfrm>
          <a:prstGeom prst="roundRect">
            <a:avLst>
              <a:gd name="adj" fmla="val 6129"/>
            </a:avLst>
          </a:prstGeom>
          <a:solidFill>
            <a:srgbClr val="FFFFFF"/>
          </a:solidFill>
          <a:ln w="11900" cap="flat" cmpd="sng">
            <a:solidFill>
              <a:srgbClr val="E8E2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19050" dir="54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073056" y="2777511"/>
            <a:ext cx="2301949" cy="48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90000"/>
              </a:lnSpc>
              <a:buClr>
                <a:srgbClr val="B58827"/>
              </a:buClr>
              <a:buSzPts val="6000"/>
            </a:pPr>
            <a:r>
              <a:rPr lang="en-US" sz="4000" b="1">
                <a:solidFill>
                  <a:srgbClr val="B58827"/>
                </a:solidFill>
              </a:rPr>
              <a:t>~700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073056" y="3323462"/>
            <a:ext cx="2301949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/>
          </a:bodyPr>
          <a:lstStyle/>
          <a:p>
            <a:pPr>
              <a:lnSpc>
                <a:spcPct val="140000"/>
              </a:lnSpc>
              <a:buClr>
                <a:srgbClr val="555555"/>
              </a:buClr>
              <a:buSzPts val="1800"/>
            </a:pPr>
            <a:r>
              <a:rPr lang="en-US" sz="1200">
                <a:solidFill>
                  <a:srgbClr val="555555"/>
                </a:solidFill>
              </a:rPr>
              <a:t>podtura A — przypadki typów usług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8683997" y="2435083"/>
            <a:ext cx="2682503" cy="1657573"/>
          </a:xfrm>
          <a:prstGeom prst="roundRect">
            <a:avLst>
              <a:gd name="adj" fmla="val 6129"/>
            </a:avLst>
          </a:prstGeom>
          <a:solidFill>
            <a:srgbClr val="FFFFFF"/>
          </a:solidFill>
          <a:ln w="11900" cap="flat" cmpd="sng">
            <a:solidFill>
              <a:srgbClr val="E8E2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19050" dir="54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8907736" y="2777511"/>
            <a:ext cx="2302077" cy="48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90000"/>
              </a:lnSpc>
              <a:buClr>
                <a:srgbClr val="B58827"/>
              </a:buClr>
              <a:buSzPts val="6000"/>
            </a:pPr>
            <a:r>
              <a:rPr lang="en-US" sz="4000" b="1">
                <a:solidFill>
                  <a:srgbClr val="B58827"/>
                </a:solidFill>
              </a:rPr>
              <a:t>4354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907736" y="3323462"/>
            <a:ext cx="2302077" cy="452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140000"/>
              </a:lnSpc>
              <a:buClr>
                <a:srgbClr val="555555"/>
              </a:buClr>
              <a:buSzPts val="1800"/>
            </a:pPr>
            <a:r>
              <a:rPr lang="en-US" sz="1200">
                <a:solidFill>
                  <a:srgbClr val="555555"/>
                </a:solidFill>
              </a:rPr>
              <a:t>podtura B — przypadki łącznie dla TOS i TG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849317" y="4244957"/>
            <a:ext cx="5517183" cy="2079749"/>
          </a:xfrm>
          <a:prstGeom prst="roundRect">
            <a:avLst>
              <a:gd name="adj" fmla="val 4885"/>
            </a:avLst>
          </a:prstGeom>
          <a:solidFill>
            <a:srgbClr val="FFFFFF"/>
          </a:solidFill>
          <a:ln w="11900" cap="flat" cmpd="sng">
            <a:solidFill>
              <a:srgbClr val="E8E2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19050" dir="5400000" algn="bl" rotWithShape="0">
              <a:srgbClr val="000000">
                <a:alpha val="5882"/>
              </a:srgbClr>
            </a:outerShdw>
          </a:effectLst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085830" y="4581184"/>
            <a:ext cx="1511424" cy="482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90000"/>
              </a:lnSpc>
              <a:buClr>
                <a:srgbClr val="1867AA"/>
              </a:buClr>
              <a:buSzPts val="6000"/>
            </a:pPr>
            <a:r>
              <a:rPr lang="en-US" sz="4000" b="1">
                <a:solidFill>
                  <a:srgbClr val="1867AA"/>
                </a:solidFill>
              </a:rPr>
              <a:t>~5400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673454" y="4755809"/>
            <a:ext cx="670669" cy="276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 lnSpcReduction="20000"/>
          </a:bodyPr>
          <a:lstStyle/>
          <a:p>
            <a:pPr>
              <a:lnSpc>
                <a:spcPct val="90000"/>
              </a:lnSpc>
              <a:buClr>
                <a:srgbClr val="B58827"/>
              </a:buClr>
              <a:buSzPts val="3300"/>
            </a:pPr>
            <a:r>
              <a:rPr lang="en-US" sz="2200" b="1">
                <a:solidFill>
                  <a:srgbClr val="B58827"/>
                </a:solidFill>
              </a:rPr>
              <a:t>+940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085830" y="5127135"/>
            <a:ext cx="5195482" cy="886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33" tIns="16933" rIns="16933" bIns="16933" anchor="t" anchorCtr="0">
            <a:normAutofit fontScale="92500"/>
          </a:bodyPr>
          <a:lstStyle/>
          <a:p>
            <a:pPr>
              <a:lnSpc>
                <a:spcPct val="140000"/>
              </a:lnSpc>
              <a:buClr>
                <a:srgbClr val="555555"/>
              </a:buClr>
              <a:buSzPts val="1800"/>
            </a:pPr>
            <a:r>
              <a:rPr lang="en-US" sz="1200">
                <a:solidFill>
                  <a:srgbClr val="555555"/>
                </a:solidFill>
              </a:rPr>
              <a:t>Dataset grup docelowych był niezbalansowany (nadreprezentacja „dorosłych”, niedobór „seniorów” i „osób niebinarnych”), więc dogenerowano ok. </a:t>
            </a:r>
            <a:r>
              <a:rPr lang="en-US" sz="1200" b="1">
                <a:solidFill>
                  <a:srgbClr val="555555"/>
                </a:solidFill>
              </a:rPr>
              <a:t>940 </a:t>
            </a:r>
            <a:r>
              <a:rPr lang="en-US" sz="1200">
                <a:solidFill>
                  <a:srgbClr val="555555"/>
                </a:solidFill>
              </a:rPr>
              <a:t>przypadków — uzyskując </a:t>
            </a:r>
            <a:r>
              <a:rPr lang="en-US" sz="1200" b="1">
                <a:solidFill>
                  <a:srgbClr val="555555"/>
                </a:solidFill>
              </a:rPr>
              <a:t>~5400 </a:t>
            </a:r>
            <a:r>
              <a:rPr lang="en-US" sz="1200">
                <a:solidFill>
                  <a:srgbClr val="555555"/>
                </a:solidFill>
              </a:rPr>
              <a:t>zbalansowanych przykładów dla TG.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Microsoft Office PowerPoint</Application>
  <PresentationFormat>Panoramiczny</PresentationFormat>
  <Paragraphs>44</Paragraphs>
  <Slides>4</Slides>
  <Notes>4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Arial</vt:lpstr>
      <vt:lpstr>Calibri</vt:lpstr>
      <vt:lpstr>Play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Kacper MAJKUSIAK</dc:creator>
  <cp:lastModifiedBy>rodzinna warszawa</cp:lastModifiedBy>
  <cp:revision>1</cp:revision>
  <dcterms:created xsi:type="dcterms:W3CDTF">2024-09-13T09:10:31Z</dcterms:created>
  <dcterms:modified xsi:type="dcterms:W3CDTF">2026-06-16T13:11:12Z</dcterms:modified>
</cp:coreProperties>
</file>