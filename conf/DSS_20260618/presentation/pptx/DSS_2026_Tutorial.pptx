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jpeg" ContentType="image/jpeg"/>
  <Override PartName="/ppt/media/image11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8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6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86F9B4-3943-4DBE-A0BE-6A354225D23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EF5701-AF7D-4196-B1A0-18CD88CDC4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F4641E-6FE1-421A-A034-D32FF7C37E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C91440-6E7F-4FA8-AF33-3378A90B7B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08AB01-4650-4BCC-BF4D-B02AD32D27C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BB7E17-8CE4-4F18-9F8A-06258C21819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7D6527-0973-496D-AAE1-0680FD534A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FCA493-8D60-4FF1-977B-CC625CA379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710A94-9211-4F2D-9CDB-280895084D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ED0607-7395-4C0B-B6ED-EE18ED16FB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5E5308-8995-4A8F-B163-C4DB7DF9E20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894206-E35E-4A41-920F-B03EBDD0351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pl-PL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pl-PL" sz="1400" spc="-1" strike="noStrike">
                <a:latin typeface="Times New Roman"/>
              </a:rPr>
              <a:t> 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BA65A2A-8F65-4A77-B9AA-B4C8A409B32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1</a:t>
            </a:fld>
            <a:endParaRPr b="0" lang="pl-PL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pl-PL" sz="1400" spc="-1" strike="noStrike">
                <a:latin typeface="Times New Roman"/>
              </a:defRPr>
            </a:lvl1pPr>
          </a:lstStyle>
          <a:p>
            <a:r>
              <a:rPr b="0" lang="pl-PL" sz="1400" spc="-1" strike="noStrike">
                <a:latin typeface="Times New Roman"/>
              </a:rPr>
              <a:t> 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pl-PL" sz="4400" spc="-1" strike="noStrike">
                <a:latin typeface="Arial"/>
              </a:rPr>
              <a:t>Kliknij, aby edytować format tekstu tytułu</a:t>
            </a:r>
            <a:endParaRPr b="0" lang="pl-PL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3200" spc="-1" strike="noStrike">
                <a:latin typeface="Arial"/>
              </a:rPr>
              <a:t>Kliknij, aby edytować format tekstu konspektu</a:t>
            </a:r>
            <a:endParaRPr b="0" lang="pl-PL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800" spc="-1" strike="noStrike">
                <a:latin typeface="Arial"/>
              </a:rPr>
              <a:t>Drugi poziom konspektu</a:t>
            </a:r>
            <a:endParaRPr b="0" lang="pl-PL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400" spc="-1" strike="noStrike">
                <a:latin typeface="Arial"/>
              </a:rPr>
              <a:t>Trzeci poziom konspektu</a:t>
            </a:r>
            <a:endParaRPr b="0" lang="pl-PL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000" spc="-1" strike="noStrike">
                <a:latin typeface="Arial"/>
              </a:rPr>
              <a:t>Czwarty poziom konspektu</a:t>
            </a:r>
            <a:endParaRPr b="0" lang="pl-PL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Piąty poziom konspektu</a:t>
            </a:r>
            <a:endParaRPr b="0" lang="pl-PL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Szósty poziom konspektu</a:t>
            </a:r>
            <a:endParaRPr b="0" lang="pl-PL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Siódmy poziom konspektu</a:t>
            </a:r>
            <a:endParaRPr b="0" lang="pl-PL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helpi-tos.radlab.dev/" TargetMode="External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2331720"/>
            <a:ext cx="1827360" cy="61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768240" y="868680"/>
            <a:ext cx="22845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DSS 2026  ·  AI EDITION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768240" y="2514600"/>
            <a:ext cx="10422720" cy="14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Augmentacja danych z LLM,</a:t>
            </a:r>
            <a:endParaRPr b="0" lang="pl-PL" sz="46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HITL i Active Learning</a:t>
            </a:r>
            <a:endParaRPr b="0" lang="pl-PL" sz="46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768240" y="4343400"/>
            <a:ext cx="1005696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Od teorii do praktyki — kompletny proces wytwarzania modeli klasyfikacyjnych z wykorzystaniem lokalnych modeli generatywnych.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768240" y="5623560"/>
            <a:ext cx="73137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Paweł Kędzia - Research and Development Laboratory, radlab.dev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Marta Murzyn – Centrum Wspierania Rodzin “Rodzinna Warszawa”</a:t>
            </a:r>
            <a:endParaRPr b="0" lang="pl-PL" sz="1600" spc="-1" strike="noStrike"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10983960" y="6336000"/>
            <a:ext cx="1062000" cy="59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Agenda tutorialu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8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Rectangle 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4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Agenda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2" name="Rounded Rectangle 6"/>
          <p:cNvSpPr/>
          <p:nvPr/>
        </p:nvSpPr>
        <p:spPr>
          <a:xfrm>
            <a:off x="768240" y="1417320"/>
            <a:ext cx="10605600" cy="7848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Oval 7"/>
          <p:cNvSpPr/>
          <p:nvPr/>
        </p:nvSpPr>
        <p:spPr>
          <a:xfrm>
            <a:off x="951120" y="1581840"/>
            <a:ext cx="455760" cy="45576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8"/>
          <p:cNvSpPr/>
          <p:nvPr/>
        </p:nvSpPr>
        <p:spPr>
          <a:xfrm>
            <a:off x="951120" y="1668240"/>
            <a:ext cx="45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1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55" name="TextBox 9"/>
          <p:cNvSpPr/>
          <p:nvPr/>
        </p:nvSpPr>
        <p:spPr>
          <a:xfrm>
            <a:off x="1636920" y="1508760"/>
            <a:ext cx="63993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Wstęp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1636920" y="1837800"/>
            <a:ext cx="77709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Czego dotyczy tutorial i jaka korzyść dla uczestników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57" name="TextBox 11"/>
          <p:cNvSpPr/>
          <p:nvPr/>
        </p:nvSpPr>
        <p:spPr>
          <a:xfrm>
            <a:off x="9546480" y="1703160"/>
            <a:ext cx="1735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58" name="Rounded Rectangle 12"/>
          <p:cNvSpPr/>
          <p:nvPr/>
        </p:nvSpPr>
        <p:spPr>
          <a:xfrm>
            <a:off x="768240" y="2350080"/>
            <a:ext cx="10605600" cy="7848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" name="Oval 13"/>
          <p:cNvSpPr/>
          <p:nvPr/>
        </p:nvSpPr>
        <p:spPr>
          <a:xfrm>
            <a:off x="951120" y="2514600"/>
            <a:ext cx="455760" cy="45576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TextBox 14"/>
          <p:cNvSpPr/>
          <p:nvPr/>
        </p:nvSpPr>
        <p:spPr>
          <a:xfrm>
            <a:off x="951120" y="2601000"/>
            <a:ext cx="45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2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1" name="TextBox 15"/>
          <p:cNvSpPr/>
          <p:nvPr/>
        </p:nvSpPr>
        <p:spPr>
          <a:xfrm>
            <a:off x="1636920" y="2441520"/>
            <a:ext cx="63993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teoretyczno-praktyczna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2" name="TextBox 16"/>
          <p:cNvSpPr/>
          <p:nvPr/>
        </p:nvSpPr>
        <p:spPr>
          <a:xfrm>
            <a:off x="1636920" y="2770560"/>
            <a:ext cx="77709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Augmentacja, labelowanie, klasyfikacja vs generowanie, HITL + AL, pętla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3" name="TextBox 17"/>
          <p:cNvSpPr/>
          <p:nvPr/>
        </p:nvSpPr>
        <p:spPr>
          <a:xfrm>
            <a:off x="9546480" y="2635920"/>
            <a:ext cx="1735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64" name="Rounded Rectangle 18"/>
          <p:cNvSpPr/>
          <p:nvPr/>
        </p:nvSpPr>
        <p:spPr>
          <a:xfrm>
            <a:off x="768240" y="3282840"/>
            <a:ext cx="10605600" cy="7848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Oval 19"/>
          <p:cNvSpPr/>
          <p:nvPr/>
        </p:nvSpPr>
        <p:spPr>
          <a:xfrm>
            <a:off x="951120" y="3447360"/>
            <a:ext cx="455760" cy="45576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" name="TextBox 20"/>
          <p:cNvSpPr/>
          <p:nvPr/>
        </p:nvSpPr>
        <p:spPr>
          <a:xfrm>
            <a:off x="951120" y="3533760"/>
            <a:ext cx="45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★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7" name="TextBox 21"/>
          <p:cNvSpPr/>
          <p:nvPr/>
        </p:nvSpPr>
        <p:spPr>
          <a:xfrm>
            <a:off x="1636920" y="3374280"/>
            <a:ext cx="63993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Anotacja na żywo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8" name="TextBox 22"/>
          <p:cNvSpPr/>
          <p:nvPr/>
        </p:nvSpPr>
        <p:spPr>
          <a:xfrm>
            <a:off x="1636920" y="3703320"/>
            <a:ext cx="77709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Interaktywna sesja: dss2026.radlab.dev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9546480" y="3568680"/>
            <a:ext cx="1735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0" name="Rounded Rectangle 24"/>
          <p:cNvSpPr/>
          <p:nvPr/>
        </p:nvSpPr>
        <p:spPr>
          <a:xfrm>
            <a:off x="768240" y="4215240"/>
            <a:ext cx="10605600" cy="7848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Oval 25"/>
          <p:cNvSpPr/>
          <p:nvPr/>
        </p:nvSpPr>
        <p:spPr>
          <a:xfrm>
            <a:off x="951120" y="4380120"/>
            <a:ext cx="455760" cy="45576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TextBox 26"/>
          <p:cNvSpPr/>
          <p:nvPr/>
        </p:nvSpPr>
        <p:spPr>
          <a:xfrm>
            <a:off x="951120" y="4466160"/>
            <a:ext cx="45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3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3" name="TextBox 27"/>
          <p:cNvSpPr/>
          <p:nvPr/>
        </p:nvSpPr>
        <p:spPr>
          <a:xfrm>
            <a:off x="1636920" y="4306680"/>
            <a:ext cx="63993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techniczna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74" name="TextBox 28"/>
          <p:cNvSpPr/>
          <p:nvPr/>
        </p:nvSpPr>
        <p:spPr>
          <a:xfrm>
            <a:off x="1636920" y="4636080"/>
            <a:ext cx="77709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Sprzęt, vendorzy, LLM Router, labelowanie i augmentacja narzędziami, trening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75" name="TextBox 29"/>
          <p:cNvSpPr/>
          <p:nvPr/>
        </p:nvSpPr>
        <p:spPr>
          <a:xfrm>
            <a:off x="9546480" y="4501080"/>
            <a:ext cx="1735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6" name="Rounded Rectangle 30"/>
          <p:cNvSpPr/>
          <p:nvPr/>
        </p:nvSpPr>
        <p:spPr>
          <a:xfrm>
            <a:off x="768240" y="5148000"/>
            <a:ext cx="10605600" cy="7848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Oval 31"/>
          <p:cNvSpPr/>
          <p:nvPr/>
        </p:nvSpPr>
        <p:spPr>
          <a:xfrm>
            <a:off x="951120" y="5312520"/>
            <a:ext cx="455760" cy="45576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32"/>
          <p:cNvSpPr/>
          <p:nvPr/>
        </p:nvSpPr>
        <p:spPr>
          <a:xfrm>
            <a:off x="951120" y="5398920"/>
            <a:ext cx="45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4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1636920" y="5239440"/>
            <a:ext cx="63993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Podsumowanie i wnioski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80" name="TextBox 34"/>
          <p:cNvSpPr/>
          <p:nvPr/>
        </p:nvSpPr>
        <p:spPr>
          <a:xfrm>
            <a:off x="1636920" y="5568840"/>
            <a:ext cx="77709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Ocena modelu w W&amp;B, wnioski i kierunki dalsze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81" name="TextBox 35"/>
          <p:cNvSpPr/>
          <p:nvPr/>
        </p:nvSpPr>
        <p:spPr>
          <a:xfrm>
            <a:off x="9546480" y="5433840"/>
            <a:ext cx="1735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~6 min</a:t>
            </a:r>
            <a:endParaRPr b="0" lang="pl-PL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Po co ten tutorial?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Rectangle 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TextBox 4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Wstęp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768240" y="1417320"/>
            <a:ext cx="10605600" cy="6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Zaprezentujemy proces kontrolowanej augmentacji danych — od podstawowych pojęć po kompletny pipeline z udziałem człowieka w pętli (HITL) i Active Learningu (AL).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768240" y="2423160"/>
            <a:ext cx="5484960" cy="195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— człowiek vs LLM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— nowe przykłady treningowe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Klasyfikacja — modele decyzyjne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Generowanie — LLM tworzy dane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HITL + AL — człowiek w pętli uczenia aktywnego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9" name="Rounded Rectangle 8"/>
          <p:cNvSpPr/>
          <p:nvPr/>
        </p:nvSpPr>
        <p:spPr>
          <a:xfrm>
            <a:off x="6583680" y="2423160"/>
            <a:ext cx="4844880" cy="2376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9"/>
          <p:cNvSpPr/>
          <p:nvPr/>
        </p:nvSpPr>
        <p:spPr>
          <a:xfrm>
            <a:off x="6583680" y="2423160"/>
            <a:ext cx="49320" cy="237600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TextBox 10"/>
          <p:cNvSpPr/>
          <p:nvPr/>
        </p:nvSpPr>
        <p:spPr>
          <a:xfrm>
            <a:off x="6839640" y="3206160"/>
            <a:ext cx="4387680" cy="84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Cel i korzyść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Skrócenie czasu wytwarzania modeli klasyfikacyjnych oraz wsparcie w sytuacjach, gdy trudno zorganizować reprezentatywny zespół anotatorów.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6583680" y="4983480"/>
            <a:ext cx="4844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 trakcie: 5-minutowa sesja anotacyjna z udziałem uczestników.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68240" y="2240280"/>
            <a:ext cx="182736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01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94" name="Rectangle 2"/>
          <p:cNvSpPr/>
          <p:nvPr/>
        </p:nvSpPr>
        <p:spPr>
          <a:xfrm>
            <a:off x="768240" y="3246120"/>
            <a:ext cx="1827360" cy="49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TextBox 3"/>
          <p:cNvSpPr/>
          <p:nvPr/>
        </p:nvSpPr>
        <p:spPr>
          <a:xfrm>
            <a:off x="768240" y="3429000"/>
            <a:ext cx="104227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teoretyczno-praktyczna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768240" y="4754880"/>
            <a:ext cx="73137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~25 min · podstawy pojęciowe i metoda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Labelowanie danych z wykorzystaniem LLM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Przypisywanie etykiet przykładom — klasyczne (człowiek) vs wspierane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0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1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768240" y="1828800"/>
            <a:ext cx="53020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Szczególnie przydatne, gdy: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768240" y="2286000"/>
            <a:ext cx="539352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mamy dużo nieoznaczonych danych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szybko pierwszy zbiór treningowy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potrzebne wstępne etykiety do eksperymentów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ograniczyć koszt ręcznej anotacji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da się jasno zdefiniować w promptach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5" name="Rounded Rectangle 9"/>
          <p:cNvSpPr/>
          <p:nvPr/>
        </p:nvSpPr>
        <p:spPr>
          <a:xfrm>
            <a:off x="6400800" y="1828800"/>
            <a:ext cx="5027760" cy="15530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Rectangle 10"/>
          <p:cNvSpPr/>
          <p:nvPr/>
        </p:nvSpPr>
        <p:spPr>
          <a:xfrm>
            <a:off x="6400800" y="1828800"/>
            <a:ext cx="49320" cy="155304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7" name="TextBox 11"/>
          <p:cNvSpPr/>
          <p:nvPr/>
        </p:nvSpPr>
        <p:spPr>
          <a:xfrm>
            <a:off x="6656760" y="2304360"/>
            <a:ext cx="457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⚠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Uwaga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Etykiety LLM to tylko propozycje. Model myli się przy ironii, niejednoznaczności, braku kontekstu i slangu.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08" name="Rounded Rectangle 12"/>
          <p:cNvSpPr/>
          <p:nvPr/>
        </p:nvSpPr>
        <p:spPr>
          <a:xfrm>
            <a:off x="6400800" y="3566160"/>
            <a:ext cx="5027760" cy="1507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Rectangle 13"/>
          <p:cNvSpPr/>
          <p:nvPr/>
        </p:nvSpPr>
        <p:spPr>
          <a:xfrm>
            <a:off x="6400800" y="3566160"/>
            <a:ext cx="49320" cy="150732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0" name="TextBox 14"/>
          <p:cNvSpPr/>
          <p:nvPr/>
        </p:nvSpPr>
        <p:spPr>
          <a:xfrm>
            <a:off x="6656760" y="3915000"/>
            <a:ext cx="4570560" cy="84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Zasada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nie zastępuje człowieka — przyspiesza etykietowanie. Człowiek kontroluje jakość, poprawia błędy i rozstrzyga trudne przypadki.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144000" y="4077720"/>
            <a:ext cx="3037320" cy="1897920"/>
          </a:xfrm>
          <a:prstGeom prst="rect">
            <a:avLst/>
          </a:prstGeom>
          <a:ln w="0">
            <a:noFill/>
          </a:ln>
        </p:spPr>
      </p:pic>
      <p:pic>
        <p:nvPicPr>
          <p:cNvPr id="112" name="" descr=""/>
          <p:cNvPicPr/>
          <p:nvPr/>
        </p:nvPicPr>
        <p:blipFill>
          <a:blip r:embed="rId2"/>
          <a:stretch/>
        </p:blipFill>
        <p:spPr>
          <a:xfrm>
            <a:off x="3384000" y="4176000"/>
            <a:ext cx="2922840" cy="1826280"/>
          </a:xfrm>
          <a:prstGeom prst="rect">
            <a:avLst/>
          </a:prstGeom>
          <a:ln w="0">
            <a:noFill/>
          </a:ln>
        </p:spPr>
      </p:pic>
      <p:sp>
        <p:nvSpPr>
          <p:cNvPr id="113" name="TextBox 37"/>
          <p:cNvSpPr/>
          <p:nvPr/>
        </p:nvSpPr>
        <p:spPr>
          <a:xfrm>
            <a:off x="864000" y="5976000"/>
            <a:ext cx="17276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Rozkład klas – ręczna anotacja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14" name="TextBox 40"/>
          <p:cNvSpPr/>
          <p:nvPr/>
        </p:nvSpPr>
        <p:spPr>
          <a:xfrm>
            <a:off x="3816000" y="6002640"/>
            <a:ext cx="172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Rozkład klas – automatyczne labelowanie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Augmentacja danych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16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Tworzenie nowych przykładów treningowych na bazie istniejącego zbioru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8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21" name="TextBox 7"/>
          <p:cNvSpPr/>
          <p:nvPr/>
        </p:nvSpPr>
        <p:spPr>
          <a:xfrm>
            <a:off x="768240" y="1828800"/>
            <a:ext cx="5119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Dobra augmentacja zapewnia, że przykłady: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22" name="TextBox 8"/>
          <p:cNvSpPr/>
          <p:nvPr/>
        </p:nvSpPr>
        <p:spPr>
          <a:xfrm>
            <a:off x="768240" y="2286000"/>
            <a:ext cx="530208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są zgodne z problemem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zachowują poprawną etykietę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zwiększają różnorodność zbioru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pomagają modelowi generalizować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uzupełniają klasy słabo reprezentowane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23" name="TextBox 9"/>
          <p:cNvSpPr/>
          <p:nvPr/>
        </p:nvSpPr>
        <p:spPr>
          <a:xfrm>
            <a:off x="6400800" y="1828800"/>
            <a:ext cx="5027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Metody dla tekstu: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6400800" y="2286000"/>
            <a:ext cx="502776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parafrazowanie przykładów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zmiana stylu / długości wypowiedzi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warianty formalne i nieformalne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literówki, slang, język potoczny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rzadkie i graniczne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25" name="Rounded Rectangle 11"/>
          <p:cNvSpPr/>
          <p:nvPr/>
        </p:nvSpPr>
        <p:spPr>
          <a:xfrm>
            <a:off x="768240" y="5074920"/>
            <a:ext cx="10651320" cy="8672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Rectangle 12"/>
          <p:cNvSpPr/>
          <p:nvPr/>
        </p:nvSpPr>
        <p:spPr>
          <a:xfrm>
            <a:off x="768240" y="5074920"/>
            <a:ext cx="49320" cy="8672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TextBox 13"/>
          <p:cNvSpPr/>
          <p:nvPr/>
        </p:nvSpPr>
        <p:spPr>
          <a:xfrm>
            <a:off x="1024200" y="5311440"/>
            <a:ext cx="101941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(etykieta zachowana)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Chcę zwrócić produkt…” [zwrot]  →  „Jak odesłać towar?” · „Czy da się zrobić zwrot?” — wszystkie warianty pozostają w tej samej klasie.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Klasyfikacja vs generowanie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Rectangle 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1" name="TextBox 4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Modele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32" name="TextBox 5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33" name="Rounded Rectangle 6"/>
          <p:cNvSpPr/>
          <p:nvPr/>
        </p:nvSpPr>
        <p:spPr>
          <a:xfrm>
            <a:off x="768240" y="1417320"/>
            <a:ext cx="5256360" cy="3564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be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Rounded Rectangle 7"/>
          <p:cNvSpPr/>
          <p:nvPr/>
        </p:nvSpPr>
        <p:spPr>
          <a:xfrm>
            <a:off x="768240" y="1417320"/>
            <a:ext cx="5256360" cy="54720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8"/>
          <p:cNvSpPr/>
          <p:nvPr/>
        </p:nvSpPr>
        <p:spPr>
          <a:xfrm>
            <a:off x="768240" y="1472040"/>
            <a:ext cx="5256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KLASYFIKACYJNY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996840" y="214884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7" name="TextBox 10"/>
          <p:cNvSpPr/>
          <p:nvPr/>
        </p:nvSpPr>
        <p:spPr>
          <a:xfrm>
            <a:off x="2368440" y="214884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„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mogę zalogować się do konta”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996840" y="267912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2368440" y="267912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klasa: problem_logowania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996840" y="320940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Dodatkowo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1" name="TextBox 14"/>
          <p:cNvSpPr/>
          <p:nvPr/>
        </p:nvSpPr>
        <p:spPr>
          <a:xfrm>
            <a:off x="2368440" y="320940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prawdopodobieństwa klas + thresholdy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996840" y="374004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2368440" y="374004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Do której kategorii należy przykład?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4" name="TextBox 17"/>
          <p:cNvSpPr/>
          <p:nvPr/>
        </p:nvSpPr>
        <p:spPr>
          <a:xfrm>
            <a:off x="996840" y="427032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Zalety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45" name="TextBox 18"/>
          <p:cNvSpPr/>
          <p:nvPr/>
        </p:nvSpPr>
        <p:spPr>
          <a:xfrm>
            <a:off x="2368440" y="427032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szybki, tani, łatwy do wdrożenia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46" name="Rounded Rectangle 19"/>
          <p:cNvSpPr/>
          <p:nvPr/>
        </p:nvSpPr>
        <p:spPr>
          <a:xfrm>
            <a:off x="6400800" y="1417320"/>
            <a:ext cx="5256360" cy="3564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b19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Rounded Rectangle 20"/>
          <p:cNvSpPr/>
          <p:nvPr/>
        </p:nvSpPr>
        <p:spPr>
          <a:xfrm>
            <a:off x="6400800" y="1417320"/>
            <a:ext cx="5256360" cy="54720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TextBox 21"/>
          <p:cNvSpPr/>
          <p:nvPr/>
        </p:nvSpPr>
        <p:spPr>
          <a:xfrm>
            <a:off x="6400800" y="1472040"/>
            <a:ext cx="5256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GENERATYWNY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49" name="TextBox 22"/>
          <p:cNvSpPr/>
          <p:nvPr/>
        </p:nvSpPr>
        <p:spPr>
          <a:xfrm>
            <a:off x="6629400" y="214884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0" name="TextBox 23"/>
          <p:cNvSpPr/>
          <p:nvPr/>
        </p:nvSpPr>
        <p:spPr>
          <a:xfrm>
            <a:off x="8001000" y="214884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prompt: „Wygeneruj alternatywy zdania”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1" name="TextBox 24"/>
          <p:cNvSpPr/>
          <p:nvPr/>
        </p:nvSpPr>
        <p:spPr>
          <a:xfrm>
            <a:off x="6629400" y="267912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2" name="TextBox 25"/>
          <p:cNvSpPr/>
          <p:nvPr/>
        </p:nvSpPr>
        <p:spPr>
          <a:xfrm>
            <a:off x="8001000" y="267912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nowe teksty (warianty)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3" name="TextBox 26"/>
          <p:cNvSpPr/>
          <p:nvPr/>
        </p:nvSpPr>
        <p:spPr>
          <a:xfrm>
            <a:off x="6629400" y="320940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Rola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4" name="TextBox 27"/>
          <p:cNvSpPr/>
          <p:nvPr/>
        </p:nvSpPr>
        <p:spPr>
          <a:xfrm>
            <a:off x="8001000" y="320940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pomocnicza — przygotowuje dane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5" name="TextBox 28"/>
          <p:cNvSpPr/>
          <p:nvPr/>
        </p:nvSpPr>
        <p:spPr>
          <a:xfrm>
            <a:off x="6629400" y="374004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6" name="TextBox 29"/>
          <p:cNvSpPr/>
          <p:nvPr/>
        </p:nvSpPr>
        <p:spPr>
          <a:xfrm>
            <a:off x="8001000" y="374004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Co można wygenerować z kontekstu?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7" name="TextBox 30"/>
          <p:cNvSpPr/>
          <p:nvPr/>
        </p:nvSpPr>
        <p:spPr>
          <a:xfrm>
            <a:off x="6629400" y="4270320"/>
            <a:ext cx="1415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Uwaga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58" name="TextBox 31"/>
          <p:cNvSpPr/>
          <p:nvPr/>
        </p:nvSpPr>
        <p:spPr>
          <a:xfrm>
            <a:off x="8001000" y="4270320"/>
            <a:ext cx="3473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jest modelem docelowym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59" name="Rounded Rectangle 32"/>
          <p:cNvSpPr/>
          <p:nvPr/>
        </p:nvSpPr>
        <p:spPr>
          <a:xfrm>
            <a:off x="768240" y="5120640"/>
            <a:ext cx="10651320" cy="5929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Rectangle 33"/>
          <p:cNvSpPr/>
          <p:nvPr/>
        </p:nvSpPr>
        <p:spPr>
          <a:xfrm>
            <a:off x="768240" y="5120640"/>
            <a:ext cx="49320" cy="592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TextBox 34"/>
          <p:cNvSpPr/>
          <p:nvPr/>
        </p:nvSpPr>
        <p:spPr>
          <a:xfrm>
            <a:off x="1024200" y="5331600"/>
            <a:ext cx="10194120" cy="2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generatywny przygotowuje dane → model klasyfikacyjny uczy się na nich podejmować decyzje.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Active Learning (AL)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Pętla zwrotna: zamiast losowo, wybieramy najbardziej informacyjne przykłady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5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8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768240" y="1828800"/>
            <a:ext cx="5393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AL wybiera przykłady, dla których model: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9" name="TextBox 8"/>
          <p:cNvSpPr/>
          <p:nvPr/>
        </p:nvSpPr>
        <p:spPr>
          <a:xfrm>
            <a:off x="768240" y="2286000"/>
            <a:ext cx="548496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 niską pewność predykcji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myli się między podobnymi klasami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daje wysokie p-stwo dla kilku klas jednocześnie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jest niezgodny z regułą / modelem biznesowym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reprezentuje rzadką / problematyczną część danych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0" name="Rounded Rectangle 9"/>
          <p:cNvSpPr/>
          <p:nvPr/>
        </p:nvSpPr>
        <p:spPr>
          <a:xfrm>
            <a:off x="6446520" y="1828800"/>
            <a:ext cx="4982040" cy="21016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Rectangle 10"/>
          <p:cNvSpPr/>
          <p:nvPr/>
        </p:nvSpPr>
        <p:spPr>
          <a:xfrm>
            <a:off x="6446520" y="1828800"/>
            <a:ext cx="49320" cy="210168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2" name="TextBox 11"/>
          <p:cNvSpPr/>
          <p:nvPr/>
        </p:nvSpPr>
        <p:spPr>
          <a:xfrm>
            <a:off x="6702480" y="2267640"/>
            <a:ext cx="452484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trudnego przypadku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Nie dostałem produktu i chcę pieniądze z powrotem”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zwrot 0.42 · reklamacja 0.39 · status_dostawy 0.15 · nieznany 0.04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Trudny przykład — poprawne oznaczenie uczy rozróżniania klas granicznych.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911160" y="4189320"/>
            <a:ext cx="2688480" cy="2074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Które dane warto augmentować?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75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6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Nie zawsze cały zbiór po równo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7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768240" y="1828800"/>
            <a:ext cx="539352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o najgorszych wynikach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z pogranicza kilku klas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przypadki ważne biznesowo (wskazane przez człowieka)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o niskiej pewności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nietypowe warianty językowe, slang, błędy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81" name="TextBox 8"/>
          <p:cNvSpPr/>
          <p:nvPr/>
        </p:nvSpPr>
        <p:spPr>
          <a:xfrm>
            <a:off x="6400800" y="1737360"/>
            <a:ext cx="5027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Proces kontrolowany: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182" name="Rounded Rectangle 9"/>
          <p:cNvSpPr/>
          <p:nvPr/>
        </p:nvSpPr>
        <p:spPr>
          <a:xfrm>
            <a:off x="6400800" y="2076840"/>
            <a:ext cx="5027760" cy="179532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TextBox 10"/>
          <p:cNvSpPr/>
          <p:nvPr/>
        </p:nvSpPr>
        <p:spPr>
          <a:xfrm>
            <a:off x="7096320" y="2231280"/>
            <a:ext cx="363636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1. Trenuj prosty klasyfikator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2. Sprawdź, gdzie się myli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3. Zidentyfikuj klasy problematyczne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4. Wygeneruj przykłady (LLM)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5. Walidacja (człowiek / reguły)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6. Trenuj ponownie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7. Porównaj wyniki</a:t>
            </a:r>
            <a:endParaRPr b="0" lang="pl-PL" sz="1250" spc="-1" strike="noStrike">
              <a:latin typeface="Arial"/>
            </a:endParaRPr>
          </a:p>
        </p:txBody>
      </p:sp>
      <p:pic>
        <p:nvPicPr>
          <p:cNvPr id="184" name="" descr=""/>
          <p:cNvPicPr/>
          <p:nvPr/>
        </p:nvPicPr>
        <p:blipFill>
          <a:blip r:embed="rId1"/>
          <a:stretch/>
        </p:blipFill>
        <p:spPr>
          <a:xfrm>
            <a:off x="1199160" y="3960000"/>
            <a:ext cx="3192480" cy="2463120"/>
          </a:xfrm>
          <a:prstGeom prst="rect">
            <a:avLst/>
          </a:prstGeom>
          <a:ln w="0">
            <a:noFill/>
          </a:ln>
        </p:spPr>
      </p:pic>
      <p:pic>
        <p:nvPicPr>
          <p:cNvPr id="185" name="" descr=""/>
          <p:cNvPicPr/>
          <p:nvPr/>
        </p:nvPicPr>
        <p:blipFill>
          <a:blip r:embed="rId2"/>
          <a:stretch/>
        </p:blipFill>
        <p:spPr>
          <a:xfrm>
            <a:off x="6050520" y="3971880"/>
            <a:ext cx="3165120" cy="2441880"/>
          </a:xfrm>
          <a:prstGeom prst="rect">
            <a:avLst/>
          </a:prstGeom>
          <a:ln w="0">
            <a:noFill/>
          </a:ln>
        </p:spPr>
      </p:pic>
      <p:sp>
        <p:nvSpPr>
          <p:cNvPr id="186" name=""/>
          <p:cNvSpPr/>
          <p:nvPr/>
        </p:nvSpPr>
        <p:spPr>
          <a:xfrm>
            <a:off x="4608000" y="5184000"/>
            <a:ext cx="1151640" cy="2156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5400"/>
                </a:moveTo>
                <a:lnTo>
                  <a:pt x="16200" y="540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16200" y="16200"/>
                </a:lnTo>
                <a:lnTo>
                  <a:pt x="0" y="16200"/>
                </a:lnTo>
                <a:lnTo>
                  <a:pt x="2700" y="10800"/>
                </a:lnTo>
                <a:lnTo>
                  <a:pt x="0" y="540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Human In The Loop (HITL)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88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9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Człowiek jako świadoma część procesu uczenia i walidacji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90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HITL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92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93" name="Rounded Rectangle 7"/>
          <p:cNvSpPr/>
          <p:nvPr/>
        </p:nvSpPr>
        <p:spPr>
          <a:xfrm>
            <a:off x="768240" y="1828800"/>
            <a:ext cx="5027760" cy="14616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Rectangle 8"/>
          <p:cNvSpPr/>
          <p:nvPr/>
        </p:nvSpPr>
        <p:spPr>
          <a:xfrm>
            <a:off x="768240" y="1828800"/>
            <a:ext cx="49320" cy="1461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5" name="TextBox 9"/>
          <p:cNvSpPr/>
          <p:nvPr/>
        </p:nvSpPr>
        <p:spPr>
          <a:xfrm>
            <a:off x="1042560" y="1993320"/>
            <a:ext cx="45705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Definiuje reguły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96" name="TextBox 10"/>
          <p:cNvSpPr/>
          <p:nvPr/>
        </p:nvSpPr>
        <p:spPr>
          <a:xfrm>
            <a:off x="1042560" y="2423160"/>
            <a:ext cx="45705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jakie klasy istnieją, co oznaczają, gdzie biegnie granica między nimi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97" name="Rounded Rectangle 11"/>
          <p:cNvSpPr/>
          <p:nvPr/>
        </p:nvSpPr>
        <p:spPr>
          <a:xfrm>
            <a:off x="6400800" y="1828800"/>
            <a:ext cx="5027760" cy="14616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8" name="Rectangle 12"/>
          <p:cNvSpPr/>
          <p:nvPr/>
        </p:nvSpPr>
        <p:spPr>
          <a:xfrm>
            <a:off x="6400800" y="1828800"/>
            <a:ext cx="49320" cy="1461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TextBox 13"/>
          <p:cNvSpPr/>
          <p:nvPr/>
        </p:nvSpPr>
        <p:spPr>
          <a:xfrm>
            <a:off x="6675120" y="1993320"/>
            <a:ext cx="45705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Sprawdza jakość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0" name="TextBox 14"/>
          <p:cNvSpPr/>
          <p:nvPr/>
        </p:nvSpPr>
        <p:spPr>
          <a:xfrm>
            <a:off x="6675120" y="2423160"/>
            <a:ext cx="45705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czy przykład pasuje do etykiety, jest realistyczny, nie powiela oryginału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01" name="Rounded Rectangle 15"/>
          <p:cNvSpPr/>
          <p:nvPr/>
        </p:nvSpPr>
        <p:spPr>
          <a:xfrm>
            <a:off x="768240" y="3566160"/>
            <a:ext cx="5027760" cy="14616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2" name="Rectangle 16"/>
          <p:cNvSpPr/>
          <p:nvPr/>
        </p:nvSpPr>
        <p:spPr>
          <a:xfrm>
            <a:off x="768240" y="3566160"/>
            <a:ext cx="49320" cy="1461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TextBox 17"/>
          <p:cNvSpPr/>
          <p:nvPr/>
        </p:nvSpPr>
        <p:spPr>
          <a:xfrm>
            <a:off x="1042560" y="3730680"/>
            <a:ext cx="45705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Rozstrzyga niejasne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4" name="TextBox 18"/>
          <p:cNvSpPr/>
          <p:nvPr/>
        </p:nvSpPr>
        <p:spPr>
          <a:xfrm>
            <a:off x="1042560" y="4160520"/>
            <a:ext cx="45705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spójne decyzje dla przypadków granicznych („koordynator”)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05" name="Rounded Rectangle 19"/>
          <p:cNvSpPr/>
          <p:nvPr/>
        </p:nvSpPr>
        <p:spPr>
          <a:xfrm>
            <a:off x="6400800" y="3566160"/>
            <a:ext cx="5027760" cy="14616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Rectangle 20"/>
          <p:cNvSpPr/>
          <p:nvPr/>
        </p:nvSpPr>
        <p:spPr>
          <a:xfrm>
            <a:off x="6400800" y="3566160"/>
            <a:ext cx="49320" cy="1461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TextBox 21"/>
          <p:cNvSpPr/>
          <p:nvPr/>
        </p:nvSpPr>
        <p:spPr>
          <a:xfrm>
            <a:off x="6675120" y="3730680"/>
            <a:ext cx="45705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Kontroluje uczenie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8" name="TextBox 22"/>
          <p:cNvSpPr/>
          <p:nvPr/>
        </p:nvSpPr>
        <p:spPr>
          <a:xfrm>
            <a:off x="6675120" y="4160520"/>
            <a:ext cx="45705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metryki, confusion matrix, klasy rzadkie, jakość języka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Pętla HITL z wykorzystaniem AL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210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1" name="Rectangle 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TextBox 4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Pętla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13" name="TextBox 5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14" name="Rounded Rectangle 6"/>
          <p:cNvSpPr/>
          <p:nvPr/>
        </p:nvSpPr>
        <p:spPr>
          <a:xfrm>
            <a:off x="768240" y="1417320"/>
            <a:ext cx="3381840" cy="11872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Rounded Rectangle 7"/>
          <p:cNvSpPr/>
          <p:nvPr/>
        </p:nvSpPr>
        <p:spPr>
          <a:xfrm>
            <a:off x="768240" y="1417320"/>
            <a:ext cx="3381840" cy="45576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6" name="TextBox 8"/>
          <p:cNvSpPr/>
          <p:nvPr/>
        </p:nvSpPr>
        <p:spPr>
          <a:xfrm>
            <a:off x="768240" y="1481400"/>
            <a:ext cx="3381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Augmentacja i labelowanie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7" name="TextBox 9"/>
          <p:cNvSpPr/>
          <p:nvPr/>
        </p:nvSpPr>
        <p:spPr>
          <a:xfrm>
            <a:off x="951120" y="2011680"/>
            <a:ext cx="30160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zwiększyć i urozmaicić zbiór?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18" name="Rounded Rectangle 10"/>
          <p:cNvSpPr/>
          <p:nvPr/>
        </p:nvSpPr>
        <p:spPr>
          <a:xfrm>
            <a:off x="4380120" y="1417320"/>
            <a:ext cx="3381840" cy="11872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9" name="Rounded Rectangle 11"/>
          <p:cNvSpPr/>
          <p:nvPr/>
        </p:nvSpPr>
        <p:spPr>
          <a:xfrm>
            <a:off x="4380120" y="1417320"/>
            <a:ext cx="3381840" cy="45576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TextBox 12"/>
          <p:cNvSpPr/>
          <p:nvPr/>
        </p:nvSpPr>
        <p:spPr>
          <a:xfrm>
            <a:off x="4380120" y="1481400"/>
            <a:ext cx="3381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Active Learning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1" name="TextBox 13"/>
          <p:cNvSpPr/>
          <p:nvPr/>
        </p:nvSpPr>
        <p:spPr>
          <a:xfrm>
            <a:off x="4563000" y="2011680"/>
            <a:ext cx="30160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Które dane są warte uwagi?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2" name="Rounded Rectangle 14"/>
          <p:cNvSpPr/>
          <p:nvPr/>
        </p:nvSpPr>
        <p:spPr>
          <a:xfrm>
            <a:off x="7992000" y="1417320"/>
            <a:ext cx="3381840" cy="11872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Rounded Rectangle 15"/>
          <p:cNvSpPr/>
          <p:nvPr/>
        </p:nvSpPr>
        <p:spPr>
          <a:xfrm>
            <a:off x="7992000" y="1417320"/>
            <a:ext cx="3381840" cy="45576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TextBox 16"/>
          <p:cNvSpPr/>
          <p:nvPr/>
        </p:nvSpPr>
        <p:spPr>
          <a:xfrm>
            <a:off x="7992000" y="1481400"/>
            <a:ext cx="3381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Human in the Loop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5" name="TextBox 17"/>
          <p:cNvSpPr/>
          <p:nvPr/>
        </p:nvSpPr>
        <p:spPr>
          <a:xfrm>
            <a:off x="8174880" y="2011680"/>
            <a:ext cx="30160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utrzymać jakość i kontrolę?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6" name="TextBox 18"/>
          <p:cNvSpPr/>
          <p:nvPr/>
        </p:nvSpPr>
        <p:spPr>
          <a:xfrm>
            <a:off x="768240" y="3017520"/>
            <a:ext cx="106056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Przepływ: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7" name="Rounded Rectangle 19"/>
          <p:cNvSpPr/>
          <p:nvPr/>
        </p:nvSpPr>
        <p:spPr>
          <a:xfrm>
            <a:off x="76824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8" name="TextBox 20"/>
          <p:cNvSpPr/>
          <p:nvPr/>
        </p:nvSpPr>
        <p:spPr>
          <a:xfrm>
            <a:off x="804600" y="3721680"/>
            <a:ext cx="113256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Zbiór danych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29" name="TextBox 21"/>
          <p:cNvSpPr/>
          <p:nvPr/>
        </p:nvSpPr>
        <p:spPr>
          <a:xfrm>
            <a:off x="1956960" y="3672360"/>
            <a:ext cx="163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0" name="Rounded Rectangle 22"/>
          <p:cNvSpPr/>
          <p:nvPr/>
        </p:nvSpPr>
        <p:spPr>
          <a:xfrm>
            <a:off x="210312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1" name="TextBox 23"/>
          <p:cNvSpPr/>
          <p:nvPr/>
        </p:nvSpPr>
        <p:spPr>
          <a:xfrm>
            <a:off x="2139840" y="3721680"/>
            <a:ext cx="113256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2" name="TextBox 24"/>
          <p:cNvSpPr/>
          <p:nvPr/>
        </p:nvSpPr>
        <p:spPr>
          <a:xfrm>
            <a:off x="3291840" y="3672360"/>
            <a:ext cx="163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3" name="Rounded Rectangle 25"/>
          <p:cNvSpPr/>
          <p:nvPr/>
        </p:nvSpPr>
        <p:spPr>
          <a:xfrm>
            <a:off x="343800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TextBox 26"/>
          <p:cNvSpPr/>
          <p:nvPr/>
        </p:nvSpPr>
        <p:spPr>
          <a:xfrm>
            <a:off x="3474720" y="3721680"/>
            <a:ext cx="113256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Analiza błędów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5" name="TextBox 27"/>
          <p:cNvSpPr/>
          <p:nvPr/>
        </p:nvSpPr>
        <p:spPr>
          <a:xfrm>
            <a:off x="4626720" y="3672360"/>
            <a:ext cx="163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6" name="Rounded Rectangle 28"/>
          <p:cNvSpPr/>
          <p:nvPr/>
        </p:nvSpPr>
        <p:spPr>
          <a:xfrm>
            <a:off x="477324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7" name="TextBox 29"/>
          <p:cNvSpPr/>
          <p:nvPr/>
        </p:nvSpPr>
        <p:spPr>
          <a:xfrm>
            <a:off x="4809600" y="3649320"/>
            <a:ext cx="11325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Wybór do augmentacji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8" name="TextBox 30"/>
          <p:cNvSpPr/>
          <p:nvPr/>
        </p:nvSpPr>
        <p:spPr>
          <a:xfrm>
            <a:off x="5961960" y="3672360"/>
            <a:ext cx="163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9" name="Rounded Rectangle 31"/>
          <p:cNvSpPr/>
          <p:nvPr/>
        </p:nvSpPr>
        <p:spPr>
          <a:xfrm>
            <a:off x="610812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0" name="TextBox 32"/>
          <p:cNvSpPr/>
          <p:nvPr/>
        </p:nvSpPr>
        <p:spPr>
          <a:xfrm>
            <a:off x="6144840" y="3721680"/>
            <a:ext cx="113256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Generowanie (LLM)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1" name="TextBox 33"/>
          <p:cNvSpPr/>
          <p:nvPr/>
        </p:nvSpPr>
        <p:spPr>
          <a:xfrm>
            <a:off x="7296840" y="3672360"/>
            <a:ext cx="163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2" name="Rounded Rectangle 34"/>
          <p:cNvSpPr/>
          <p:nvPr/>
        </p:nvSpPr>
        <p:spPr>
          <a:xfrm>
            <a:off x="744336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35"/>
          <p:cNvSpPr/>
          <p:nvPr/>
        </p:nvSpPr>
        <p:spPr>
          <a:xfrm>
            <a:off x="7479720" y="3721680"/>
            <a:ext cx="113256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Walidacja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4" name="TextBox 36"/>
          <p:cNvSpPr/>
          <p:nvPr/>
        </p:nvSpPr>
        <p:spPr>
          <a:xfrm>
            <a:off x="8632080" y="3672360"/>
            <a:ext cx="163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5" name="Rounded Rectangle 37"/>
          <p:cNvSpPr/>
          <p:nvPr/>
        </p:nvSpPr>
        <p:spPr>
          <a:xfrm>
            <a:off x="877824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6" name="TextBox 38"/>
          <p:cNvSpPr/>
          <p:nvPr/>
        </p:nvSpPr>
        <p:spPr>
          <a:xfrm>
            <a:off x="8814960" y="3721680"/>
            <a:ext cx="113256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Aktualizacja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7" name="TextBox 39"/>
          <p:cNvSpPr/>
          <p:nvPr/>
        </p:nvSpPr>
        <p:spPr>
          <a:xfrm>
            <a:off x="9966960" y="3672360"/>
            <a:ext cx="163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8" name="Rounded Rectangle 40"/>
          <p:cNvSpPr/>
          <p:nvPr/>
        </p:nvSpPr>
        <p:spPr>
          <a:xfrm>
            <a:off x="10113120" y="3474720"/>
            <a:ext cx="1205640" cy="63864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9" name="TextBox 41"/>
          <p:cNvSpPr/>
          <p:nvPr/>
        </p:nvSpPr>
        <p:spPr>
          <a:xfrm>
            <a:off x="10149840" y="3721680"/>
            <a:ext cx="113256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Ponowny 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50" name="Rounded Rectangle 42"/>
          <p:cNvSpPr/>
          <p:nvPr/>
        </p:nvSpPr>
        <p:spPr>
          <a:xfrm>
            <a:off x="768240" y="4389120"/>
            <a:ext cx="10651320" cy="6843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Rectangle 43"/>
          <p:cNvSpPr/>
          <p:nvPr/>
        </p:nvSpPr>
        <p:spPr>
          <a:xfrm>
            <a:off x="768240" y="4389120"/>
            <a:ext cx="49320" cy="68436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2" name="TextBox 44"/>
          <p:cNvSpPr/>
          <p:nvPr/>
        </p:nvSpPr>
        <p:spPr>
          <a:xfrm>
            <a:off x="1024200" y="4542120"/>
            <a:ext cx="101941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Bezpieczniejsza niż „weź dane → wygeneruj 10× więcej → trenuj”. Samo zwiększenie liczby przykładów nie gwarantuje poprawy — może nawet pogorszyć wynik.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99;p2"/>
          <p:cNvSpPr/>
          <p:nvPr/>
        </p:nvSpPr>
        <p:spPr>
          <a:xfrm>
            <a:off x="683280" y="495000"/>
            <a:ext cx="11110680" cy="96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Google Shape;100;p2"/>
          <p:cNvSpPr/>
          <p:nvPr/>
        </p:nvSpPr>
        <p:spPr>
          <a:xfrm>
            <a:off x="4010760" y="2105280"/>
            <a:ext cx="8179920" cy="30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90000"/>
              </a:lnSpc>
              <a:buNone/>
            </a:pPr>
            <a:endParaRPr b="0" lang="pl-PL" sz="32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cel: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usprawnienie nawigacji beneficjentów w systemie bezpłatnej pomocy psychologicznej w Warszawie;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kryterium: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przedstawienie beneficjentowi danych teleadresowych adekwatnej placówki w szybkim czasie;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produkt końcowy: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Chatbot Helpi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</p:txBody>
      </p:sp>
      <p:sp>
        <p:nvSpPr>
          <p:cNvPr id="255" name="Google Shape;101;p2"/>
          <p:cNvSpPr/>
          <p:nvPr/>
        </p:nvSpPr>
        <p:spPr>
          <a:xfrm>
            <a:off x="223200" y="6287400"/>
            <a:ext cx="5410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Google Shape;102;p2"/>
          <p:cNvSpPr/>
          <p:nvPr/>
        </p:nvSpPr>
        <p:spPr>
          <a:xfrm>
            <a:off x="765720" y="6287400"/>
            <a:ext cx="4618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pole tekstowe 2"/>
          <p:cNvSpPr/>
          <p:nvPr/>
        </p:nvSpPr>
        <p:spPr>
          <a:xfrm>
            <a:off x="3049200" y="3275280"/>
            <a:ext cx="6092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pl-PL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 </a:t>
            </a:r>
            <a:endParaRPr b="0" lang="pl-PL" sz="1800" spc="-1" strike="noStrike">
              <a:latin typeface="Arial"/>
            </a:endParaRPr>
          </a:p>
        </p:txBody>
      </p:sp>
      <p:pic>
        <p:nvPicPr>
          <p:cNvPr id="258" name="Obraz 3" descr=""/>
          <p:cNvPicPr/>
          <p:nvPr/>
        </p:nvPicPr>
        <p:blipFill>
          <a:blip r:embed="rId1"/>
          <a:stretch/>
        </p:blipFill>
        <p:spPr>
          <a:xfrm>
            <a:off x="6506640" y="426240"/>
            <a:ext cx="2634840" cy="1223280"/>
          </a:xfrm>
          <a:prstGeom prst="rect">
            <a:avLst/>
          </a:prstGeom>
          <a:ln w="0">
            <a:noFill/>
          </a:ln>
        </p:spPr>
      </p:pic>
      <p:pic>
        <p:nvPicPr>
          <p:cNvPr id="259" name="Obraz 5" descr=""/>
          <p:cNvPicPr/>
          <p:nvPr/>
        </p:nvPicPr>
        <p:blipFill>
          <a:blip r:embed="rId2"/>
          <a:srcRect l="4033" t="328" r="4700" b="0"/>
          <a:stretch/>
        </p:blipFill>
        <p:spPr>
          <a:xfrm>
            <a:off x="500040" y="495000"/>
            <a:ext cx="2941920" cy="5838120"/>
          </a:xfrm>
          <a:prstGeom prst="rect">
            <a:avLst/>
          </a:prstGeom>
          <a:ln w="0">
            <a:noFill/>
          </a:ln>
        </p:spPr>
      </p:pic>
      <p:sp>
        <p:nvSpPr>
          <p:cNvPr id="260" name="Rectangle 102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1" name="TextBox 103"/>
          <p:cNvSpPr/>
          <p:nvPr/>
        </p:nvSpPr>
        <p:spPr>
          <a:xfrm>
            <a:off x="3514320" y="6473880"/>
            <a:ext cx="2735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62" name="TextBox 104"/>
          <p:cNvSpPr/>
          <p:nvPr/>
        </p:nvSpPr>
        <p:spPr>
          <a:xfrm>
            <a:off x="10863720" y="6473880"/>
            <a:ext cx="3081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12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62;p3"/>
          <p:cNvSpPr/>
          <p:nvPr/>
        </p:nvSpPr>
        <p:spPr>
          <a:xfrm>
            <a:off x="825480" y="419760"/>
            <a:ext cx="5635440" cy="9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Budowa języka i pierwszego zbioru danych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64" name="Google Shape;63;p3"/>
          <p:cNvSpPr/>
          <p:nvPr/>
        </p:nvSpPr>
        <p:spPr>
          <a:xfrm>
            <a:off x="825480" y="1455840"/>
            <a:ext cx="5635440" cy="88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Narzędzie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— aplikacja badawcza, w której testerzy wcielali się w różne role (rodzic szukający pomocy dla dziecka, osoba w kryzysie, student) i pisali naturalne zapytania.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65" name="Google Shape;64;p3"/>
          <p:cNvSpPr/>
          <p:nvPr/>
        </p:nvSpPr>
        <p:spPr>
          <a:xfrm>
            <a:off x="825480" y="2445480"/>
            <a:ext cx="5471280" cy="1693080"/>
          </a:xfrm>
          <a:prstGeom prst="roundRect">
            <a:avLst>
              <a:gd name="adj" fmla="val 59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6" name="Google Shape;65;p3"/>
          <p:cNvSpPr/>
          <p:nvPr/>
        </p:nvSpPr>
        <p:spPr>
          <a:xfrm>
            <a:off x="1074600" y="2777040"/>
            <a:ext cx="512208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680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67" name="Google Shape;66;p3"/>
          <p:cNvSpPr/>
          <p:nvPr/>
        </p:nvSpPr>
        <p:spPr>
          <a:xfrm>
            <a:off x="1074600" y="3597480"/>
            <a:ext cx="512208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ręcznie zaanotowanych oczekiwanych zakresów tematycznych i językowych użytkownika — „seed dataset”.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68" name="Google Shape;67;p3"/>
          <p:cNvSpPr/>
          <p:nvPr/>
        </p:nvSpPr>
        <p:spPr>
          <a:xfrm>
            <a:off x="825480" y="4417920"/>
            <a:ext cx="5471280" cy="1839240"/>
          </a:xfrm>
          <a:prstGeom prst="roundRect">
            <a:avLst>
              <a:gd name="adj" fmla="val 6548"/>
            </a:avLst>
          </a:prstGeom>
          <a:solidFill>
            <a:srgbClr val="ffffff">
              <a:alpha val="97000"/>
            </a:srgbClr>
          </a:solidFill>
          <a:ln w="11900">
            <a:solidFill>
              <a:srgbClr val="e8e2d4">
                <a:alpha val="97000"/>
              </a:srgbClr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Google Shape;68;p3"/>
          <p:cNvSpPr/>
          <p:nvPr/>
        </p:nvSpPr>
        <p:spPr>
          <a:xfrm>
            <a:off x="1074600" y="4592880"/>
            <a:ext cx="4973040" cy="25884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Google Shape;69;p3"/>
          <p:cNvSpPr/>
          <p:nvPr/>
        </p:nvSpPr>
        <p:spPr>
          <a:xfrm>
            <a:off x="1176120" y="4607640"/>
            <a:ext cx="4919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TAKSONOMIA + TŁUMACZONE ZBIORY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271" name="Google Shape;70;p3"/>
          <p:cNvSpPr/>
          <p:nvPr/>
        </p:nvSpPr>
        <p:spPr>
          <a:xfrm>
            <a:off x="1074600" y="4846680"/>
            <a:ext cx="5122080" cy="11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94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Zbiory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mental health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 HuggingFace przetłumaczono na polski, a na podstawie przeszukiwania (crawling)  stron placówek zdefiniowano: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typy usług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ypes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O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f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ervices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i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grupy docelowe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arget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G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roups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72" name="Google Shape;71;p3"/>
          <p:cNvSpPr/>
          <p:nvPr/>
        </p:nvSpPr>
        <p:spPr>
          <a:xfrm>
            <a:off x="6896160" y="784080"/>
            <a:ext cx="4276800" cy="4831200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73" name="Google Shape;72;p3" descr="preencoded.png"/>
          <p:cNvPicPr/>
          <p:nvPr/>
        </p:nvPicPr>
        <p:blipFill>
          <a:blip r:embed="rId1"/>
          <a:stretch/>
        </p:blipFill>
        <p:spPr>
          <a:xfrm>
            <a:off x="6904440" y="792000"/>
            <a:ext cx="4260960" cy="4815360"/>
          </a:xfrm>
          <a:prstGeom prst="rect">
            <a:avLst/>
          </a:prstGeom>
          <a:ln w="0">
            <a:noFill/>
          </a:ln>
        </p:spPr>
      </p:pic>
      <p:sp>
        <p:nvSpPr>
          <p:cNvPr id="274" name="Google Shape;73;p3"/>
          <p:cNvSpPr/>
          <p:nvPr/>
        </p:nvSpPr>
        <p:spPr>
          <a:xfrm>
            <a:off x="6634800" y="5730840"/>
            <a:ext cx="4800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Helpi-Lab — interfejs asystenta badawczego z rundami scenariuszy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5" name="Rectangle 7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6" name="TextBox 74"/>
          <p:cNvSpPr/>
          <p:nvPr/>
        </p:nvSpPr>
        <p:spPr>
          <a:xfrm>
            <a:off x="3514320" y="6473880"/>
            <a:ext cx="2735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77" name="TextBox 75"/>
          <p:cNvSpPr/>
          <p:nvPr/>
        </p:nvSpPr>
        <p:spPr>
          <a:xfrm>
            <a:off x="10863720" y="6473880"/>
            <a:ext cx="3081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78" name="Rectangle 76"/>
          <p:cNvSpPr/>
          <p:nvPr/>
        </p:nvSpPr>
        <p:spPr>
          <a:xfrm>
            <a:off x="825480" y="136008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79;p4"/>
          <p:cNvSpPr/>
          <p:nvPr/>
        </p:nvSpPr>
        <p:spPr>
          <a:xfrm>
            <a:off x="1020240" y="571680"/>
            <a:ext cx="4068720" cy="5028120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80" name="Google Shape;80;p4" descr="preencoded.png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1028160" y="579600"/>
            <a:ext cx="4052880" cy="5012280"/>
          </a:xfrm>
          <a:prstGeom prst="rect">
            <a:avLst/>
          </a:prstGeom>
          <a:ln w="0">
            <a:noFill/>
          </a:ln>
        </p:spPr>
      </p:pic>
      <p:sp>
        <p:nvSpPr>
          <p:cNvPr id="281" name="Google Shape;81;p4"/>
          <p:cNvSpPr/>
          <p:nvPr/>
        </p:nvSpPr>
        <p:spPr>
          <a:xfrm>
            <a:off x="758520" y="5715360"/>
            <a:ext cx="459144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 Inference (TOS, TG) — testowanie klasyfikatorów i rozkład prawdopodobieństw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2" name="Google Shape;83;p4"/>
          <p:cNvSpPr/>
          <p:nvPr/>
        </p:nvSpPr>
        <p:spPr>
          <a:xfrm>
            <a:off x="5691240" y="1323360"/>
            <a:ext cx="5844240" cy="9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Anotacja i trening modeli klasyfikacyjnych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83" name="Google Shape;84;p4"/>
          <p:cNvSpPr/>
          <p:nvPr/>
        </p:nvSpPr>
        <p:spPr>
          <a:xfrm>
            <a:off x="5691240" y="2418840"/>
            <a:ext cx="5844240" cy="88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Model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GPT-OSS:120b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generował wstępne klasyfikacje (typ usługi TOS + grupa docelowa TG), a ludzie weryfikowali i korygowali je w aplikacji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Helpi-Lab-Chat-Anno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84" name="Google Shape;85;p4"/>
          <p:cNvSpPr/>
          <p:nvPr/>
        </p:nvSpPr>
        <p:spPr>
          <a:xfrm>
            <a:off x="5691240" y="3467880"/>
            <a:ext cx="2747520" cy="168372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5" name="Google Shape;86;p4"/>
          <p:cNvSpPr/>
          <p:nvPr/>
        </p:nvSpPr>
        <p:spPr>
          <a:xfrm>
            <a:off x="5927400" y="3687120"/>
            <a:ext cx="234252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4933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86" name="Google Shape;87;p4"/>
          <p:cNvSpPr/>
          <p:nvPr/>
        </p:nvSpPr>
        <p:spPr>
          <a:xfrm>
            <a:off x="5791680" y="4507200"/>
            <a:ext cx="26467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sprawdzone anotacje (etykietowanie) — pierwszy „oficjalny” dataset.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7" name="Google Shape;88;p4"/>
          <p:cNvSpPr/>
          <p:nvPr/>
        </p:nvSpPr>
        <p:spPr>
          <a:xfrm>
            <a:off x="8617680" y="3467880"/>
            <a:ext cx="2747520" cy="168372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8" name="Google Shape;89;p4"/>
          <p:cNvSpPr/>
          <p:nvPr/>
        </p:nvSpPr>
        <p:spPr>
          <a:xfrm>
            <a:off x="8854200" y="3678840"/>
            <a:ext cx="234252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1867aa"/>
                </a:solidFill>
                <a:latin typeface="Calibri"/>
                <a:ea typeface="DejaVu Sans"/>
              </a:rPr>
              <a:t>2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89" name="Google Shape;90;p4"/>
          <p:cNvSpPr/>
          <p:nvPr/>
        </p:nvSpPr>
        <p:spPr>
          <a:xfrm>
            <a:off x="8854200" y="4499280"/>
            <a:ext cx="234252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modele klasyfikacyjne: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TOS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(typy usług) i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TG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(grupy docelowe).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90" name="Google Shape;91;p4"/>
          <p:cNvSpPr/>
          <p:nvPr/>
        </p:nvSpPr>
        <p:spPr>
          <a:xfrm>
            <a:off x="5691240" y="5346720"/>
            <a:ext cx="5844240" cy="53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Te modele stały się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rdzeniem logiki Helpi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— one decydują, jakie placówki zaproponować użytkownikowi na podstawie opisu problemu.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91" name="Rectangle 91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2" name="TextBox 92"/>
          <p:cNvSpPr/>
          <p:nvPr/>
        </p:nvSpPr>
        <p:spPr>
          <a:xfrm>
            <a:off x="3514320" y="6473880"/>
            <a:ext cx="2735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93" name="TextBox 93"/>
          <p:cNvSpPr/>
          <p:nvPr/>
        </p:nvSpPr>
        <p:spPr>
          <a:xfrm>
            <a:off x="10863720" y="6473880"/>
            <a:ext cx="3081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94" name="Rectangle 94"/>
          <p:cNvSpPr/>
          <p:nvPr/>
        </p:nvSpPr>
        <p:spPr>
          <a:xfrm>
            <a:off x="5691240" y="229932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98;p5"/>
          <p:cNvSpPr/>
          <p:nvPr/>
        </p:nvSpPr>
        <p:spPr>
          <a:xfrm>
            <a:off x="825480" y="852480"/>
            <a:ext cx="10855800" cy="47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 </a:t>
            </a: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Balans - skalowanie danych i doskonalenie modeli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96" name="Google Shape;99;p5"/>
          <p:cNvSpPr/>
          <p:nvPr/>
        </p:nvSpPr>
        <p:spPr>
          <a:xfrm>
            <a:off x="825480" y="1548360"/>
            <a:ext cx="9155160" cy="5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Wytrenowane klasyfikatory same anotowały nowo wygenerowane przypadki, a ludzie weryfikowali wyniki — pętla, która systematycznie podnosiła precyzję klasyfikacji.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97" name="Google Shape;100;p5"/>
          <p:cNvSpPr/>
          <p:nvPr/>
        </p:nvSpPr>
        <p:spPr>
          <a:xfrm>
            <a:off x="825480" y="2435040"/>
            <a:ext cx="4717800" cy="3888360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8" name="Google Shape;101;p5"/>
          <p:cNvSpPr/>
          <p:nvPr/>
        </p:nvSpPr>
        <p:spPr>
          <a:xfrm>
            <a:off x="1138320" y="3220920"/>
            <a:ext cx="4092480" cy="25884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Google Shape;102;p5"/>
          <p:cNvSpPr/>
          <p:nvPr/>
        </p:nvSpPr>
        <p:spPr>
          <a:xfrm>
            <a:off x="1239840" y="3271680"/>
            <a:ext cx="4011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 fontScale="98000"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PĘTLA DOSKONALENIA MODELI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300" name="Google Shape;103;p5"/>
          <p:cNvSpPr/>
          <p:nvPr/>
        </p:nvSpPr>
        <p:spPr>
          <a:xfrm>
            <a:off x="1138320" y="3620880"/>
            <a:ext cx="21204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1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1" name="Google Shape;104;p5"/>
          <p:cNvSpPr/>
          <p:nvPr/>
        </p:nvSpPr>
        <p:spPr>
          <a:xfrm>
            <a:off x="1415160" y="3624120"/>
            <a:ext cx="11613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Model trenuje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2" name="Google Shape;105;p5"/>
          <p:cNvSpPr/>
          <p:nvPr/>
        </p:nvSpPr>
        <p:spPr>
          <a:xfrm>
            <a:off x="1886040" y="3972240"/>
            <a:ext cx="3913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3" name="Google Shape;106;p5"/>
          <p:cNvSpPr/>
          <p:nvPr/>
        </p:nvSpPr>
        <p:spPr>
          <a:xfrm>
            <a:off x="1138320" y="4289760"/>
            <a:ext cx="21204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2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4" name="Google Shape;107;p5"/>
          <p:cNvSpPr/>
          <p:nvPr/>
        </p:nvSpPr>
        <p:spPr>
          <a:xfrm>
            <a:off x="1415160" y="4293360"/>
            <a:ext cx="16005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Anotuje nowe dane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5" name="Google Shape;108;p5"/>
          <p:cNvSpPr/>
          <p:nvPr/>
        </p:nvSpPr>
        <p:spPr>
          <a:xfrm>
            <a:off x="1886040" y="4641480"/>
            <a:ext cx="3913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6" name="Google Shape;109;p5"/>
          <p:cNvSpPr/>
          <p:nvPr/>
        </p:nvSpPr>
        <p:spPr>
          <a:xfrm>
            <a:off x="1138320" y="4958640"/>
            <a:ext cx="21204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3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7" name="Google Shape;110;p5"/>
          <p:cNvSpPr/>
          <p:nvPr/>
        </p:nvSpPr>
        <p:spPr>
          <a:xfrm>
            <a:off x="1415160" y="4962240"/>
            <a:ext cx="13338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Ludzie korygują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8" name="Google Shape;111;p5"/>
          <p:cNvSpPr/>
          <p:nvPr/>
        </p:nvSpPr>
        <p:spPr>
          <a:xfrm>
            <a:off x="1290600" y="5310360"/>
            <a:ext cx="40626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↺ </a:t>
            </a: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model trenuje ponownie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9" name="Google Shape;112;p5"/>
          <p:cNvSpPr/>
          <p:nvPr/>
        </p:nvSpPr>
        <p:spPr>
          <a:xfrm>
            <a:off x="5849280" y="2435040"/>
            <a:ext cx="2680920" cy="165600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0" name="Google Shape;113;p5"/>
          <p:cNvSpPr/>
          <p:nvPr/>
        </p:nvSpPr>
        <p:spPr>
          <a:xfrm>
            <a:off x="6073200" y="2777400"/>
            <a:ext cx="23004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~700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1" name="Google Shape;114;p5"/>
          <p:cNvSpPr/>
          <p:nvPr/>
        </p:nvSpPr>
        <p:spPr>
          <a:xfrm>
            <a:off x="6073200" y="3323520"/>
            <a:ext cx="230040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A — przypadki typów usług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2" name="Google Shape;115;p5"/>
          <p:cNvSpPr/>
          <p:nvPr/>
        </p:nvSpPr>
        <p:spPr>
          <a:xfrm>
            <a:off x="8683920" y="2435040"/>
            <a:ext cx="2680920" cy="165600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3" name="Google Shape;116;p5"/>
          <p:cNvSpPr/>
          <p:nvPr/>
        </p:nvSpPr>
        <p:spPr>
          <a:xfrm>
            <a:off x="8907840" y="2777400"/>
            <a:ext cx="2300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4354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4" name="Google Shape;117;p5"/>
          <p:cNvSpPr/>
          <p:nvPr/>
        </p:nvSpPr>
        <p:spPr>
          <a:xfrm>
            <a:off x="8907840" y="3323520"/>
            <a:ext cx="230076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B — przypadki łącznie dla TOS i TG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5" name="Google Shape;118;p5"/>
          <p:cNvSpPr/>
          <p:nvPr/>
        </p:nvSpPr>
        <p:spPr>
          <a:xfrm>
            <a:off x="5849280" y="4245120"/>
            <a:ext cx="5515920" cy="2078280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6" name="Google Shape;119;p5"/>
          <p:cNvSpPr/>
          <p:nvPr/>
        </p:nvSpPr>
        <p:spPr>
          <a:xfrm>
            <a:off x="6085800" y="4581360"/>
            <a:ext cx="150984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1867aa"/>
                </a:solidFill>
                <a:latin typeface="Calibri"/>
                <a:ea typeface="DejaVu Sans"/>
              </a:rPr>
              <a:t>~5400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7" name="Google Shape;120;p5"/>
          <p:cNvSpPr/>
          <p:nvPr/>
        </p:nvSpPr>
        <p:spPr>
          <a:xfrm>
            <a:off x="7673400" y="4755960"/>
            <a:ext cx="6692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8000"/>
          </a:bodyPr>
          <a:p>
            <a:pPr>
              <a:lnSpc>
                <a:spcPct val="90000"/>
              </a:lnSpc>
              <a:buNone/>
            </a:pPr>
            <a:r>
              <a:rPr b="1" lang="en-US" sz="2200" spc="-1" strike="noStrike">
                <a:solidFill>
                  <a:srgbClr val="b58827"/>
                </a:solidFill>
                <a:latin typeface="Calibri"/>
                <a:ea typeface="DejaVu Sans"/>
              </a:rPr>
              <a:t>+940</a:t>
            </a:r>
            <a:endParaRPr b="0" lang="pl-PL" sz="2200" spc="-1" strike="noStrike">
              <a:latin typeface="Arial"/>
            </a:endParaRPr>
          </a:p>
        </p:txBody>
      </p:sp>
      <p:sp>
        <p:nvSpPr>
          <p:cNvPr id="318" name="Google Shape;121;p5"/>
          <p:cNvSpPr/>
          <p:nvPr/>
        </p:nvSpPr>
        <p:spPr>
          <a:xfrm>
            <a:off x="6085800" y="5127120"/>
            <a:ext cx="5194080" cy="88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6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Dataset grup docelowych był niezbalansowany (nadreprezentacja „dorosłych”, niedobór „seniorów” i „osób niebinarnych”), więc dogenerowano ok.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940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przypadków — uzyskując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~5400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zbalansowanych przykładów dla TG.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9" name="Rectangle 121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0" name="TextBox 122"/>
          <p:cNvSpPr/>
          <p:nvPr/>
        </p:nvSpPr>
        <p:spPr>
          <a:xfrm>
            <a:off x="3514320" y="6473880"/>
            <a:ext cx="2735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21" name="TextBox 123"/>
          <p:cNvSpPr/>
          <p:nvPr/>
        </p:nvSpPr>
        <p:spPr>
          <a:xfrm>
            <a:off x="10863720" y="6473880"/>
            <a:ext cx="3081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22" name="Rectangle 124"/>
          <p:cNvSpPr/>
          <p:nvPr/>
        </p:nvSpPr>
        <p:spPr>
          <a:xfrm>
            <a:off x="825480" y="137592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Rectangle 1"/>
          <p:cNvSpPr/>
          <p:nvPr/>
        </p:nvSpPr>
        <p:spPr>
          <a:xfrm>
            <a:off x="768240" y="1554480"/>
            <a:ext cx="1827360" cy="49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4" name="TextBox 2"/>
          <p:cNvSpPr/>
          <p:nvPr/>
        </p:nvSpPr>
        <p:spPr>
          <a:xfrm>
            <a:off x="768240" y="1737360"/>
            <a:ext cx="10422720" cy="57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800" spc="-1" strike="noStrike">
                <a:solidFill>
                  <a:srgbClr val="ffffff"/>
                </a:solidFill>
                <a:latin typeface="Play"/>
                <a:ea typeface="DejaVu Sans"/>
              </a:rPr>
              <a:t>Interaktywna sesja anotacyjna</a:t>
            </a:r>
            <a:endParaRPr b="0" lang="pl-PL" sz="3800" spc="-1" strike="noStrike">
              <a:latin typeface="Arial"/>
            </a:endParaRPr>
          </a:p>
        </p:txBody>
      </p:sp>
      <p:sp>
        <p:nvSpPr>
          <p:cNvPr id="325" name="TextBox 3"/>
          <p:cNvSpPr/>
          <p:nvPr/>
        </p:nvSpPr>
        <p:spPr>
          <a:xfrm>
            <a:off x="768240" y="2697480"/>
            <a:ext cx="10056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Spróbuj sam — przekonaj się, jak trudno dokładnie oznaczać tekst bez kontekstu biznesowego.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326" name="Rounded Rectangle 4"/>
          <p:cNvSpPr/>
          <p:nvPr/>
        </p:nvSpPr>
        <p:spPr>
          <a:xfrm>
            <a:off x="768240" y="3566160"/>
            <a:ext cx="6399360" cy="100440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TextBox 5"/>
          <p:cNvSpPr/>
          <p:nvPr/>
        </p:nvSpPr>
        <p:spPr>
          <a:xfrm>
            <a:off x="768240" y="3703320"/>
            <a:ext cx="6399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42733"/>
                </a:solidFill>
                <a:latin typeface="Arial"/>
                <a:ea typeface="DejaVu Sans"/>
              </a:rPr>
              <a:t>Link do sesji (~5 min):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28" name="TextBox 6"/>
          <p:cNvSpPr/>
          <p:nvPr/>
        </p:nvSpPr>
        <p:spPr>
          <a:xfrm>
            <a:off x="768240" y="4041720"/>
            <a:ext cx="6399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42733"/>
                </a:solidFill>
                <a:latin typeface="Play"/>
                <a:ea typeface="DejaVu Sans"/>
              </a:rPr>
              <a:t>https://dss2026.radlab.dev/</a:t>
            </a:r>
            <a:endParaRPr b="0" lang="pl-PL" sz="2400" spc="-1" strike="noStrike">
              <a:latin typeface="Arial"/>
            </a:endParaRPr>
          </a:p>
        </p:txBody>
      </p:sp>
      <p:sp>
        <p:nvSpPr>
          <p:cNvPr id="329" name="TextBox 7"/>
          <p:cNvSpPr/>
          <p:nvPr/>
        </p:nvSpPr>
        <p:spPr>
          <a:xfrm>
            <a:off x="768240" y="5120640"/>
            <a:ext cx="255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Przeczytaj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0" name="TextBox 8"/>
          <p:cNvSpPr/>
          <p:nvPr/>
        </p:nvSpPr>
        <p:spPr>
          <a:xfrm>
            <a:off x="768240" y="5486400"/>
            <a:ext cx="2558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każdy tweet uważnie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1" name="TextBox 9"/>
          <p:cNvSpPr/>
          <p:nvPr/>
        </p:nvSpPr>
        <p:spPr>
          <a:xfrm>
            <a:off x="3465720" y="5120640"/>
            <a:ext cx="255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Zastanów się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2" name="TextBox 10"/>
          <p:cNvSpPr/>
          <p:nvPr/>
        </p:nvSpPr>
        <p:spPr>
          <a:xfrm>
            <a:off x="3465720" y="5486400"/>
            <a:ext cx="25588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jaka jest intencja I dominująca emocja z jaką polaryzacją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3" name="TextBox 11"/>
          <p:cNvSpPr/>
          <p:nvPr/>
        </p:nvSpPr>
        <p:spPr>
          <a:xfrm>
            <a:off x="6163200" y="5120640"/>
            <a:ext cx="255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Wybierz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4" name="TextBox 12"/>
          <p:cNvSpPr/>
          <p:nvPr/>
        </p:nvSpPr>
        <p:spPr>
          <a:xfrm>
            <a:off x="6163200" y="5486400"/>
            <a:ext cx="2558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najlepiej dopasowaną klasę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5" name="TextBox 13"/>
          <p:cNvSpPr/>
          <p:nvPr/>
        </p:nvSpPr>
        <p:spPr>
          <a:xfrm>
            <a:off x="8860680" y="5120640"/>
            <a:ext cx="255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Zwróć uwagę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6" name="TextBox 14"/>
          <p:cNvSpPr/>
          <p:nvPr/>
        </p:nvSpPr>
        <p:spPr>
          <a:xfrm>
            <a:off x="8860680" y="5486400"/>
            <a:ext cx="2558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 niuanse i kontekst (jeżeli jest)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Box 1"/>
          <p:cNvSpPr/>
          <p:nvPr/>
        </p:nvSpPr>
        <p:spPr>
          <a:xfrm>
            <a:off x="768240" y="2240280"/>
            <a:ext cx="182736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338" name="Rectangle 2"/>
          <p:cNvSpPr/>
          <p:nvPr/>
        </p:nvSpPr>
        <p:spPr>
          <a:xfrm>
            <a:off x="768240" y="3246120"/>
            <a:ext cx="1827360" cy="49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9" name="TextBox 3"/>
          <p:cNvSpPr/>
          <p:nvPr/>
        </p:nvSpPr>
        <p:spPr>
          <a:xfrm>
            <a:off x="768240" y="3429000"/>
            <a:ext cx="104227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techniczna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40" name="TextBox 4"/>
          <p:cNvSpPr/>
          <p:nvPr/>
        </p:nvSpPr>
        <p:spPr>
          <a:xfrm>
            <a:off x="768240" y="4754880"/>
            <a:ext cx="73137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~22 min · od sprzętu po trening klasyfikatora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Wymagania sprzętowe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42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3" name="Rectangle 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4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Sprzęt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45" name="TextBox 5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18</a:t>
            </a:r>
            <a:endParaRPr b="0" lang="pl-PL" sz="900" spc="-1" strike="noStrike">
              <a:latin typeface="Arial"/>
            </a:endParaRPr>
          </a:p>
        </p:txBody>
      </p:sp>
      <p:graphicFrame>
        <p:nvGraphicFramePr>
          <p:cNvPr id="346" name="Table 6"/>
          <p:cNvGraphicFramePr/>
          <p:nvPr/>
        </p:nvGraphicFramePr>
        <p:xfrm>
          <a:off x="768240" y="1417320"/>
          <a:ext cx="10652400" cy="274284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2194560"/>
                <a:gridCol w="4892040"/>
              </a:tblGrid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Komponent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Minimalne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Zalecane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Uwagi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 rdzenie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8+ rdzeni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wielowątkowy: więcej rdzeni = szybciej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16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32–128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7B: 16GB · 70B: 64GB+ · 120B: 96GB+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Dysk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50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250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~5GB · PLLuM ~40GB · gpt-oss ~65GB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opcjonalne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24–80 GB VRAM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8GB · PLLuM 48GB+ · gpt-oss 80GB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System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/ macOS 13+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Ubuntu 22.04+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docelowy; vLLM tylko Linux+NVIDIA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7" name="Rounded Rectangle 7"/>
          <p:cNvSpPr/>
          <p:nvPr/>
        </p:nvSpPr>
        <p:spPr>
          <a:xfrm>
            <a:off x="768240" y="4480560"/>
            <a:ext cx="10651320" cy="6843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8" name="Rectangle 8"/>
          <p:cNvSpPr/>
          <p:nvPr/>
        </p:nvSpPr>
        <p:spPr>
          <a:xfrm>
            <a:off x="768240" y="4480560"/>
            <a:ext cx="49320" cy="6843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TextBox 9"/>
          <p:cNvSpPr/>
          <p:nvPr/>
        </p:nvSpPr>
        <p:spPr>
          <a:xfrm>
            <a:off x="1024200" y="4633560"/>
            <a:ext cx="101941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Wymagania zależą od modelu i vendora. Bez GPU używaj Ollama / llama.cpp (CPU-only). Python 3.10+ (zalecane 3.12+), izolowany venv, zależności z requirements.txt.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Lokalne silniki (vendorzy)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51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2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Trzy sposoby serwowania modeli lokalnie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3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55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56" name="Rounded Rectangle 7"/>
          <p:cNvSpPr/>
          <p:nvPr/>
        </p:nvSpPr>
        <p:spPr>
          <a:xfrm>
            <a:off x="768240" y="1828800"/>
            <a:ext cx="10651320" cy="6019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7" name="Rounded Rectangle 8"/>
          <p:cNvSpPr/>
          <p:nvPr/>
        </p:nvSpPr>
        <p:spPr>
          <a:xfrm>
            <a:off x="768240" y="1828800"/>
            <a:ext cx="1553040" cy="60192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8" name="TextBox 9"/>
          <p:cNvSpPr/>
          <p:nvPr/>
        </p:nvSpPr>
        <p:spPr>
          <a:xfrm>
            <a:off x="768240" y="1938600"/>
            <a:ext cx="1553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vLLM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9" name="TextBox 10"/>
          <p:cNvSpPr/>
          <p:nvPr/>
        </p:nvSpPr>
        <p:spPr>
          <a:xfrm>
            <a:off x="2551320" y="2027160"/>
            <a:ext cx="8593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wysokowydajny, GPU NVIDIA, tensor parallelism, multi-GPU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60" name="Rounded Rectangle 11"/>
          <p:cNvSpPr/>
          <p:nvPr/>
        </p:nvSpPr>
        <p:spPr>
          <a:xfrm>
            <a:off x="768240" y="2541960"/>
            <a:ext cx="10651320" cy="6019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1" name="Rounded Rectangle 12"/>
          <p:cNvSpPr/>
          <p:nvPr/>
        </p:nvSpPr>
        <p:spPr>
          <a:xfrm>
            <a:off x="768240" y="2541960"/>
            <a:ext cx="1553040" cy="60192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TextBox 13"/>
          <p:cNvSpPr/>
          <p:nvPr/>
        </p:nvSpPr>
        <p:spPr>
          <a:xfrm>
            <a:off x="768240" y="2651760"/>
            <a:ext cx="1553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Ollama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3" name="TextBox 14"/>
          <p:cNvSpPr/>
          <p:nvPr/>
        </p:nvSpPr>
        <p:spPr>
          <a:xfrm>
            <a:off x="2551320" y="2740320"/>
            <a:ext cx="8593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najprostszy, GGUF, NVIDIA/AMD/Apple/CPU, API :11434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64" name="Rounded Rectangle 15"/>
          <p:cNvSpPr/>
          <p:nvPr/>
        </p:nvSpPr>
        <p:spPr>
          <a:xfrm>
            <a:off x="768240" y="3255120"/>
            <a:ext cx="10651320" cy="6019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5" name="Rounded Rectangle 16"/>
          <p:cNvSpPr/>
          <p:nvPr/>
        </p:nvSpPr>
        <p:spPr>
          <a:xfrm>
            <a:off x="768240" y="3255120"/>
            <a:ext cx="1553040" cy="60192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6" name="TextBox 17"/>
          <p:cNvSpPr/>
          <p:nvPr/>
        </p:nvSpPr>
        <p:spPr>
          <a:xfrm>
            <a:off x="768240" y="3364920"/>
            <a:ext cx="1553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llama.cpp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7" name="TextBox 18"/>
          <p:cNvSpPr/>
          <p:nvPr/>
        </p:nvSpPr>
        <p:spPr>
          <a:xfrm>
            <a:off x="2551320" y="3453480"/>
            <a:ext cx="8593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lekki C/C++, GGUF, największa kontrola, najwięcej konfiguracji</a:t>
            </a:r>
            <a:endParaRPr b="0" lang="pl-PL" sz="1350" spc="-1" strike="noStrike">
              <a:latin typeface="Arial"/>
            </a:endParaRPr>
          </a:p>
        </p:txBody>
      </p:sp>
      <p:graphicFrame>
        <p:nvGraphicFramePr>
          <p:cNvPr id="368" name="Table 19"/>
          <p:cNvGraphicFramePr/>
          <p:nvPr/>
        </p:nvGraphicFramePr>
        <p:xfrm>
          <a:off x="768240" y="4206240"/>
          <a:ext cx="10652400" cy="1974240"/>
        </p:xfrm>
        <a:graphic>
          <a:graphicData uri="http://schemas.openxmlformats.org/drawingml/2006/table">
            <a:tbl>
              <a:tblPr/>
              <a:tblGrid>
                <a:gridCol w="3063240"/>
                <a:gridCol w="2468880"/>
                <a:gridCol w="2560320"/>
                <a:gridCol w="2560320"/>
              </a:tblGrid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Cecha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vLLM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Ollama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llama.cpp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NVIDIA (CUDA)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ROCm/Metal/CUDA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CUDA/Metal/Vulkan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CPU-only / macOS / Win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✗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✗ / ✗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WSL2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✓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Łatwość konfiguracji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średnia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trudna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Wydajność GPU / CPU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b. wysoka / brak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b.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4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Modele 120B+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multi-GPU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vLLM — uruchomienie serwera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70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1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GPU NVIDIA (VRAM ≥ 24 GB), Linux, CUDA 12.x; format HF Safetensors / GGUF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72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3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74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75" name="TextBox 7"/>
          <p:cNvSpPr/>
          <p:nvPr/>
        </p:nvSpPr>
        <p:spPr>
          <a:xfrm>
            <a:off x="768240" y="1828800"/>
            <a:ext cx="5027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Instalacja: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76" name="Rounded Rectangle 8"/>
          <p:cNvSpPr/>
          <p:nvPr/>
        </p:nvSpPr>
        <p:spPr>
          <a:xfrm>
            <a:off x="768240" y="2194560"/>
            <a:ext cx="5119200" cy="86256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7" name="TextBox 9"/>
          <p:cNvSpPr/>
          <p:nvPr/>
        </p:nvSpPr>
        <p:spPr>
          <a:xfrm>
            <a:off x="1989720" y="2277000"/>
            <a:ext cx="26762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pip install vllm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python3 -c "import vllm;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print(vllm.__version__)"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78" name="TextBox 10"/>
          <p:cNvSpPr/>
          <p:nvPr/>
        </p:nvSpPr>
        <p:spPr>
          <a:xfrm>
            <a:off x="6400800" y="1828800"/>
            <a:ext cx="5027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Serwowanie (PLLuM-70B):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79" name="Rounded Rectangle 11"/>
          <p:cNvSpPr/>
          <p:nvPr/>
        </p:nvSpPr>
        <p:spPr>
          <a:xfrm>
            <a:off x="6400800" y="2194560"/>
            <a:ext cx="5027760" cy="132912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0" name="TextBox 12"/>
          <p:cNvSpPr/>
          <p:nvPr/>
        </p:nvSpPr>
        <p:spPr>
          <a:xfrm>
            <a:off x="6904440" y="2277000"/>
            <a:ext cx="4020480" cy="10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vllm serve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CYFRAGOVPL/Llama-PLLuM-70B-chat-2512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--tensor-parallel-size 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--max-model-len 8192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--port 8080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81" name="Rounded Rectangle 13"/>
          <p:cNvSpPr/>
          <p:nvPr/>
        </p:nvSpPr>
        <p:spPr>
          <a:xfrm>
            <a:off x="768240" y="4206240"/>
            <a:ext cx="10651320" cy="730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2" name="Rectangle 14"/>
          <p:cNvSpPr/>
          <p:nvPr/>
        </p:nvSpPr>
        <p:spPr>
          <a:xfrm>
            <a:off x="768240" y="4206240"/>
            <a:ext cx="49320" cy="73008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3" name="TextBox 15"/>
          <p:cNvSpPr/>
          <p:nvPr/>
        </p:nvSpPr>
        <p:spPr>
          <a:xfrm>
            <a:off x="1024200" y="4271040"/>
            <a:ext cx="10194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Pozostali vendorzy w skrócie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Po starcie serwer dostępny pod http://localhost:8080. Ollama: `ollama run SpeakLeash/bielik-…` lub `ollama run gpt-oss:120b`; llama.cpp: `cmake -B build -DGGML_CUDA=ON` → `llama-server --model model.gguf`.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LLM Router — AI Gateway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85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6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Open-source (Apache 2.0) warstwa pośrednicząca: aplikacja ↔ dostawca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87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8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LLM Router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89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0" name="TextBox 7"/>
          <p:cNvSpPr/>
          <p:nvPr/>
        </p:nvSpPr>
        <p:spPr>
          <a:xfrm>
            <a:off x="768240" y="1828800"/>
            <a:ext cx="5393520" cy="12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jeden endpoint dla wielu providerów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load balancing + health checks + streaming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maskowanie / anonimizacja PII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guardrails (treści zabronione)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391" name="TextBox 8"/>
          <p:cNvSpPr/>
          <p:nvPr/>
        </p:nvSpPr>
        <p:spPr>
          <a:xfrm>
            <a:off x="6400800" y="1783080"/>
            <a:ext cx="5027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Ekosystem (repozytoria):</a:t>
            </a:r>
            <a:endParaRPr b="0" lang="pl-PL" sz="1400" spc="-1" strike="noStrike">
              <a:latin typeface="Arial"/>
            </a:endParaRPr>
          </a:p>
        </p:txBody>
      </p:sp>
      <p:graphicFrame>
        <p:nvGraphicFramePr>
          <p:cNvPr id="392" name="Table 9"/>
          <p:cNvGraphicFramePr/>
          <p:nvPr/>
        </p:nvGraphicFramePr>
        <p:xfrm>
          <a:off x="6400800" y="2148840"/>
          <a:ext cx="5028840" cy="268776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</a:tblGrid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Repo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Rola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llm-router-api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REST proxy do backendów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llm-router-lib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Python SDK (typowane)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llm-router-web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Flask UI: config + anonymizer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llm-router-plugins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maskery, guardrails, routing, RAG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llm-router-services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guardrails + PII masker (HTTP)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5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llm-router-utils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CLI: genai-classifier, augmentation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</a:tbl>
          </a:graphicData>
        </a:graphic>
      </p:graphicFrame>
      <p:sp>
        <p:nvSpPr>
          <p:cNvPr id="393" name="Rounded Rectangle 10"/>
          <p:cNvSpPr/>
          <p:nvPr/>
        </p:nvSpPr>
        <p:spPr>
          <a:xfrm>
            <a:off x="768240" y="3931920"/>
            <a:ext cx="5393520" cy="86256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4" name="TextBox 11"/>
          <p:cNvSpPr/>
          <p:nvPr/>
        </p:nvSpPr>
        <p:spPr>
          <a:xfrm>
            <a:off x="1911960" y="4014360"/>
            <a:ext cx="31060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Request → MaskerPipeline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GuardrailPipeline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UtilsPipeline → Model Provider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95" name="Rounded Rectangle 12"/>
          <p:cNvSpPr/>
          <p:nvPr/>
        </p:nvSpPr>
        <p:spPr>
          <a:xfrm>
            <a:off x="768240" y="5074920"/>
            <a:ext cx="5393520" cy="730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6" name="Rectangle 13"/>
          <p:cNvSpPr/>
          <p:nvPr/>
        </p:nvSpPr>
        <p:spPr>
          <a:xfrm>
            <a:off x="768240" y="5074920"/>
            <a:ext cx="49320" cy="7300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7" name="TextBox 14"/>
          <p:cNvSpPr/>
          <p:nvPr/>
        </p:nvSpPr>
        <p:spPr>
          <a:xfrm>
            <a:off x="1024200" y="5139720"/>
            <a:ext cx="4936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Pluginy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fast_masker (regex, 30+ typów PII) · pii_masker (transformer) · nask_guard / sojka_guard · RAG, semantic routing.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Automatyczne labelowanie — genai-classifier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99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0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JSONL bez etykiet → JSONL z polem labels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01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3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4" name="Rounded Rectangle 7"/>
          <p:cNvSpPr/>
          <p:nvPr/>
        </p:nvSpPr>
        <p:spPr>
          <a:xfrm>
            <a:off x="768240" y="1828800"/>
            <a:ext cx="5850720" cy="20286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TextBox 8"/>
          <p:cNvSpPr/>
          <p:nvPr/>
        </p:nvSpPr>
        <p:spPr>
          <a:xfrm>
            <a:off x="1703160" y="1911240"/>
            <a:ext cx="398088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--dataset-dir=resources/.../twitteremo/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--prompts-dir=.../classifier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--output-dir=.../genailabelled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--llm-router-url=http://localhost:8080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--temperature=0.0 --num-workers=2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--n-sample=0 --text-column-name=tekst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06" name="TextBox 9"/>
          <p:cNvSpPr/>
          <p:nvPr/>
        </p:nvSpPr>
        <p:spPr>
          <a:xfrm>
            <a:off x="6446520" y="1783080"/>
            <a:ext cx="49363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Jak działa: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07" name="TextBox 10"/>
          <p:cNvSpPr/>
          <p:nvPr/>
        </p:nvSpPr>
        <p:spPr>
          <a:xfrm>
            <a:off x="6446520" y="2148840"/>
            <a:ext cx="493632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buduje prompt dla każdego przykładu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wysyła do LLM przez router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parsuje wynik (klasa + confidence + reason)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batch processing, wielowątkowość, retry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08" name="Rounded Rectangle 11"/>
          <p:cNvSpPr/>
          <p:nvPr/>
        </p:nvSpPr>
        <p:spPr>
          <a:xfrm>
            <a:off x="768240" y="4343400"/>
            <a:ext cx="10651320" cy="1095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9" name="Rectangle 12"/>
          <p:cNvSpPr/>
          <p:nvPr/>
        </p:nvSpPr>
        <p:spPr>
          <a:xfrm>
            <a:off x="768240" y="4343400"/>
            <a:ext cx="49320" cy="109584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0" name="TextBox 13"/>
          <p:cNvSpPr/>
          <p:nvPr/>
        </p:nvSpPr>
        <p:spPr>
          <a:xfrm>
            <a:off x="1024200" y="4590360"/>
            <a:ext cx="101941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Koszt / czas i dobre praktyki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temperature=0.0 → determinizm i spójność etykiet · n-sample=0 → wszystkie (5k = 5k wywołań), n-sample=N do testów · num-workers ↑ = szybciej, ale większe obciążenie. Następnie konwersja do formatu treningowego (convert_genai_to_training.py).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Automatyczna augmentacja — genai-data-augmentation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12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3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wybór klasy → nowe warianty zachowujące etykietę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14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16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17" name="Rounded Rectangle 7"/>
          <p:cNvSpPr/>
          <p:nvPr/>
        </p:nvSpPr>
        <p:spPr>
          <a:xfrm>
            <a:off x="768240" y="1828800"/>
            <a:ext cx="5850720" cy="20286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8" name="TextBox 8"/>
          <p:cNvSpPr/>
          <p:nvPr/>
        </p:nvSpPr>
        <p:spPr>
          <a:xfrm>
            <a:off x="1835640" y="1911240"/>
            <a:ext cx="371556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genai-data-augmentation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--dataset-path=..._labels.jsonl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--labels=pozytywny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--prompt-file=.../augmentator.prompt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--n-sample=350 --n-examples=5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--samples-as-examples=2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19" name="TextBox 9"/>
          <p:cNvSpPr/>
          <p:nvPr/>
        </p:nvSpPr>
        <p:spPr>
          <a:xfrm>
            <a:off x="6446520" y="1783080"/>
            <a:ext cx="4936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wyniku (1 input → 5 wariantów):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20" name="Rounded Rectangle 10"/>
          <p:cNvSpPr/>
          <p:nvPr/>
        </p:nvSpPr>
        <p:spPr>
          <a:xfrm>
            <a:off x="6446520" y="2194560"/>
            <a:ext cx="4936320" cy="132912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1" name="TextBox 11"/>
          <p:cNvSpPr/>
          <p:nvPr/>
        </p:nvSpPr>
        <p:spPr>
          <a:xfrm>
            <a:off x="7734960" y="2277000"/>
            <a:ext cx="235944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"tekst": "Super sprawa!",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"labels": ["pozytywny"],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"augmented": [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"Rzeczywiście świetne!",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"Podoba mi się!", ... ]</a:t>
            </a:r>
            <a:endParaRPr b="0" lang="pl-PL" sz="1100" spc="-1" strike="noStrike">
              <a:latin typeface="Arial"/>
            </a:endParaRPr>
          </a:p>
        </p:txBody>
      </p:sp>
      <p:sp>
        <p:nvSpPr>
          <p:cNvPr id="422" name="Rounded Rectangle 12"/>
          <p:cNvSpPr/>
          <p:nvPr/>
        </p:nvSpPr>
        <p:spPr>
          <a:xfrm>
            <a:off x="768240" y="4343400"/>
            <a:ext cx="10651320" cy="1095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Rectangle 13"/>
          <p:cNvSpPr/>
          <p:nvPr/>
        </p:nvSpPr>
        <p:spPr>
          <a:xfrm>
            <a:off x="768240" y="4343400"/>
            <a:ext cx="49320" cy="1095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4" name="TextBox 14"/>
          <p:cNvSpPr/>
          <p:nvPr/>
        </p:nvSpPr>
        <p:spPr>
          <a:xfrm>
            <a:off x="1024200" y="4590360"/>
            <a:ext cx="101941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Merge i strojenie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Merge: 5000 ręcznych + ~1750 (350×5) augmentowanych ≈ 6750 przykładów. n-examples=5 to dobry balans; samples-as-examples=2–3 (in-context); temperature 0.0 dla spójności, 0.3–0.7 dla różnorodności (ryzyko poprawności).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Trening klasyfikatora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26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7" name="TextBox 3"/>
          <p:cNvSpPr/>
          <p:nvPr/>
        </p:nvSpPr>
        <p:spPr>
          <a:xfrm>
            <a:off x="768240" y="1298520"/>
            <a:ext cx="106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clarin-pl/twitteremo · 5k train / 500 valid · fine-tuning allegro/herbert-base-cased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28" name="Rectangle 4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TextBox 5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Uczenie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30" name="TextBox 6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31" name="TextBox 7"/>
          <p:cNvSpPr/>
          <p:nvPr/>
        </p:nvSpPr>
        <p:spPr>
          <a:xfrm>
            <a:off x="768240" y="1828800"/>
            <a:ext cx="53935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3 warianty (postęp pipeline'u):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2" name="Rounded Rectangle 8"/>
          <p:cNvSpPr/>
          <p:nvPr/>
        </p:nvSpPr>
        <p:spPr>
          <a:xfrm>
            <a:off x="768240" y="2240280"/>
            <a:ext cx="5393520" cy="4741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Rectangle 9"/>
          <p:cNvSpPr/>
          <p:nvPr/>
        </p:nvSpPr>
        <p:spPr>
          <a:xfrm>
            <a:off x="768240" y="2240280"/>
            <a:ext cx="49320" cy="474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4" name="TextBox 10"/>
          <p:cNvSpPr/>
          <p:nvPr/>
        </p:nvSpPr>
        <p:spPr>
          <a:xfrm>
            <a:off x="996840" y="2383200"/>
            <a:ext cx="14616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1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5" name="TextBox 11"/>
          <p:cNvSpPr/>
          <p:nvPr/>
        </p:nvSpPr>
        <p:spPr>
          <a:xfrm>
            <a:off x="2368440" y="2389680"/>
            <a:ext cx="37018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tylko dane manualne (5k) — baseline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36" name="Rounded Rectangle 12"/>
          <p:cNvSpPr/>
          <p:nvPr/>
        </p:nvSpPr>
        <p:spPr>
          <a:xfrm>
            <a:off x="768240" y="2807280"/>
            <a:ext cx="5393520" cy="4741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7" name="Rectangle 13"/>
          <p:cNvSpPr/>
          <p:nvPr/>
        </p:nvSpPr>
        <p:spPr>
          <a:xfrm>
            <a:off x="768240" y="2807280"/>
            <a:ext cx="49320" cy="47412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8" name="TextBox 14"/>
          <p:cNvSpPr/>
          <p:nvPr/>
        </p:nvSpPr>
        <p:spPr>
          <a:xfrm>
            <a:off x="996840" y="2949840"/>
            <a:ext cx="14616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2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9" name="TextBox 15"/>
          <p:cNvSpPr/>
          <p:nvPr/>
        </p:nvSpPr>
        <p:spPr>
          <a:xfrm>
            <a:off x="2368440" y="2956680"/>
            <a:ext cx="37018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(~1.7k, klasa pozytywny)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40" name="Rounded Rectangle 16"/>
          <p:cNvSpPr/>
          <p:nvPr/>
        </p:nvSpPr>
        <p:spPr>
          <a:xfrm>
            <a:off x="768240" y="3374280"/>
            <a:ext cx="5393520" cy="4741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1" name="Rectangle 17"/>
          <p:cNvSpPr/>
          <p:nvPr/>
        </p:nvSpPr>
        <p:spPr>
          <a:xfrm>
            <a:off x="768240" y="3374280"/>
            <a:ext cx="49320" cy="47412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2" name="TextBox 18"/>
          <p:cNvSpPr/>
          <p:nvPr/>
        </p:nvSpPr>
        <p:spPr>
          <a:xfrm>
            <a:off x="996840" y="3516840"/>
            <a:ext cx="14616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3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43" name="TextBox 19"/>
          <p:cNvSpPr/>
          <p:nvPr/>
        </p:nvSpPr>
        <p:spPr>
          <a:xfrm>
            <a:off x="2368440" y="3523680"/>
            <a:ext cx="37018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+ HIL/AL (dump z Web App)</a:t>
            </a:r>
            <a:endParaRPr b="0" lang="pl-PL" sz="1150" spc="-1" strike="noStrike">
              <a:latin typeface="Arial"/>
            </a:endParaRPr>
          </a:p>
        </p:txBody>
      </p:sp>
      <p:graphicFrame>
        <p:nvGraphicFramePr>
          <p:cNvPr id="444" name="Table 20"/>
          <p:cNvGraphicFramePr/>
          <p:nvPr/>
        </p:nvGraphicFramePr>
        <p:xfrm>
          <a:off x="6446520" y="1828800"/>
          <a:ext cx="4937400" cy="292572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</a:tblGrid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Parametr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Wartość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Epoki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size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 (eff. 64, grad-accum 2)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Learning rate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3e-6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Max length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128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Scheduler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cosine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Seed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Logowanie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W&amp;B (acc, F1, conf. matrix)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5" name="Rounded Rectangle 21"/>
          <p:cNvSpPr/>
          <p:nvPr/>
        </p:nvSpPr>
        <p:spPr>
          <a:xfrm>
            <a:off x="768240" y="4434840"/>
            <a:ext cx="5393520" cy="10044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6" name="Rectangle 22"/>
          <p:cNvSpPr/>
          <p:nvPr/>
        </p:nvSpPr>
        <p:spPr>
          <a:xfrm>
            <a:off x="768240" y="4434840"/>
            <a:ext cx="49320" cy="100440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7" name="TextBox 23"/>
          <p:cNvSpPr/>
          <p:nvPr/>
        </p:nvSpPr>
        <p:spPr>
          <a:xfrm>
            <a:off x="1024200" y="4636080"/>
            <a:ext cx="4936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wybór etykiety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Dump z Web App: brak anotacji → predykcja modelu; 1 ręczna → użyta; &gt;1 → majority voting; remis → tie-breaker predykcją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TextBox 1"/>
          <p:cNvSpPr/>
          <p:nvPr/>
        </p:nvSpPr>
        <p:spPr>
          <a:xfrm>
            <a:off x="768240" y="2240280"/>
            <a:ext cx="182736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04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449" name="Rectangle 2"/>
          <p:cNvSpPr/>
          <p:nvPr/>
        </p:nvSpPr>
        <p:spPr>
          <a:xfrm>
            <a:off x="768240" y="3246120"/>
            <a:ext cx="1827360" cy="493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0" name="TextBox 3"/>
          <p:cNvSpPr/>
          <p:nvPr/>
        </p:nvSpPr>
        <p:spPr>
          <a:xfrm>
            <a:off x="768240" y="3429000"/>
            <a:ext cx="104227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Podsumowanie i wnioski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451" name="TextBox 4"/>
          <p:cNvSpPr/>
          <p:nvPr/>
        </p:nvSpPr>
        <p:spPr>
          <a:xfrm>
            <a:off x="768240" y="4754880"/>
            <a:ext cx="73137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~6 min · ocena modelu i kierunki dalsze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Co zbudowaliśmy — kompletny pipeline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53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4" name="Rectangle 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5" name="TextBox 4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6" name="TextBox 5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7" name="TextBox 6"/>
          <p:cNvSpPr/>
          <p:nvPr/>
        </p:nvSpPr>
        <p:spPr>
          <a:xfrm>
            <a:off x="768240" y="1417320"/>
            <a:ext cx="5576400" cy="23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Przygotowanie datasetu (twitteremo 5k/500)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LLM (genai-classifier)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danych (~1.7k, klasa pozytywny)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Merge: 5k manual + ~1.7k augment ≈ 6.7k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Trening 3 wariantów (allegro/herbert-base-cased)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Web App: ocena + anotacja (Flask + SQLite)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HITL/AL: poprawki wracają do treningu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458" name="TextBox 7"/>
          <p:cNvSpPr/>
          <p:nvPr/>
        </p:nvSpPr>
        <p:spPr>
          <a:xfrm>
            <a:off x="6583680" y="1371600"/>
            <a:ext cx="48448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Ocena po HIL/AL — Weights &amp; Biases: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59" name="TextBox 8"/>
          <p:cNvSpPr/>
          <p:nvPr/>
        </p:nvSpPr>
        <p:spPr>
          <a:xfrm>
            <a:off x="6583680" y="1783080"/>
            <a:ext cx="484488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Accuracy i Macro F1 (czułe na imbalance)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Confusion matrix — które klasy są mylone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porównanie 3 wariantów 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dane z Web App: czy jest poprawa?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60" name="Rounded Rectangle 9"/>
          <p:cNvSpPr/>
          <p:nvPr/>
        </p:nvSpPr>
        <p:spPr>
          <a:xfrm>
            <a:off x="6583680" y="4069080"/>
            <a:ext cx="4844880" cy="8672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Rectangle 10"/>
          <p:cNvSpPr/>
          <p:nvPr/>
        </p:nvSpPr>
        <p:spPr>
          <a:xfrm>
            <a:off x="6583680" y="4069080"/>
            <a:ext cx="49320" cy="8672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2" name="TextBox 11"/>
          <p:cNvSpPr/>
          <p:nvPr/>
        </p:nvSpPr>
        <p:spPr>
          <a:xfrm>
            <a:off x="6839640" y="4305600"/>
            <a:ext cx="438768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Anotacja w real-time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Anotacja na żywo: dss2026.radlab.dev + Weights &amp; Biases.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TextBox 1"/>
          <p:cNvSpPr/>
          <p:nvPr/>
        </p:nvSpPr>
        <p:spPr>
          <a:xfrm>
            <a:off x="768240" y="420480"/>
            <a:ext cx="106056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Wnioski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64" name="Rectangle 2"/>
          <p:cNvSpPr/>
          <p:nvPr/>
        </p:nvSpPr>
        <p:spPr>
          <a:xfrm>
            <a:off x="768240" y="1170360"/>
            <a:ext cx="1370160" cy="42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5" name="Rectangle 3"/>
          <p:cNvSpPr/>
          <p:nvPr/>
        </p:nvSpPr>
        <p:spPr>
          <a:xfrm>
            <a:off x="0" y="6437520"/>
            <a:ext cx="12190320" cy="1368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TextBox 4"/>
          <p:cNvSpPr/>
          <p:nvPr/>
        </p:nvSpPr>
        <p:spPr>
          <a:xfrm>
            <a:off x="768240" y="6473880"/>
            <a:ext cx="82281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67" name="TextBox 5"/>
          <p:cNvSpPr/>
          <p:nvPr/>
        </p:nvSpPr>
        <p:spPr>
          <a:xfrm>
            <a:off x="10607040" y="6473880"/>
            <a:ext cx="82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68" name="Rounded Rectangle 6"/>
          <p:cNvSpPr/>
          <p:nvPr/>
        </p:nvSpPr>
        <p:spPr>
          <a:xfrm>
            <a:off x="768240" y="1417320"/>
            <a:ext cx="3427560" cy="36561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9" name="Rounded Rectangle 7"/>
          <p:cNvSpPr/>
          <p:nvPr/>
        </p:nvSpPr>
        <p:spPr>
          <a:xfrm>
            <a:off x="768240" y="1417320"/>
            <a:ext cx="3427560" cy="501480"/>
          </a:xfrm>
          <a:prstGeom prst="roundRect">
            <a:avLst>
              <a:gd name="adj" fmla="val 16667"/>
            </a:avLst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0" name="TextBox 8"/>
          <p:cNvSpPr/>
          <p:nvPr/>
        </p:nvSpPr>
        <p:spPr>
          <a:xfrm>
            <a:off x="768240" y="1490400"/>
            <a:ext cx="3427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zadziałało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1" name="TextBox 9"/>
          <p:cNvSpPr/>
          <p:nvPr/>
        </p:nvSpPr>
        <p:spPr>
          <a:xfrm>
            <a:off x="996840" y="2103120"/>
            <a:ext cx="301608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auto-labelowanie ~10×+ szybciej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↑ recall klasy pozytywny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Web App — szybki wgląd w błędy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najtrudniejsze przykłady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2" name="Rounded Rectangle 10"/>
          <p:cNvSpPr/>
          <p:nvPr/>
        </p:nvSpPr>
        <p:spPr>
          <a:xfrm>
            <a:off x="4380120" y="1417320"/>
            <a:ext cx="3427560" cy="36561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3" name="Rounded Rectangle 11"/>
          <p:cNvSpPr/>
          <p:nvPr/>
        </p:nvSpPr>
        <p:spPr>
          <a:xfrm>
            <a:off x="4380120" y="1417320"/>
            <a:ext cx="3427560" cy="501480"/>
          </a:xfrm>
          <a:prstGeom prst="roundRect">
            <a:avLst>
              <a:gd name="adj" fmla="val 16667"/>
            </a:avLst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4" name="TextBox 12"/>
          <p:cNvSpPr/>
          <p:nvPr/>
        </p:nvSpPr>
        <p:spPr>
          <a:xfrm>
            <a:off x="4380120" y="1490400"/>
            <a:ext cx="3427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Na co uważać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5" name="TextBox 13"/>
          <p:cNvSpPr/>
          <p:nvPr/>
        </p:nvSpPr>
        <p:spPr>
          <a:xfrm>
            <a:off x="4608720" y="2103120"/>
            <a:ext cx="301608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bez HIL może szkodzić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temperatura &gt;0 ryzykuje poprawność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tylko jedna klasa augmentowana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LLM może powielać bias danych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6" name="Rounded Rectangle 14"/>
          <p:cNvSpPr/>
          <p:nvPr/>
        </p:nvSpPr>
        <p:spPr>
          <a:xfrm>
            <a:off x="7992000" y="1417320"/>
            <a:ext cx="3427560" cy="36561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7" name="Rounded Rectangle 15"/>
          <p:cNvSpPr/>
          <p:nvPr/>
        </p:nvSpPr>
        <p:spPr>
          <a:xfrm>
            <a:off x="7992000" y="1417320"/>
            <a:ext cx="3427560" cy="50148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8" name="TextBox 16"/>
          <p:cNvSpPr/>
          <p:nvPr/>
        </p:nvSpPr>
        <p:spPr>
          <a:xfrm>
            <a:off x="7992000" y="1490400"/>
            <a:ext cx="3427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dalej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9" name="TextBox 17"/>
          <p:cNvSpPr/>
          <p:nvPr/>
        </p:nvSpPr>
        <p:spPr>
          <a:xfrm>
            <a:off x="8220600" y="2103120"/>
            <a:ext cx="301608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wszystkich klas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multi-model routing zadaniowy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pipeline CI/CD dla datasetów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na strumieniu (online)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80" name="Rounded Rectangle 18"/>
          <p:cNvSpPr/>
          <p:nvPr/>
        </p:nvSpPr>
        <p:spPr>
          <a:xfrm>
            <a:off x="768240" y="5212080"/>
            <a:ext cx="10651320" cy="5014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1" name="Rectangle 19"/>
          <p:cNvSpPr/>
          <p:nvPr/>
        </p:nvSpPr>
        <p:spPr>
          <a:xfrm>
            <a:off x="768240" y="5212080"/>
            <a:ext cx="49320" cy="5014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2" name="TextBox 20"/>
          <p:cNvSpPr/>
          <p:nvPr/>
        </p:nvSpPr>
        <p:spPr>
          <a:xfrm>
            <a:off x="1024200" y="5377320"/>
            <a:ext cx="10194120" cy="2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Kontrolowana augmentacja + Active Learning + Human in the Loop = bezpieczniejsza droga do lepszego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1"/>
          <p:cNvSpPr/>
          <p:nvPr/>
        </p:nvSpPr>
        <p:spPr>
          <a:xfrm>
            <a:off x="0" y="2606040"/>
            <a:ext cx="1827360" cy="619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TextBox 2"/>
          <p:cNvSpPr/>
          <p:nvPr/>
        </p:nvSpPr>
        <p:spPr>
          <a:xfrm>
            <a:off x="768240" y="2788920"/>
            <a:ext cx="104227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Play"/>
                <a:ea typeface="DejaVu Sans"/>
              </a:rPr>
              <a:t>Dziękujemy za uwagę!</a:t>
            </a:r>
            <a:endParaRPr b="0" lang="pl-PL" sz="5400" spc="-1" strike="noStrike">
              <a:latin typeface="Arial"/>
            </a:endParaRPr>
          </a:p>
        </p:txBody>
      </p:sp>
      <p:sp>
        <p:nvSpPr>
          <p:cNvPr id="485" name="TextBox 3"/>
          <p:cNvSpPr/>
          <p:nvPr/>
        </p:nvSpPr>
        <p:spPr>
          <a:xfrm>
            <a:off x="768240" y="3977640"/>
            <a:ext cx="100569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c9e9f5"/>
                </a:solidFill>
                <a:latin typeface="Arial"/>
                <a:ea typeface="DejaVu Sans"/>
              </a:rPr>
              <a:t>Pytania i dyskusja.</a:t>
            </a:r>
            <a:endParaRPr b="0" lang="pl-PL" sz="2000" spc="-1" strike="noStrike">
              <a:latin typeface="Arial"/>
            </a:endParaRPr>
          </a:p>
        </p:txBody>
      </p:sp>
      <p:sp>
        <p:nvSpPr>
          <p:cNvPr id="486" name="TextBox 4"/>
          <p:cNvSpPr/>
          <p:nvPr/>
        </p:nvSpPr>
        <p:spPr>
          <a:xfrm>
            <a:off x="768240" y="4754880"/>
            <a:ext cx="10056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befe"/>
                </a:solidFill>
                <a:latin typeface="Arial"/>
                <a:ea typeface="DejaVu Sans"/>
              </a:rPr>
              <a:t>https://dss2026.radlab.dev/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87" name="TextBox 5"/>
          <p:cNvSpPr/>
          <p:nvPr/>
        </p:nvSpPr>
        <p:spPr>
          <a:xfrm>
            <a:off x="768240" y="5852160"/>
            <a:ext cx="73137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Radlab Developer Services · DSS 2026 AI Edition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488" name="" descr=""/>
          <p:cNvPicPr/>
          <p:nvPr/>
        </p:nvPicPr>
        <p:blipFill>
          <a:blip r:embed="rId1"/>
          <a:stretch/>
        </p:blipFill>
        <p:spPr>
          <a:xfrm>
            <a:off x="11016000" y="6170400"/>
            <a:ext cx="1062000" cy="59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pl-PL</dc:language>
  <cp:lastModifiedBy/>
  <dcterms:modified xsi:type="dcterms:W3CDTF">2026-06-18T06:03:09Z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