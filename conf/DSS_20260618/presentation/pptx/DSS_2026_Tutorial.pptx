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jpeg" ContentType="image/jpe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08A48AB-49C2-4EF4-9205-285ABE353E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E0D67F-6511-4541-AED3-0126228C56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8DD97BE-136D-46AC-AC75-597715FA20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CB3522-3A0B-4A78-A428-37C59F7683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DAC0665-A284-4736-8B76-A9EBB3F49B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C726A4-B8E2-4692-9613-5481B6FBDA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A9B6356-1743-4746-A9DB-9F0627FCF2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4CD813-3E83-44ED-BF92-0072C7CFC3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8C2FED-FDDA-4A1C-BFCE-84975EFE48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835A57-1CD6-45CB-8EA1-815DDB801BE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72863F2-2F4B-430F-92FD-FDAA70699F0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91D7A9-125E-4EA6-987F-69A577014B0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&lt;data/godzina&gt;</a:t>
            </a:r>
            <a:endParaRPr b="0" lang="pl-PL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pl-PL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pl-PL" sz="1400" spc="-1" strike="noStrike">
                <a:latin typeface="Times New Roman"/>
              </a:rPr>
              <a:t>&lt;stopka&gt;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7BA4D12-46DE-48D0-9D6D-4853F86050B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&lt;numer&gt;</a:t>
            </a:fld>
            <a:endParaRPr b="0" lang="pl-PL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Kliknij, aby edytować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format tekstu tytułu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Kliknij, aby edytować format tekstu konspektu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Drugi poziom konspektu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Trzeci poziom konspektu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Czwarty poziom konspektu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Piąty poziom konspektu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Szósty poziom konspektu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Siódmy poziom konspektu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helpi-tos.radlab.dev/" TargetMode="Externa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331720"/>
            <a:ext cx="1828440" cy="630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768240" y="868680"/>
            <a:ext cx="2285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</a:rPr>
              <a:t>DSS 2026  ·  AI EDITION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68240" y="2514600"/>
            <a:ext cx="10423800" cy="14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</a:rPr>
              <a:t>Augmentacja danych z LLM,</a:t>
            </a:r>
            <a:endParaRPr b="0" lang="pl-PL" sz="46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</a:rPr>
              <a:t>HITL i Active Learning</a:t>
            </a:r>
            <a:endParaRPr b="0" lang="pl-PL" sz="4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68240" y="4343400"/>
            <a:ext cx="1005804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</a:rPr>
              <a:t>Od teorii do praktyki — kompletny proces wytwarzania modeli klasyfikacyjnych z wykorzystaniem lokalnych modeli generatywnych.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68240" y="5623560"/>
            <a:ext cx="73148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Radlab Developer Services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768240" y="5989320"/>
            <a:ext cx="10058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Tutorial · ~60 min prezentacji + sesja pytań · interaktywna sesja anotacyjna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Agenda tutorialu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Agenda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2" name="Rounded Rectangle 6"/>
          <p:cNvSpPr/>
          <p:nvPr/>
        </p:nvSpPr>
        <p:spPr>
          <a:xfrm>
            <a:off x="768240" y="1417320"/>
            <a:ext cx="10606680" cy="785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Oval 7"/>
          <p:cNvSpPr/>
          <p:nvPr/>
        </p:nvSpPr>
        <p:spPr>
          <a:xfrm>
            <a:off x="951120" y="1581840"/>
            <a:ext cx="456840" cy="4568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951120" y="1668240"/>
            <a:ext cx="456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</a:rPr>
              <a:t>1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636920" y="1508760"/>
            <a:ext cx="64004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Wstęp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636920" y="1837800"/>
            <a:ext cx="7772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</a:rPr>
              <a:t>Czego dotyczy tutorial i jaka korzyść dla uczestników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9546480" y="170316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</a:rPr>
              <a:t>~2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58" name="Rounded Rectangle 12"/>
          <p:cNvSpPr/>
          <p:nvPr/>
        </p:nvSpPr>
        <p:spPr>
          <a:xfrm>
            <a:off x="768240" y="2350080"/>
            <a:ext cx="10606680" cy="785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Oval 13"/>
          <p:cNvSpPr/>
          <p:nvPr/>
        </p:nvSpPr>
        <p:spPr>
          <a:xfrm>
            <a:off x="951120" y="2514600"/>
            <a:ext cx="456840" cy="45684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14"/>
          <p:cNvSpPr/>
          <p:nvPr/>
        </p:nvSpPr>
        <p:spPr>
          <a:xfrm>
            <a:off x="951120" y="2601000"/>
            <a:ext cx="456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</a:rPr>
              <a:t>2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1636920" y="2441520"/>
            <a:ext cx="64004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Część teoretyczno-praktyczna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1636920" y="2770560"/>
            <a:ext cx="7772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</a:rPr>
              <a:t>Augmentacja, labelowanie, klasyfikacja vs generowanie, HITL + AL, pętla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546480" y="263592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</a:rPr>
              <a:t>~25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64" name="Rounded Rectangle 18"/>
          <p:cNvSpPr/>
          <p:nvPr/>
        </p:nvSpPr>
        <p:spPr>
          <a:xfrm>
            <a:off x="768240" y="3282840"/>
            <a:ext cx="10606680" cy="785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Oval 19"/>
          <p:cNvSpPr/>
          <p:nvPr/>
        </p:nvSpPr>
        <p:spPr>
          <a:xfrm>
            <a:off x="951120" y="3447360"/>
            <a:ext cx="456840" cy="4568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TextBox 20"/>
          <p:cNvSpPr/>
          <p:nvPr/>
        </p:nvSpPr>
        <p:spPr>
          <a:xfrm>
            <a:off x="951120" y="3533760"/>
            <a:ext cx="456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</a:rPr>
              <a:t>★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7" name="TextBox 21"/>
          <p:cNvSpPr/>
          <p:nvPr/>
        </p:nvSpPr>
        <p:spPr>
          <a:xfrm>
            <a:off x="1636920" y="3374280"/>
            <a:ext cx="64004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Anotacja na żywo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8" name="TextBox 22"/>
          <p:cNvSpPr/>
          <p:nvPr/>
        </p:nvSpPr>
        <p:spPr>
          <a:xfrm>
            <a:off x="1636920" y="3703320"/>
            <a:ext cx="7772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</a:rPr>
              <a:t>Interaktywna sesja: dss2026.radlab.dev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9546480" y="356868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</a:rPr>
              <a:t>~5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0" name="Rounded Rectangle 24"/>
          <p:cNvSpPr/>
          <p:nvPr/>
        </p:nvSpPr>
        <p:spPr>
          <a:xfrm>
            <a:off x="768240" y="4215240"/>
            <a:ext cx="10606680" cy="785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Oval 25"/>
          <p:cNvSpPr/>
          <p:nvPr/>
        </p:nvSpPr>
        <p:spPr>
          <a:xfrm>
            <a:off x="951120" y="4380120"/>
            <a:ext cx="456840" cy="45684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TextBox 26"/>
          <p:cNvSpPr/>
          <p:nvPr/>
        </p:nvSpPr>
        <p:spPr>
          <a:xfrm>
            <a:off x="951120" y="4466160"/>
            <a:ext cx="456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</a:rPr>
              <a:t>3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3" name="TextBox 27"/>
          <p:cNvSpPr/>
          <p:nvPr/>
        </p:nvSpPr>
        <p:spPr>
          <a:xfrm>
            <a:off x="1636920" y="4306680"/>
            <a:ext cx="64004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Część techniczna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1636920" y="4636080"/>
            <a:ext cx="7772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</a:rPr>
              <a:t>Sprzęt, vendorzy, LLM Router, labelowanie i augmentacja narzędziami, trening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9546480" y="450108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</a:rPr>
              <a:t>~22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6" name="Rounded Rectangle 30"/>
          <p:cNvSpPr/>
          <p:nvPr/>
        </p:nvSpPr>
        <p:spPr>
          <a:xfrm>
            <a:off x="768240" y="5148000"/>
            <a:ext cx="10606680" cy="785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31"/>
          <p:cNvSpPr/>
          <p:nvPr/>
        </p:nvSpPr>
        <p:spPr>
          <a:xfrm>
            <a:off x="951120" y="5312520"/>
            <a:ext cx="456840" cy="4568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32"/>
          <p:cNvSpPr/>
          <p:nvPr/>
        </p:nvSpPr>
        <p:spPr>
          <a:xfrm>
            <a:off x="951120" y="5398920"/>
            <a:ext cx="456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</a:rPr>
              <a:t>4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636920" y="5239440"/>
            <a:ext cx="64004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Podsumowanie i wnioski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80" name="TextBox 34"/>
          <p:cNvSpPr/>
          <p:nvPr/>
        </p:nvSpPr>
        <p:spPr>
          <a:xfrm>
            <a:off x="1636920" y="5568840"/>
            <a:ext cx="7772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</a:rPr>
              <a:t>Ocena modelu w W&amp;B, wnioski i kierunki dalsze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81" name="TextBox 35"/>
          <p:cNvSpPr/>
          <p:nvPr/>
        </p:nvSpPr>
        <p:spPr>
          <a:xfrm>
            <a:off x="9546480" y="5433840"/>
            <a:ext cx="1737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</a:rPr>
              <a:t>~6 min</a:t>
            </a:r>
            <a:endParaRPr b="0" lang="pl-PL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Po co ten tutorial?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Wstęp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768240" y="1417320"/>
            <a:ext cx="10606680" cy="6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Zaprezentujemy proces kontrolowanej augmentacji danych — od podstawowych pojęć po kompletny pipeline z udziałem człowieka w pętli (HITL) i Active Learningu (AL).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68240" y="2423160"/>
            <a:ext cx="548604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Labelowanie — człowiek vs LLM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Augmentacja — nowe przykłady treningowe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Klasyfikacja — modele decyzyjne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Generowanie — LLM tworzy dane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</a:rPr>
              <a:t>HITL + AL — człowiek w pętli uczenia aktywnego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6583680" y="2423160"/>
            <a:ext cx="4845960" cy="2377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9"/>
          <p:cNvSpPr/>
          <p:nvPr/>
        </p:nvSpPr>
        <p:spPr>
          <a:xfrm>
            <a:off x="6583680" y="2423160"/>
            <a:ext cx="50400" cy="237708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TextBox 10"/>
          <p:cNvSpPr/>
          <p:nvPr/>
        </p:nvSpPr>
        <p:spPr>
          <a:xfrm>
            <a:off x="6839640" y="3206160"/>
            <a:ext cx="4388760" cy="84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Cel i korzyść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Skrócenie czasu wytwarzania modeli klasyfikacyjnych oraz wsparcie w sytuacjach, gdy trudno zorganizować reprezentatywny zespół anotatorów.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6583680" y="4983480"/>
            <a:ext cx="4845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6b6478"/>
                </a:solidFill>
                <a:latin typeface="Arial"/>
              </a:rPr>
              <a:t>W trakcie: 5-minutowa sesja anotacyjna z udziałem uczestników.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68240" y="2240280"/>
            <a:ext cx="18284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</a:rPr>
              <a:t>01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68240" y="3246120"/>
            <a:ext cx="1828440" cy="50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3"/>
          <p:cNvSpPr/>
          <p:nvPr/>
        </p:nvSpPr>
        <p:spPr>
          <a:xfrm>
            <a:off x="768240" y="3429000"/>
            <a:ext cx="104238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</a:rPr>
              <a:t>Część teoretyczno-praktyczna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768240" y="4754880"/>
            <a:ext cx="73148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</a:rPr>
              <a:t>~25 min · podstawy pojęciowe i metoda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Augmentacja danych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Tworzenie nowych przykładów treningowych na bazie istniejącego zbioru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0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1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768240" y="1828800"/>
            <a:ext cx="51202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</a:rPr>
              <a:t>Dobra augmentacja zapewnia, że przykłady: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768240" y="2286000"/>
            <a:ext cx="530316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są zgodne z problemem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zachowują poprawną etykietę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zwiększają różnorodność zbioru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pomagają modelowi generalizować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uzupełniają klasy słabo reprezentowane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6400800" y="1828800"/>
            <a:ext cx="50288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</a:rPr>
              <a:t>Metody dla tekstu: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6400800" y="2286000"/>
            <a:ext cx="502884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parafrazowanie przykładów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zmiana stylu / długości wypowiedzi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warianty formalne i nieformalne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literówki, slang, język potoczny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</a:rPr>
              <a:t>przykłady rzadkie i graniczne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768240" y="5074920"/>
            <a:ext cx="10652400" cy="868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Rectangle 12"/>
          <p:cNvSpPr/>
          <p:nvPr/>
        </p:nvSpPr>
        <p:spPr>
          <a:xfrm>
            <a:off x="768240" y="5074920"/>
            <a:ext cx="50400" cy="868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3"/>
          <p:cNvSpPr/>
          <p:nvPr/>
        </p:nvSpPr>
        <p:spPr>
          <a:xfrm>
            <a:off x="1024200" y="5311440"/>
            <a:ext cx="101952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Przykład (etykieta zachowana)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Chcę zwrócić produkt…” [zwrot]  →  „Jak odesłać towar?” · „Czy da się zrobić zwrot?” — wszystkie warianty pozostają w tej samej klasie.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Labelowanie danych z wykorzystaniem LLM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11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Przypisywanie etykiet przykładom — klasyczne (człowiek) vs wspierane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3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16" name="TextBox 7"/>
          <p:cNvSpPr/>
          <p:nvPr/>
        </p:nvSpPr>
        <p:spPr>
          <a:xfrm>
            <a:off x="768240" y="1828800"/>
            <a:ext cx="53031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</a:rPr>
              <a:t>Szczególnie przydatne, gdy: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7" name="TextBox 8"/>
          <p:cNvSpPr/>
          <p:nvPr/>
        </p:nvSpPr>
        <p:spPr>
          <a:xfrm>
            <a:off x="768240" y="2286000"/>
            <a:ext cx="539460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mamy dużo nieoznaczonych danych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chcemy szybko pierwszy zbiór treningowy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potrzebne wstępne etykiety do eksperymentów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chcemy ograniczyć koszt ręcznej anotacji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klasy da się jasno zdefiniować w promptach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8" name="Rounded Rectangle 9"/>
          <p:cNvSpPr/>
          <p:nvPr/>
        </p:nvSpPr>
        <p:spPr>
          <a:xfrm>
            <a:off x="6400800" y="1828800"/>
            <a:ext cx="5028840" cy="1554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Rectangle 10"/>
          <p:cNvSpPr/>
          <p:nvPr/>
        </p:nvSpPr>
        <p:spPr>
          <a:xfrm>
            <a:off x="6400800" y="1828800"/>
            <a:ext cx="50400" cy="155412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11"/>
          <p:cNvSpPr/>
          <p:nvPr/>
        </p:nvSpPr>
        <p:spPr>
          <a:xfrm>
            <a:off x="6656760" y="230436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⚠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Uwaga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Etykiety LLM to tylko propozycje. Model myli się przy ironii, niejednoznaczności, braku kontekstu i slangu.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21" name="Rounded Rectangle 12"/>
          <p:cNvSpPr/>
          <p:nvPr/>
        </p:nvSpPr>
        <p:spPr>
          <a:xfrm>
            <a:off x="6400800" y="3566160"/>
            <a:ext cx="5028840" cy="1508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2" name="Rectangle 13"/>
          <p:cNvSpPr/>
          <p:nvPr/>
        </p:nvSpPr>
        <p:spPr>
          <a:xfrm>
            <a:off x="6400800" y="3566160"/>
            <a:ext cx="50400" cy="150840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14"/>
          <p:cNvSpPr/>
          <p:nvPr/>
        </p:nvSpPr>
        <p:spPr>
          <a:xfrm>
            <a:off x="6656760" y="3915000"/>
            <a:ext cx="4571640" cy="84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Zasada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LLM nie zastępuje człowieka — przyspiesza etykietowanie. Człowiek kontroluje jakość, poprawia błędy i rozstrzyga trudne przypadki.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Klasyfikacja vs generowanie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25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Modele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9" name="Rounded Rectangle 6"/>
          <p:cNvSpPr/>
          <p:nvPr/>
        </p:nvSpPr>
        <p:spPr>
          <a:xfrm>
            <a:off x="768240" y="1417320"/>
            <a:ext cx="5257440" cy="356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b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ounded Rectangle 7"/>
          <p:cNvSpPr/>
          <p:nvPr/>
        </p:nvSpPr>
        <p:spPr>
          <a:xfrm>
            <a:off x="768240" y="1417320"/>
            <a:ext cx="5257440" cy="54828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8"/>
          <p:cNvSpPr/>
          <p:nvPr/>
        </p:nvSpPr>
        <p:spPr>
          <a:xfrm>
            <a:off x="768240" y="1472040"/>
            <a:ext cx="5257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MODEL KLASYFIKACYJNY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2" name="TextBox 9"/>
          <p:cNvSpPr/>
          <p:nvPr/>
        </p:nvSpPr>
        <p:spPr>
          <a:xfrm>
            <a:off x="996840" y="214884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3" name="TextBox 10"/>
          <p:cNvSpPr/>
          <p:nvPr/>
        </p:nvSpPr>
        <p:spPr>
          <a:xfrm>
            <a:off x="2368440" y="214884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„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Nie mogę zalogować się do konta”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4" name="TextBox 11"/>
          <p:cNvSpPr/>
          <p:nvPr/>
        </p:nvSpPr>
        <p:spPr>
          <a:xfrm>
            <a:off x="996840" y="267912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5" name="TextBox 12"/>
          <p:cNvSpPr/>
          <p:nvPr/>
        </p:nvSpPr>
        <p:spPr>
          <a:xfrm>
            <a:off x="2368440" y="267912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klasa: problem_logowania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6" name="TextBox 13"/>
          <p:cNvSpPr/>
          <p:nvPr/>
        </p:nvSpPr>
        <p:spPr>
          <a:xfrm>
            <a:off x="996840" y="320940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Dodatkowo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7" name="TextBox 14"/>
          <p:cNvSpPr/>
          <p:nvPr/>
        </p:nvSpPr>
        <p:spPr>
          <a:xfrm>
            <a:off x="2368440" y="320940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prawdopodobieństwa klas + thresholdy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996840" y="374004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9" name="TextBox 16"/>
          <p:cNvSpPr/>
          <p:nvPr/>
        </p:nvSpPr>
        <p:spPr>
          <a:xfrm>
            <a:off x="2368440" y="374004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Do której kategorii należy przykład?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0" name="TextBox 17"/>
          <p:cNvSpPr/>
          <p:nvPr/>
        </p:nvSpPr>
        <p:spPr>
          <a:xfrm>
            <a:off x="996840" y="427032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Zalety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1" name="TextBox 18"/>
          <p:cNvSpPr/>
          <p:nvPr/>
        </p:nvSpPr>
        <p:spPr>
          <a:xfrm>
            <a:off x="2368440" y="427032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szybki, tani, łatwy do wdrożenia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2" name="Rounded Rectangle 19"/>
          <p:cNvSpPr/>
          <p:nvPr/>
        </p:nvSpPr>
        <p:spPr>
          <a:xfrm>
            <a:off x="6400800" y="1417320"/>
            <a:ext cx="5257440" cy="356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b19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ounded Rectangle 20"/>
          <p:cNvSpPr/>
          <p:nvPr/>
        </p:nvSpPr>
        <p:spPr>
          <a:xfrm>
            <a:off x="6400800" y="1417320"/>
            <a:ext cx="5257440" cy="54828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21"/>
          <p:cNvSpPr/>
          <p:nvPr/>
        </p:nvSpPr>
        <p:spPr>
          <a:xfrm>
            <a:off x="6400800" y="1472040"/>
            <a:ext cx="5257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MODEL GENERATYWNY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45" name="TextBox 22"/>
          <p:cNvSpPr/>
          <p:nvPr/>
        </p:nvSpPr>
        <p:spPr>
          <a:xfrm>
            <a:off x="6629400" y="214884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6" name="TextBox 23"/>
          <p:cNvSpPr/>
          <p:nvPr/>
        </p:nvSpPr>
        <p:spPr>
          <a:xfrm>
            <a:off x="8001000" y="214884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prompt: „Wygeneruj alternatywy zdania”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7" name="TextBox 24"/>
          <p:cNvSpPr/>
          <p:nvPr/>
        </p:nvSpPr>
        <p:spPr>
          <a:xfrm>
            <a:off x="6629400" y="267912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8" name="TextBox 25"/>
          <p:cNvSpPr/>
          <p:nvPr/>
        </p:nvSpPr>
        <p:spPr>
          <a:xfrm>
            <a:off x="8001000" y="267912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nowe teksty (warianty)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9" name="TextBox 26"/>
          <p:cNvSpPr/>
          <p:nvPr/>
        </p:nvSpPr>
        <p:spPr>
          <a:xfrm>
            <a:off x="6629400" y="320940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Rola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0" name="TextBox 27"/>
          <p:cNvSpPr/>
          <p:nvPr/>
        </p:nvSpPr>
        <p:spPr>
          <a:xfrm>
            <a:off x="8001000" y="320940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pomocnicza — przygotowuje dane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1" name="TextBox 28"/>
          <p:cNvSpPr/>
          <p:nvPr/>
        </p:nvSpPr>
        <p:spPr>
          <a:xfrm>
            <a:off x="6629400" y="374004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2" name="TextBox 29"/>
          <p:cNvSpPr/>
          <p:nvPr/>
        </p:nvSpPr>
        <p:spPr>
          <a:xfrm>
            <a:off x="8001000" y="374004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Co można wygenerować z kontekstu?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3" name="TextBox 30"/>
          <p:cNvSpPr/>
          <p:nvPr/>
        </p:nvSpPr>
        <p:spPr>
          <a:xfrm>
            <a:off x="6629400" y="4270320"/>
            <a:ext cx="14169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</a:rPr>
              <a:t>Uwaga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4" name="TextBox 31"/>
          <p:cNvSpPr/>
          <p:nvPr/>
        </p:nvSpPr>
        <p:spPr>
          <a:xfrm>
            <a:off x="8001000" y="4270320"/>
            <a:ext cx="3474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nie jest modelem docelowym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5" name="Rounded Rectangle 32"/>
          <p:cNvSpPr/>
          <p:nvPr/>
        </p:nvSpPr>
        <p:spPr>
          <a:xfrm>
            <a:off x="768240" y="5120640"/>
            <a:ext cx="10652400" cy="594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Rectangle 33"/>
          <p:cNvSpPr/>
          <p:nvPr/>
        </p:nvSpPr>
        <p:spPr>
          <a:xfrm>
            <a:off x="768240" y="5120640"/>
            <a:ext cx="50400" cy="5940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34"/>
          <p:cNvSpPr/>
          <p:nvPr/>
        </p:nvSpPr>
        <p:spPr>
          <a:xfrm>
            <a:off x="1024200" y="5331600"/>
            <a:ext cx="1019520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LLM generatywny przygotowuje dane → model klasyfikacyjny uczy się na nich podejmować decyzje.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Active Learning (AL)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Pętla zwrotna: zamiast losowo, wybieramy najbardziej informacyjne przykłady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1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2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8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768240" y="1828800"/>
            <a:ext cx="539460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</a:rPr>
              <a:t>AL wybiera przykłady, dla których model: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768240" y="2286000"/>
            <a:ext cx="54860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ma niską pewność predykcji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myli się między podobnymi klasami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daje wysokie p-stwo dla kilku klas naraz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jest niezgodny z inną regułą / modelem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reprezentuje rzadką / problematyczną część danych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6" name="Rounded Rectangle 9"/>
          <p:cNvSpPr/>
          <p:nvPr/>
        </p:nvSpPr>
        <p:spPr>
          <a:xfrm>
            <a:off x="6446520" y="1828800"/>
            <a:ext cx="4983120" cy="21027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Rectangle 10"/>
          <p:cNvSpPr/>
          <p:nvPr/>
        </p:nvSpPr>
        <p:spPr>
          <a:xfrm>
            <a:off x="6446520" y="1828800"/>
            <a:ext cx="50400" cy="21027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TextBox 11"/>
          <p:cNvSpPr/>
          <p:nvPr/>
        </p:nvSpPr>
        <p:spPr>
          <a:xfrm>
            <a:off x="6702480" y="2370960"/>
            <a:ext cx="4525920" cy="10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Przykład trudnego przypadku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Nie dostałem produktu i chcę pieniądze z powrotem”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zwrot 0.42 · reklamacja 0.39 · status_dostawy 0.15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Trudny przykład — poprawne oznaczenie uczy rozróżniania klas granicznych.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Które dane warto augmentować?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70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Nie zawsze cały zbiór po równo — liczebność klasy to nie wszystko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2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3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768240" y="1828800"/>
            <a:ext cx="539460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klasy o najgorszych wynikach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przykłady z pogranicza kilku klas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przypadki ważne biznesowo (wskazane przez człowieka)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przykłady o niskiej pewności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</a:rPr>
              <a:t>nietypowe warianty językowe, slang, błędy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6" name="TextBox 8"/>
          <p:cNvSpPr/>
          <p:nvPr/>
        </p:nvSpPr>
        <p:spPr>
          <a:xfrm>
            <a:off x="6400800" y="1737360"/>
            <a:ext cx="5028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Proces kontrolowany: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177" name="Rounded Rectangle 9"/>
          <p:cNvSpPr/>
          <p:nvPr/>
        </p:nvSpPr>
        <p:spPr>
          <a:xfrm>
            <a:off x="6400800" y="2148840"/>
            <a:ext cx="5028840" cy="17964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TextBox 10"/>
          <p:cNvSpPr/>
          <p:nvPr/>
        </p:nvSpPr>
        <p:spPr>
          <a:xfrm>
            <a:off x="7096320" y="2231280"/>
            <a:ext cx="363744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1. Trenuj prosty klasyfikator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2. Sprawdź, gdzie się myli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3. Zidentyfikuj klasy problematyczne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4. Wygeneruj przykłady (LLM)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5. Walidacja (człowiek / reguły)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6. Trenuj ponownie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7. Porównaj wyniki</a:t>
            </a:r>
            <a:endParaRPr b="0" lang="pl-PL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Human In The Loop (HITL)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Człowiek jako świadoma część procesu uczenia i walidacji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2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HITL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5" name="Rounded Rectangle 7"/>
          <p:cNvSpPr/>
          <p:nvPr/>
        </p:nvSpPr>
        <p:spPr>
          <a:xfrm>
            <a:off x="768240" y="1828800"/>
            <a:ext cx="5028840" cy="1462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Rectangle 8"/>
          <p:cNvSpPr/>
          <p:nvPr/>
        </p:nvSpPr>
        <p:spPr>
          <a:xfrm>
            <a:off x="768240" y="1828800"/>
            <a:ext cx="50400" cy="14626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TextBox 9"/>
          <p:cNvSpPr/>
          <p:nvPr/>
        </p:nvSpPr>
        <p:spPr>
          <a:xfrm>
            <a:off x="1042560" y="1993320"/>
            <a:ext cx="45716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Definiuje reguły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1042560" y="2423160"/>
            <a:ext cx="45716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jakie klasy istnieją, co oznaczają, gdzie biegnie granica między nimi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89" name="Rounded Rectangle 11"/>
          <p:cNvSpPr/>
          <p:nvPr/>
        </p:nvSpPr>
        <p:spPr>
          <a:xfrm>
            <a:off x="6400800" y="1828800"/>
            <a:ext cx="5028840" cy="1462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Rectangle 12"/>
          <p:cNvSpPr/>
          <p:nvPr/>
        </p:nvSpPr>
        <p:spPr>
          <a:xfrm>
            <a:off x="6400800" y="1828800"/>
            <a:ext cx="50400" cy="14626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13"/>
          <p:cNvSpPr/>
          <p:nvPr/>
        </p:nvSpPr>
        <p:spPr>
          <a:xfrm>
            <a:off x="6675120" y="1993320"/>
            <a:ext cx="45716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Sprawdza jakość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2" name="TextBox 14"/>
          <p:cNvSpPr/>
          <p:nvPr/>
        </p:nvSpPr>
        <p:spPr>
          <a:xfrm>
            <a:off x="6675120" y="2423160"/>
            <a:ext cx="45716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czy przykład pasuje do etykiety, jest realistyczny, nie powiela oryginału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3" name="Rounded Rectangle 15"/>
          <p:cNvSpPr/>
          <p:nvPr/>
        </p:nvSpPr>
        <p:spPr>
          <a:xfrm>
            <a:off x="768240" y="3566160"/>
            <a:ext cx="5028840" cy="1462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Rectangle 16"/>
          <p:cNvSpPr/>
          <p:nvPr/>
        </p:nvSpPr>
        <p:spPr>
          <a:xfrm>
            <a:off x="768240" y="3566160"/>
            <a:ext cx="50400" cy="14626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TextBox 17"/>
          <p:cNvSpPr/>
          <p:nvPr/>
        </p:nvSpPr>
        <p:spPr>
          <a:xfrm>
            <a:off x="1042560" y="3730680"/>
            <a:ext cx="45716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Rozstrzyga niejasne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6" name="TextBox 18"/>
          <p:cNvSpPr/>
          <p:nvPr/>
        </p:nvSpPr>
        <p:spPr>
          <a:xfrm>
            <a:off x="1042560" y="4160520"/>
            <a:ext cx="4571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spójne decyzje dla przypadków granicznych („koordynator”)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7" name="Rounded Rectangle 19"/>
          <p:cNvSpPr/>
          <p:nvPr/>
        </p:nvSpPr>
        <p:spPr>
          <a:xfrm>
            <a:off x="6400800" y="3566160"/>
            <a:ext cx="5028840" cy="1462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8" name="Rectangle 20"/>
          <p:cNvSpPr/>
          <p:nvPr/>
        </p:nvSpPr>
        <p:spPr>
          <a:xfrm>
            <a:off x="6400800" y="3566160"/>
            <a:ext cx="50400" cy="14626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TextBox 21"/>
          <p:cNvSpPr/>
          <p:nvPr/>
        </p:nvSpPr>
        <p:spPr>
          <a:xfrm>
            <a:off x="6675120" y="3730680"/>
            <a:ext cx="45716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</a:rPr>
              <a:t>Kontroluje uczenie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0" name="TextBox 22"/>
          <p:cNvSpPr/>
          <p:nvPr/>
        </p:nvSpPr>
        <p:spPr>
          <a:xfrm>
            <a:off x="6675120" y="4160520"/>
            <a:ext cx="4571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metryki, confusion matrix, klasy rzadkie, jakość języka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Pętla HITL z wykorzystaniem AL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Teoria · Pętla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05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06" name="Rounded Rectangle 6"/>
          <p:cNvSpPr/>
          <p:nvPr/>
        </p:nvSpPr>
        <p:spPr>
          <a:xfrm>
            <a:off x="768240" y="1417320"/>
            <a:ext cx="3382920" cy="1188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Rounded Rectangle 7"/>
          <p:cNvSpPr/>
          <p:nvPr/>
        </p:nvSpPr>
        <p:spPr>
          <a:xfrm>
            <a:off x="768240" y="1417320"/>
            <a:ext cx="3382920" cy="4568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TextBox 8"/>
          <p:cNvSpPr/>
          <p:nvPr/>
        </p:nvSpPr>
        <p:spPr>
          <a:xfrm>
            <a:off x="768240" y="1481400"/>
            <a:ext cx="3382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Augmentacja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09" name="TextBox 9"/>
          <p:cNvSpPr/>
          <p:nvPr/>
        </p:nvSpPr>
        <p:spPr>
          <a:xfrm>
            <a:off x="951120" y="2011680"/>
            <a:ext cx="30171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</a:rPr>
              <a:t>Jak zwiększyć i urozmaicić zbiór?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0" name="Rounded Rectangle 10"/>
          <p:cNvSpPr/>
          <p:nvPr/>
        </p:nvSpPr>
        <p:spPr>
          <a:xfrm>
            <a:off x="4380120" y="1417320"/>
            <a:ext cx="3382920" cy="1188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Rounded Rectangle 11"/>
          <p:cNvSpPr/>
          <p:nvPr/>
        </p:nvSpPr>
        <p:spPr>
          <a:xfrm>
            <a:off x="4380120" y="1417320"/>
            <a:ext cx="3382920" cy="45684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12"/>
          <p:cNvSpPr/>
          <p:nvPr/>
        </p:nvSpPr>
        <p:spPr>
          <a:xfrm>
            <a:off x="4380120" y="1481400"/>
            <a:ext cx="3382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Active Learning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4563000" y="2011680"/>
            <a:ext cx="30171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</a:rPr>
              <a:t>Które dane są warte uwagi?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4" name="Rounded Rectangle 14"/>
          <p:cNvSpPr/>
          <p:nvPr/>
        </p:nvSpPr>
        <p:spPr>
          <a:xfrm>
            <a:off x="7992000" y="1417320"/>
            <a:ext cx="3382920" cy="1188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Rounded Rectangle 15"/>
          <p:cNvSpPr/>
          <p:nvPr/>
        </p:nvSpPr>
        <p:spPr>
          <a:xfrm>
            <a:off x="7992000" y="1417320"/>
            <a:ext cx="3382920" cy="4568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16"/>
          <p:cNvSpPr/>
          <p:nvPr/>
        </p:nvSpPr>
        <p:spPr>
          <a:xfrm>
            <a:off x="7992000" y="1481400"/>
            <a:ext cx="3382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Human in the Loop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7" name="TextBox 17"/>
          <p:cNvSpPr/>
          <p:nvPr/>
        </p:nvSpPr>
        <p:spPr>
          <a:xfrm>
            <a:off x="8174880" y="2011680"/>
            <a:ext cx="30171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</a:rPr>
              <a:t>Jak utrzymać jakość i kontrolę?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8" name="TextBox 18"/>
          <p:cNvSpPr/>
          <p:nvPr/>
        </p:nvSpPr>
        <p:spPr>
          <a:xfrm>
            <a:off x="768240" y="3017520"/>
            <a:ext cx="106066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Przepływ: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9" name="Rounded Rectangle 19"/>
          <p:cNvSpPr/>
          <p:nvPr/>
        </p:nvSpPr>
        <p:spPr>
          <a:xfrm>
            <a:off x="76824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20"/>
          <p:cNvSpPr/>
          <p:nvPr/>
        </p:nvSpPr>
        <p:spPr>
          <a:xfrm>
            <a:off x="80460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Zbiór danych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1" name="TextBox 21"/>
          <p:cNvSpPr/>
          <p:nvPr/>
        </p:nvSpPr>
        <p:spPr>
          <a:xfrm>
            <a:off x="195696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2" name="Rounded Rectangle 22"/>
          <p:cNvSpPr/>
          <p:nvPr/>
        </p:nvSpPr>
        <p:spPr>
          <a:xfrm>
            <a:off x="210312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TextBox 23"/>
          <p:cNvSpPr/>
          <p:nvPr/>
        </p:nvSpPr>
        <p:spPr>
          <a:xfrm>
            <a:off x="213984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4" name="TextBox 24"/>
          <p:cNvSpPr/>
          <p:nvPr/>
        </p:nvSpPr>
        <p:spPr>
          <a:xfrm>
            <a:off x="329184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5" name="Rounded Rectangle 25"/>
          <p:cNvSpPr/>
          <p:nvPr/>
        </p:nvSpPr>
        <p:spPr>
          <a:xfrm>
            <a:off x="343800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26"/>
          <p:cNvSpPr/>
          <p:nvPr/>
        </p:nvSpPr>
        <p:spPr>
          <a:xfrm>
            <a:off x="347472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Analiza błędów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7" name="TextBox 27"/>
          <p:cNvSpPr/>
          <p:nvPr/>
        </p:nvSpPr>
        <p:spPr>
          <a:xfrm>
            <a:off x="462672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8" name="Rounded Rectangle 28"/>
          <p:cNvSpPr/>
          <p:nvPr/>
        </p:nvSpPr>
        <p:spPr>
          <a:xfrm>
            <a:off x="477324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TextBox 29"/>
          <p:cNvSpPr/>
          <p:nvPr/>
        </p:nvSpPr>
        <p:spPr>
          <a:xfrm>
            <a:off x="4809600" y="3649320"/>
            <a:ext cx="11336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Wybór do augmentacji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0" name="TextBox 30"/>
          <p:cNvSpPr/>
          <p:nvPr/>
        </p:nvSpPr>
        <p:spPr>
          <a:xfrm>
            <a:off x="596196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1" name="Rounded Rectangle 31"/>
          <p:cNvSpPr/>
          <p:nvPr/>
        </p:nvSpPr>
        <p:spPr>
          <a:xfrm>
            <a:off x="610812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2" name="TextBox 32"/>
          <p:cNvSpPr/>
          <p:nvPr/>
        </p:nvSpPr>
        <p:spPr>
          <a:xfrm>
            <a:off x="614484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Generowanie (LLM)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3" name="TextBox 33"/>
          <p:cNvSpPr/>
          <p:nvPr/>
        </p:nvSpPr>
        <p:spPr>
          <a:xfrm>
            <a:off x="729684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4" name="Rounded Rectangle 34"/>
          <p:cNvSpPr/>
          <p:nvPr/>
        </p:nvSpPr>
        <p:spPr>
          <a:xfrm>
            <a:off x="744336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TextBox 35"/>
          <p:cNvSpPr/>
          <p:nvPr/>
        </p:nvSpPr>
        <p:spPr>
          <a:xfrm>
            <a:off x="747972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Walidacja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6" name="TextBox 36"/>
          <p:cNvSpPr/>
          <p:nvPr/>
        </p:nvSpPr>
        <p:spPr>
          <a:xfrm>
            <a:off x="863208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7" name="Rounded Rectangle 37"/>
          <p:cNvSpPr/>
          <p:nvPr/>
        </p:nvSpPr>
        <p:spPr>
          <a:xfrm>
            <a:off x="877824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TextBox 38"/>
          <p:cNvSpPr/>
          <p:nvPr/>
        </p:nvSpPr>
        <p:spPr>
          <a:xfrm>
            <a:off x="881496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Aktualizacja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9" name="TextBox 39"/>
          <p:cNvSpPr/>
          <p:nvPr/>
        </p:nvSpPr>
        <p:spPr>
          <a:xfrm>
            <a:off x="9966960" y="3672360"/>
            <a:ext cx="1641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0" name="Rounded Rectangle 40"/>
          <p:cNvSpPr/>
          <p:nvPr/>
        </p:nvSpPr>
        <p:spPr>
          <a:xfrm>
            <a:off x="10113120" y="3474720"/>
            <a:ext cx="1206720" cy="6397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TextBox 41"/>
          <p:cNvSpPr/>
          <p:nvPr/>
        </p:nvSpPr>
        <p:spPr>
          <a:xfrm>
            <a:off x="10149840" y="3721680"/>
            <a:ext cx="11336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</a:rPr>
              <a:t>Ponowny 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2" name="Rounded Rectangle 42"/>
          <p:cNvSpPr/>
          <p:nvPr/>
        </p:nvSpPr>
        <p:spPr>
          <a:xfrm>
            <a:off x="768240" y="4389120"/>
            <a:ext cx="10652400" cy="6854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Rectangle 43"/>
          <p:cNvSpPr/>
          <p:nvPr/>
        </p:nvSpPr>
        <p:spPr>
          <a:xfrm>
            <a:off x="768240" y="4389120"/>
            <a:ext cx="50400" cy="68544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4" name="TextBox 44"/>
          <p:cNvSpPr/>
          <p:nvPr/>
        </p:nvSpPr>
        <p:spPr>
          <a:xfrm>
            <a:off x="1024200" y="4542120"/>
            <a:ext cx="10195200" cy="4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Bezpieczniejsza niż „weź dane → wygeneruj 10× więcej → trenuj”. Samo zwiększenie liczby przykładów nie gwarantuje poprawy — może nawet pogorszyć wynik.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99;p2"/>
          <p:cNvSpPr/>
          <p:nvPr/>
        </p:nvSpPr>
        <p:spPr>
          <a:xfrm>
            <a:off x="683280" y="495000"/>
            <a:ext cx="11111760" cy="96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Google Shape;100;p2"/>
          <p:cNvSpPr/>
          <p:nvPr/>
        </p:nvSpPr>
        <p:spPr>
          <a:xfrm>
            <a:off x="4010760" y="2105280"/>
            <a:ext cx="8181000" cy="30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90000"/>
              </a:lnSpc>
              <a:buNone/>
            </a:pPr>
            <a:endParaRPr b="0" lang="pl-PL" sz="32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</a:rPr>
              <a:t>cel: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</a:rPr>
              <a:t>usprawnienie nawigacji beneficjentów w systemie bezpłatnej pomocy psychologicznej w Warszawie;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</a:rPr>
              <a:t>kryterium: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</a:rPr>
              <a:t>przedstawienie beneficjentowi danych teleadresowych adekwatnej placówki w szybkim czasie;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</a:rPr>
              <a:t>produkt końcowy: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</a:rPr>
              <a:t>Chatbot Helpi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</p:txBody>
      </p:sp>
      <p:sp>
        <p:nvSpPr>
          <p:cNvPr id="247" name="Google Shape;101;p2"/>
          <p:cNvSpPr/>
          <p:nvPr/>
        </p:nvSpPr>
        <p:spPr>
          <a:xfrm>
            <a:off x="223200" y="6287400"/>
            <a:ext cx="542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Google Shape;102;p2"/>
          <p:cNvSpPr/>
          <p:nvPr/>
        </p:nvSpPr>
        <p:spPr>
          <a:xfrm>
            <a:off x="765720" y="6287400"/>
            <a:ext cx="4619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pole tekstowe 2"/>
          <p:cNvSpPr/>
          <p:nvPr/>
        </p:nvSpPr>
        <p:spPr>
          <a:xfrm>
            <a:off x="3049200" y="3275280"/>
            <a:ext cx="6093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pl-PL" sz="1800" spc="-1" strike="noStrike">
                <a:solidFill>
                  <a:srgbClr val="000000"/>
                </a:solidFill>
                <a:latin typeface="Calibri"/>
              </a:rPr>
              <a:t> </a:t>
            </a:r>
            <a:endParaRPr b="0" lang="pl-PL" sz="1800" spc="-1" strike="noStrike">
              <a:latin typeface="Arial"/>
            </a:endParaRPr>
          </a:p>
        </p:txBody>
      </p:sp>
      <p:pic>
        <p:nvPicPr>
          <p:cNvPr id="250" name="Obraz 3" descr=""/>
          <p:cNvPicPr/>
          <p:nvPr/>
        </p:nvPicPr>
        <p:blipFill>
          <a:blip r:embed="rId1"/>
          <a:stretch/>
        </p:blipFill>
        <p:spPr>
          <a:xfrm>
            <a:off x="6506640" y="426240"/>
            <a:ext cx="2635920" cy="1224360"/>
          </a:xfrm>
          <a:prstGeom prst="rect">
            <a:avLst/>
          </a:prstGeom>
          <a:ln w="0">
            <a:noFill/>
          </a:ln>
        </p:spPr>
      </p:pic>
      <p:pic>
        <p:nvPicPr>
          <p:cNvPr id="251" name="Obraz 5" descr=""/>
          <p:cNvPicPr/>
          <p:nvPr/>
        </p:nvPicPr>
        <p:blipFill>
          <a:blip r:embed="rId2"/>
          <a:srcRect l="4033" t="328" r="4700" b="0"/>
          <a:stretch/>
        </p:blipFill>
        <p:spPr>
          <a:xfrm>
            <a:off x="500040" y="495000"/>
            <a:ext cx="2943000" cy="5839200"/>
          </a:xfrm>
          <a:prstGeom prst="rect">
            <a:avLst/>
          </a:prstGeom>
          <a:ln w="0">
            <a:noFill/>
          </a:ln>
        </p:spPr>
      </p:pic>
      <p:sp>
        <p:nvSpPr>
          <p:cNvPr id="252" name="Rectangle 102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TextBox 103"/>
          <p:cNvSpPr/>
          <p:nvPr/>
        </p:nvSpPr>
        <p:spPr>
          <a:xfrm>
            <a:off x="3514320" y="6473880"/>
            <a:ext cx="27367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54" name="TextBox 104"/>
          <p:cNvSpPr/>
          <p:nvPr/>
        </p:nvSpPr>
        <p:spPr>
          <a:xfrm>
            <a:off x="10863720" y="6473880"/>
            <a:ext cx="3092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12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62;p3"/>
          <p:cNvSpPr/>
          <p:nvPr/>
        </p:nvSpPr>
        <p:spPr>
          <a:xfrm>
            <a:off x="825480" y="419760"/>
            <a:ext cx="5636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</a:rPr>
              <a:t>Budowa języka i pierwszego zbioru danych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56" name="Google Shape;63;p3"/>
          <p:cNvSpPr/>
          <p:nvPr/>
        </p:nvSpPr>
        <p:spPr>
          <a:xfrm>
            <a:off x="825480" y="1455840"/>
            <a:ext cx="5636520" cy="8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Narzędzie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</a:rPr>
              <a:t>Helpi-Lab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— aplikacja badawcza, w której testerzy wcielali się w różne role (rodzic szukający pomocy dla dziecka, osoba w kryzysie, student) i pisali naturalne zapytania.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57" name="Google Shape;64;p3"/>
          <p:cNvSpPr/>
          <p:nvPr/>
        </p:nvSpPr>
        <p:spPr>
          <a:xfrm>
            <a:off x="825480" y="2445480"/>
            <a:ext cx="5472360" cy="1694160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8" name="Google Shape;65;p3"/>
          <p:cNvSpPr/>
          <p:nvPr/>
        </p:nvSpPr>
        <p:spPr>
          <a:xfrm>
            <a:off x="1074600" y="2777040"/>
            <a:ext cx="5123160" cy="7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</a:rPr>
              <a:t>680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59" name="Google Shape;66;p3"/>
          <p:cNvSpPr/>
          <p:nvPr/>
        </p:nvSpPr>
        <p:spPr>
          <a:xfrm>
            <a:off x="1074600" y="3597480"/>
            <a:ext cx="512316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ręcznie zaanotowanych oczekiwanych zakresów tematycznych i językowych użytkownika — „seed dataset”.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60" name="Google Shape;67;p3"/>
          <p:cNvSpPr/>
          <p:nvPr/>
        </p:nvSpPr>
        <p:spPr>
          <a:xfrm>
            <a:off x="825480" y="4417920"/>
            <a:ext cx="5472360" cy="1840320"/>
          </a:xfrm>
          <a:prstGeom prst="roundRect">
            <a:avLst>
              <a:gd name="adj" fmla="val 6548"/>
            </a:avLst>
          </a:prstGeom>
          <a:solidFill>
            <a:srgbClr val="ffffff">
              <a:alpha val="97000"/>
            </a:srgbClr>
          </a:solidFill>
          <a:ln w="11900">
            <a:solidFill>
              <a:srgbClr val="e8e2d4">
                <a:alpha val="97000"/>
              </a:srgbClr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1" name="Google Shape;68;p3"/>
          <p:cNvSpPr/>
          <p:nvPr/>
        </p:nvSpPr>
        <p:spPr>
          <a:xfrm>
            <a:off x="1074600" y="4592880"/>
            <a:ext cx="4974120" cy="25992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Google Shape;69;p3"/>
          <p:cNvSpPr/>
          <p:nvPr/>
        </p:nvSpPr>
        <p:spPr>
          <a:xfrm>
            <a:off x="1176120" y="4607640"/>
            <a:ext cx="492012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</a:rPr>
              <a:t>TAKSONOMIA + TŁUMACZONE ZBIORY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63" name="Google Shape;70;p3"/>
          <p:cNvSpPr/>
          <p:nvPr/>
        </p:nvSpPr>
        <p:spPr>
          <a:xfrm>
            <a:off x="1074600" y="4846680"/>
            <a:ext cx="5123160" cy="119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95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Zbiory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mental health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z HuggingFace przetłumaczono na polski, a na podstawie przeszukiwania (crawling)  stron placówek zdefiniowano: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typy usług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ypes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 O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f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S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ervices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)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i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grupy docelowe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arget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 G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roups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)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64" name="Google Shape;71;p3"/>
          <p:cNvSpPr/>
          <p:nvPr/>
        </p:nvSpPr>
        <p:spPr>
          <a:xfrm>
            <a:off x="6896160" y="784080"/>
            <a:ext cx="4277880" cy="4832280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65" name="Google Shape;72;p3" descr="preencoded.png"/>
          <p:cNvPicPr/>
          <p:nvPr/>
        </p:nvPicPr>
        <p:blipFill>
          <a:blip r:embed="rId1"/>
          <a:stretch/>
        </p:blipFill>
        <p:spPr>
          <a:xfrm>
            <a:off x="6904440" y="792000"/>
            <a:ext cx="4262040" cy="4816440"/>
          </a:xfrm>
          <a:prstGeom prst="rect">
            <a:avLst/>
          </a:prstGeom>
          <a:ln w="0">
            <a:noFill/>
          </a:ln>
        </p:spPr>
      </p:pic>
      <p:sp>
        <p:nvSpPr>
          <p:cNvPr id="266" name="Google Shape;73;p3"/>
          <p:cNvSpPr/>
          <p:nvPr/>
        </p:nvSpPr>
        <p:spPr>
          <a:xfrm>
            <a:off x="6634800" y="5730840"/>
            <a:ext cx="4801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</a:rPr>
              <a:t>Helpi-Lab — interfejs asystenta badawczego z rundami scenariuszy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67" name="Rectangle 7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74"/>
          <p:cNvSpPr/>
          <p:nvPr/>
        </p:nvSpPr>
        <p:spPr>
          <a:xfrm>
            <a:off x="3514320" y="6473880"/>
            <a:ext cx="27367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69" name="TextBox 75"/>
          <p:cNvSpPr/>
          <p:nvPr/>
        </p:nvSpPr>
        <p:spPr>
          <a:xfrm>
            <a:off x="10863720" y="6473880"/>
            <a:ext cx="3092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0" name="Rectangle 76"/>
          <p:cNvSpPr/>
          <p:nvPr/>
        </p:nvSpPr>
        <p:spPr>
          <a:xfrm>
            <a:off x="825480" y="136008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79;p4"/>
          <p:cNvSpPr/>
          <p:nvPr/>
        </p:nvSpPr>
        <p:spPr>
          <a:xfrm>
            <a:off x="1020240" y="571680"/>
            <a:ext cx="4069800" cy="5029200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72" name="Google Shape;80;p4" descr="preencoded.png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1028160" y="579600"/>
            <a:ext cx="4053960" cy="5013360"/>
          </a:xfrm>
          <a:prstGeom prst="rect">
            <a:avLst/>
          </a:prstGeom>
          <a:ln w="0">
            <a:noFill/>
          </a:ln>
        </p:spPr>
      </p:pic>
      <p:sp>
        <p:nvSpPr>
          <p:cNvPr id="273" name="Google Shape;81;p4"/>
          <p:cNvSpPr/>
          <p:nvPr/>
        </p:nvSpPr>
        <p:spPr>
          <a:xfrm>
            <a:off x="758520" y="5715360"/>
            <a:ext cx="459252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</a:rPr>
              <a:t>Helpi Inference (TOS, TG) — testowanie klasyfikatorów i rozkład prawdopodobieństw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4" name="Google Shape;83;p4"/>
          <p:cNvSpPr/>
          <p:nvPr/>
        </p:nvSpPr>
        <p:spPr>
          <a:xfrm>
            <a:off x="5691240" y="1323360"/>
            <a:ext cx="58453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</a:rPr>
              <a:t>Anotacja i trening modeli klasyfikacyjnych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75" name="Google Shape;84;p4"/>
          <p:cNvSpPr/>
          <p:nvPr/>
        </p:nvSpPr>
        <p:spPr>
          <a:xfrm>
            <a:off x="5691240" y="2418840"/>
            <a:ext cx="5845320" cy="8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Model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</a:rPr>
              <a:t>GPT-OSS:120b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generował wstępne klasyfikacje (typ usługi TOS + grupa docelowa TG), a ludzie weryfikowali i korygowali je w aplikacji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</a:rPr>
              <a:t>Helpi-Lab-Chat-Anno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76" name="Google Shape;85;p4"/>
          <p:cNvSpPr/>
          <p:nvPr/>
        </p:nvSpPr>
        <p:spPr>
          <a:xfrm>
            <a:off x="5691240" y="3467880"/>
            <a:ext cx="2748600" cy="168480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7" name="Google Shape;86;p4"/>
          <p:cNvSpPr/>
          <p:nvPr/>
        </p:nvSpPr>
        <p:spPr>
          <a:xfrm>
            <a:off x="5927400" y="3687120"/>
            <a:ext cx="2343600" cy="7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</a:rPr>
              <a:t>4933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78" name="Google Shape;87;p4"/>
          <p:cNvSpPr/>
          <p:nvPr/>
        </p:nvSpPr>
        <p:spPr>
          <a:xfrm>
            <a:off x="5791680" y="4507200"/>
            <a:ext cx="2647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sprawdzone anotacje (etykietowanie) — pierwszy „oficjalny” dataset.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9" name="Google Shape;88;p4"/>
          <p:cNvSpPr/>
          <p:nvPr/>
        </p:nvSpPr>
        <p:spPr>
          <a:xfrm>
            <a:off x="8617680" y="3467880"/>
            <a:ext cx="2748600" cy="168480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0" name="Google Shape;89;p4"/>
          <p:cNvSpPr/>
          <p:nvPr/>
        </p:nvSpPr>
        <p:spPr>
          <a:xfrm>
            <a:off x="8854200" y="3678840"/>
            <a:ext cx="2343600" cy="7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1867aa"/>
                </a:solidFill>
                <a:latin typeface="Calibri"/>
              </a:rPr>
              <a:t>2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1" name="Google Shape;90;p4"/>
          <p:cNvSpPr/>
          <p:nvPr/>
        </p:nvSpPr>
        <p:spPr>
          <a:xfrm>
            <a:off x="8854200" y="4499280"/>
            <a:ext cx="234360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modele klasyfikacyjne: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</a:rPr>
              <a:t>TOS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(typy usług) i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</a:rPr>
              <a:t>TG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(grupy docelowe).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2" name="Google Shape;91;p4"/>
          <p:cNvSpPr/>
          <p:nvPr/>
        </p:nvSpPr>
        <p:spPr>
          <a:xfrm>
            <a:off x="5691240" y="5346720"/>
            <a:ext cx="5845320" cy="53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Te modele stały się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rdzeniem logiki Helpi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</a:rPr>
              <a:t>— one decydują, jakie placówki zaproponować użytkownikowi na podstawie opisu problemu.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83" name="Rectangle 91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92"/>
          <p:cNvSpPr/>
          <p:nvPr/>
        </p:nvSpPr>
        <p:spPr>
          <a:xfrm>
            <a:off x="3514320" y="6473880"/>
            <a:ext cx="27367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5" name="TextBox 93"/>
          <p:cNvSpPr/>
          <p:nvPr/>
        </p:nvSpPr>
        <p:spPr>
          <a:xfrm>
            <a:off x="10863720" y="6473880"/>
            <a:ext cx="3092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6" name="Rectangle 94"/>
          <p:cNvSpPr/>
          <p:nvPr/>
        </p:nvSpPr>
        <p:spPr>
          <a:xfrm>
            <a:off x="5691240" y="229932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98;p5"/>
          <p:cNvSpPr/>
          <p:nvPr/>
        </p:nvSpPr>
        <p:spPr>
          <a:xfrm>
            <a:off x="825480" y="852480"/>
            <a:ext cx="108568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rgbClr val="1a1a1a"/>
                </a:solidFill>
                <a:latin typeface="Calibri"/>
              </a:rPr>
              <a:t>Balans - skalowanie danych i doskonalenie modeli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88" name="Google Shape;99;p5"/>
          <p:cNvSpPr/>
          <p:nvPr/>
        </p:nvSpPr>
        <p:spPr>
          <a:xfrm>
            <a:off x="825480" y="1548360"/>
            <a:ext cx="91562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</a:rPr>
              <a:t>Wytrenowane klasyfikatory same anotowały nowo wygenerowane przypadki, a ludzie weryfikowali wyniki — pętla, która systematycznie podnosiła precyzję klasyfikacji.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89" name="Google Shape;100;p5"/>
          <p:cNvSpPr/>
          <p:nvPr/>
        </p:nvSpPr>
        <p:spPr>
          <a:xfrm>
            <a:off x="825480" y="2435040"/>
            <a:ext cx="4718880" cy="3889440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Google Shape;101;p5"/>
          <p:cNvSpPr/>
          <p:nvPr/>
        </p:nvSpPr>
        <p:spPr>
          <a:xfrm>
            <a:off x="1138320" y="3220920"/>
            <a:ext cx="4093560" cy="25992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Google Shape;102;p5"/>
          <p:cNvSpPr/>
          <p:nvPr/>
        </p:nvSpPr>
        <p:spPr>
          <a:xfrm>
            <a:off x="1239840" y="3271680"/>
            <a:ext cx="40129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 fontScale="99000"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</a:rPr>
              <a:t>PĘTLA DOSKONALENIA MODELI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92" name="Google Shape;103;p5"/>
          <p:cNvSpPr/>
          <p:nvPr/>
        </p:nvSpPr>
        <p:spPr>
          <a:xfrm>
            <a:off x="1138320" y="3620880"/>
            <a:ext cx="213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</a:rPr>
              <a:t>1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3" name="Google Shape;104;p5"/>
          <p:cNvSpPr/>
          <p:nvPr/>
        </p:nvSpPr>
        <p:spPr>
          <a:xfrm>
            <a:off x="1415160" y="3624120"/>
            <a:ext cx="116244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Model trenuje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4" name="Google Shape;105;p5"/>
          <p:cNvSpPr/>
          <p:nvPr/>
        </p:nvSpPr>
        <p:spPr>
          <a:xfrm>
            <a:off x="1886040" y="3972240"/>
            <a:ext cx="392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5" name="Google Shape;106;p5"/>
          <p:cNvSpPr/>
          <p:nvPr/>
        </p:nvSpPr>
        <p:spPr>
          <a:xfrm>
            <a:off x="1138320" y="4289760"/>
            <a:ext cx="213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</a:rPr>
              <a:t>2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6" name="Google Shape;107;p5"/>
          <p:cNvSpPr/>
          <p:nvPr/>
        </p:nvSpPr>
        <p:spPr>
          <a:xfrm>
            <a:off x="1415160" y="4293360"/>
            <a:ext cx="160164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Anotuje nowe dane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7" name="Google Shape;108;p5"/>
          <p:cNvSpPr/>
          <p:nvPr/>
        </p:nvSpPr>
        <p:spPr>
          <a:xfrm>
            <a:off x="1886040" y="4641480"/>
            <a:ext cx="392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8" name="Google Shape;109;p5"/>
          <p:cNvSpPr/>
          <p:nvPr/>
        </p:nvSpPr>
        <p:spPr>
          <a:xfrm>
            <a:off x="1138320" y="4958640"/>
            <a:ext cx="213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</a:rPr>
              <a:t>3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9" name="Google Shape;110;p5"/>
          <p:cNvSpPr/>
          <p:nvPr/>
        </p:nvSpPr>
        <p:spPr>
          <a:xfrm>
            <a:off x="1415160" y="4962240"/>
            <a:ext cx="13348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</a:rPr>
              <a:t>Ludzie korygują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0" name="Google Shape;111;p5"/>
          <p:cNvSpPr/>
          <p:nvPr/>
        </p:nvSpPr>
        <p:spPr>
          <a:xfrm>
            <a:off x="1290600" y="5310360"/>
            <a:ext cx="40636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</a:rPr>
              <a:t>↺ </a:t>
            </a:r>
            <a:r>
              <a:rPr b="1" lang="en-US" sz="1200" spc="-1" strike="noStrike">
                <a:solidFill>
                  <a:srgbClr val="b58827"/>
                </a:solidFill>
                <a:latin typeface="Calibri"/>
              </a:rPr>
              <a:t>model trenuje ponownie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1" name="Google Shape;112;p5"/>
          <p:cNvSpPr/>
          <p:nvPr/>
        </p:nvSpPr>
        <p:spPr>
          <a:xfrm>
            <a:off x="5849280" y="2435040"/>
            <a:ext cx="2682000" cy="165708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2" name="Google Shape;113;p5"/>
          <p:cNvSpPr/>
          <p:nvPr/>
        </p:nvSpPr>
        <p:spPr>
          <a:xfrm>
            <a:off x="6073200" y="2777400"/>
            <a:ext cx="23014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</a:rPr>
              <a:t>~700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3" name="Google Shape;114;p5"/>
          <p:cNvSpPr/>
          <p:nvPr/>
        </p:nvSpPr>
        <p:spPr>
          <a:xfrm>
            <a:off x="6073200" y="3323520"/>
            <a:ext cx="2301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podtura A — przypadki typów usług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4" name="Google Shape;115;p5"/>
          <p:cNvSpPr/>
          <p:nvPr/>
        </p:nvSpPr>
        <p:spPr>
          <a:xfrm>
            <a:off x="8683920" y="2435040"/>
            <a:ext cx="2682000" cy="165708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5" name="Google Shape;116;p5"/>
          <p:cNvSpPr/>
          <p:nvPr/>
        </p:nvSpPr>
        <p:spPr>
          <a:xfrm>
            <a:off x="8907840" y="2777400"/>
            <a:ext cx="230184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</a:rPr>
              <a:t>4354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6" name="Google Shape;117;p5"/>
          <p:cNvSpPr/>
          <p:nvPr/>
        </p:nvSpPr>
        <p:spPr>
          <a:xfrm>
            <a:off x="8907840" y="3323520"/>
            <a:ext cx="2301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podtura B — przypadki łącznie dla TOS i TG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7" name="Google Shape;118;p5"/>
          <p:cNvSpPr/>
          <p:nvPr/>
        </p:nvSpPr>
        <p:spPr>
          <a:xfrm>
            <a:off x="5849280" y="4245120"/>
            <a:ext cx="5517000" cy="2079360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8" name="Google Shape;119;p5"/>
          <p:cNvSpPr/>
          <p:nvPr/>
        </p:nvSpPr>
        <p:spPr>
          <a:xfrm>
            <a:off x="6085800" y="4581360"/>
            <a:ext cx="151092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1867aa"/>
                </a:solidFill>
                <a:latin typeface="Calibri"/>
              </a:rPr>
              <a:t>~5400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9" name="Google Shape;120;p5"/>
          <p:cNvSpPr/>
          <p:nvPr/>
        </p:nvSpPr>
        <p:spPr>
          <a:xfrm>
            <a:off x="7673400" y="4755960"/>
            <a:ext cx="6703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8000"/>
          </a:bodyPr>
          <a:p>
            <a:pPr>
              <a:lnSpc>
                <a:spcPct val="90000"/>
              </a:lnSpc>
              <a:buNone/>
            </a:pPr>
            <a:r>
              <a:rPr b="1" lang="en-US" sz="2200" spc="-1" strike="noStrike">
                <a:solidFill>
                  <a:srgbClr val="b58827"/>
                </a:solidFill>
                <a:latin typeface="Calibri"/>
              </a:rPr>
              <a:t>+940</a:t>
            </a:r>
            <a:endParaRPr b="0" lang="pl-PL" sz="2200" spc="-1" strike="noStrike">
              <a:latin typeface="Arial"/>
            </a:endParaRPr>
          </a:p>
        </p:txBody>
      </p:sp>
      <p:sp>
        <p:nvSpPr>
          <p:cNvPr id="310" name="Google Shape;121;p5"/>
          <p:cNvSpPr/>
          <p:nvPr/>
        </p:nvSpPr>
        <p:spPr>
          <a:xfrm>
            <a:off x="6085800" y="5127120"/>
            <a:ext cx="519516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6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Dataset grup docelowych był niezbalansowany (nadreprezentacja „dorosłych”, niedobór „seniorów” i „osób niebinarnych”), więc dogenerowano ok.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</a:rPr>
              <a:t>940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przypadków — uzyskując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</a:rPr>
              <a:t>~5400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</a:rPr>
              <a:t>zbalansowanych przykładów dla TG.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1" name="Rectangle 121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TextBox 122"/>
          <p:cNvSpPr/>
          <p:nvPr/>
        </p:nvSpPr>
        <p:spPr>
          <a:xfrm>
            <a:off x="3514320" y="6473880"/>
            <a:ext cx="27367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13" name="TextBox 123"/>
          <p:cNvSpPr/>
          <p:nvPr/>
        </p:nvSpPr>
        <p:spPr>
          <a:xfrm>
            <a:off x="10863720" y="6473880"/>
            <a:ext cx="3092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14" name="Rectangle 124"/>
          <p:cNvSpPr/>
          <p:nvPr/>
        </p:nvSpPr>
        <p:spPr>
          <a:xfrm>
            <a:off x="825480" y="137592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1"/>
          <p:cNvSpPr/>
          <p:nvPr/>
        </p:nvSpPr>
        <p:spPr>
          <a:xfrm>
            <a:off x="768240" y="1554480"/>
            <a:ext cx="1828440" cy="50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TextBox 2"/>
          <p:cNvSpPr/>
          <p:nvPr/>
        </p:nvSpPr>
        <p:spPr>
          <a:xfrm>
            <a:off x="768240" y="1737360"/>
            <a:ext cx="10423800" cy="57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800" spc="-1" strike="noStrike">
                <a:solidFill>
                  <a:srgbClr val="ffffff"/>
                </a:solidFill>
                <a:latin typeface="Play"/>
              </a:rPr>
              <a:t>Interaktywna sesja anotacyjna</a:t>
            </a:r>
            <a:endParaRPr b="0" lang="pl-PL" sz="3800" spc="-1" strike="noStrike">
              <a:latin typeface="Arial"/>
            </a:endParaRPr>
          </a:p>
        </p:txBody>
      </p:sp>
      <p:sp>
        <p:nvSpPr>
          <p:cNvPr id="317" name="TextBox 3"/>
          <p:cNvSpPr/>
          <p:nvPr/>
        </p:nvSpPr>
        <p:spPr>
          <a:xfrm>
            <a:off x="768240" y="2697480"/>
            <a:ext cx="100580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</a:rPr>
              <a:t>Spróbuj sam — przekonaj się, jak trudno dokładnie oznaczać tekst bez kontekstu biznesowego.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318" name="Rounded Rectangle 4"/>
          <p:cNvSpPr/>
          <p:nvPr/>
        </p:nvSpPr>
        <p:spPr>
          <a:xfrm>
            <a:off x="768240" y="3566160"/>
            <a:ext cx="6400440" cy="10054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9" name="TextBox 5"/>
          <p:cNvSpPr/>
          <p:nvPr/>
        </p:nvSpPr>
        <p:spPr>
          <a:xfrm>
            <a:off x="768240" y="3703320"/>
            <a:ext cx="6400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42733"/>
                </a:solidFill>
                <a:latin typeface="Arial"/>
              </a:rPr>
              <a:t>Link do sesji (~5 min):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0" name="TextBox 6"/>
          <p:cNvSpPr/>
          <p:nvPr/>
        </p:nvSpPr>
        <p:spPr>
          <a:xfrm>
            <a:off x="768240" y="4041720"/>
            <a:ext cx="640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42733"/>
                </a:solidFill>
                <a:latin typeface="Play"/>
              </a:rPr>
              <a:t>https://dss2026.radlab.dev/</a:t>
            </a:r>
            <a:endParaRPr b="0" lang="pl-PL" sz="2400" spc="-1" strike="noStrike">
              <a:latin typeface="Arial"/>
            </a:endParaRPr>
          </a:p>
        </p:txBody>
      </p:sp>
      <p:sp>
        <p:nvSpPr>
          <p:cNvPr id="321" name="TextBox 7"/>
          <p:cNvSpPr/>
          <p:nvPr/>
        </p:nvSpPr>
        <p:spPr>
          <a:xfrm>
            <a:off x="768240" y="5120640"/>
            <a:ext cx="25599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Przeczytaj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2" name="TextBox 8"/>
          <p:cNvSpPr/>
          <p:nvPr/>
        </p:nvSpPr>
        <p:spPr>
          <a:xfrm>
            <a:off x="768240" y="5486400"/>
            <a:ext cx="2559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</a:rPr>
              <a:t>każdy tweet uważnie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3465720" y="5120640"/>
            <a:ext cx="25599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Zastanów się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4" name="TextBox 10"/>
          <p:cNvSpPr/>
          <p:nvPr/>
        </p:nvSpPr>
        <p:spPr>
          <a:xfrm>
            <a:off x="3465720" y="5486400"/>
            <a:ext cx="2559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</a:rPr>
              <a:t>jaka jest intencja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5" name="TextBox 11"/>
          <p:cNvSpPr/>
          <p:nvPr/>
        </p:nvSpPr>
        <p:spPr>
          <a:xfrm>
            <a:off x="6163200" y="5120640"/>
            <a:ext cx="25599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Wybierz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6163200" y="5486400"/>
            <a:ext cx="2559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</a:rPr>
              <a:t>najlepszą klasę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7" name="TextBox 13"/>
          <p:cNvSpPr/>
          <p:nvPr/>
        </p:nvSpPr>
        <p:spPr>
          <a:xfrm>
            <a:off x="8860680" y="5120640"/>
            <a:ext cx="25599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</a:rPr>
              <a:t>Zwróć uwagę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8" name="TextBox 14"/>
          <p:cNvSpPr/>
          <p:nvPr/>
        </p:nvSpPr>
        <p:spPr>
          <a:xfrm>
            <a:off x="8860680" y="5486400"/>
            <a:ext cx="2559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</a:rPr>
              <a:t>na niuanse i kontekst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Box 1"/>
          <p:cNvSpPr/>
          <p:nvPr/>
        </p:nvSpPr>
        <p:spPr>
          <a:xfrm>
            <a:off x="768240" y="2240280"/>
            <a:ext cx="18284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</a:rPr>
              <a:t>03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330" name="Rectangle 2"/>
          <p:cNvSpPr/>
          <p:nvPr/>
        </p:nvSpPr>
        <p:spPr>
          <a:xfrm>
            <a:off x="768240" y="3246120"/>
            <a:ext cx="1828440" cy="50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TextBox 3"/>
          <p:cNvSpPr/>
          <p:nvPr/>
        </p:nvSpPr>
        <p:spPr>
          <a:xfrm>
            <a:off x="768240" y="3429000"/>
            <a:ext cx="104238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</a:rPr>
              <a:t>Część techniczna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32" name="TextBox 4"/>
          <p:cNvSpPr/>
          <p:nvPr/>
        </p:nvSpPr>
        <p:spPr>
          <a:xfrm>
            <a:off x="768240" y="4754880"/>
            <a:ext cx="73148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</a:rPr>
              <a:t>~22 min · od sprzętu po trening klasyfikatora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Wymagania sprzętowe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34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5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Sprzęt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37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18</a:t>
            </a:r>
            <a:endParaRPr b="0" lang="pl-PL" sz="900" spc="-1" strike="noStrike">
              <a:latin typeface="Arial"/>
            </a:endParaRPr>
          </a:p>
        </p:txBody>
      </p:sp>
      <p:graphicFrame>
        <p:nvGraphicFramePr>
          <p:cNvPr id="338" name="Table 6"/>
          <p:cNvGraphicFramePr/>
          <p:nvPr/>
        </p:nvGraphicFramePr>
        <p:xfrm>
          <a:off x="768240" y="1417320"/>
          <a:ext cx="10652400" cy="27428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Rounded Rectangle 7"/>
          <p:cNvSpPr/>
          <p:nvPr/>
        </p:nvSpPr>
        <p:spPr>
          <a:xfrm>
            <a:off x="768240" y="4480560"/>
            <a:ext cx="10652400" cy="6854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0" name="Rectangle 8"/>
          <p:cNvSpPr/>
          <p:nvPr/>
        </p:nvSpPr>
        <p:spPr>
          <a:xfrm>
            <a:off x="768240" y="4480560"/>
            <a:ext cx="50400" cy="6854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TextBox 9"/>
          <p:cNvSpPr/>
          <p:nvPr/>
        </p:nvSpPr>
        <p:spPr>
          <a:xfrm>
            <a:off x="1024200" y="4633560"/>
            <a:ext cx="10195200" cy="4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Wymagania zależą od modelu i vendora. Bez GPU używaj Ollama / llama.cpp (CPU-only). Python 3.10+ (zalecane 3.12+), izolowany venv, zależności z requirements.txt.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Lokalne silniki (vendorzy)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43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Trzy sposoby serwowania modeli lokalnie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7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19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8" name="Rounded Rectangle 7"/>
          <p:cNvSpPr/>
          <p:nvPr/>
        </p:nvSpPr>
        <p:spPr>
          <a:xfrm>
            <a:off x="768240" y="1828800"/>
            <a:ext cx="10652400" cy="603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ounded Rectangle 8"/>
          <p:cNvSpPr/>
          <p:nvPr/>
        </p:nvSpPr>
        <p:spPr>
          <a:xfrm>
            <a:off x="768240" y="1828800"/>
            <a:ext cx="1554120" cy="60300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9"/>
          <p:cNvSpPr/>
          <p:nvPr/>
        </p:nvSpPr>
        <p:spPr>
          <a:xfrm>
            <a:off x="768240" y="1938600"/>
            <a:ext cx="15541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vLLM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1" name="TextBox 10"/>
          <p:cNvSpPr/>
          <p:nvPr/>
        </p:nvSpPr>
        <p:spPr>
          <a:xfrm>
            <a:off x="2551320" y="2027160"/>
            <a:ext cx="85950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wysokowydajny, GPU NVIDIA, tensor parallelism, multi-GPU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52" name="Rounded Rectangle 11"/>
          <p:cNvSpPr/>
          <p:nvPr/>
        </p:nvSpPr>
        <p:spPr>
          <a:xfrm>
            <a:off x="768240" y="2541960"/>
            <a:ext cx="10652400" cy="603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Rounded Rectangle 12"/>
          <p:cNvSpPr/>
          <p:nvPr/>
        </p:nvSpPr>
        <p:spPr>
          <a:xfrm>
            <a:off x="768240" y="2541960"/>
            <a:ext cx="1554120" cy="60300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13"/>
          <p:cNvSpPr/>
          <p:nvPr/>
        </p:nvSpPr>
        <p:spPr>
          <a:xfrm>
            <a:off x="768240" y="2651760"/>
            <a:ext cx="15541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Ollama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2551320" y="2740320"/>
            <a:ext cx="85950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najprostszy, GGUF, NVIDIA/AMD/Apple/CPU, API :11434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56" name="Rounded Rectangle 15"/>
          <p:cNvSpPr/>
          <p:nvPr/>
        </p:nvSpPr>
        <p:spPr>
          <a:xfrm>
            <a:off x="768240" y="3255120"/>
            <a:ext cx="10652400" cy="603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7" name="Rounded Rectangle 16"/>
          <p:cNvSpPr/>
          <p:nvPr/>
        </p:nvSpPr>
        <p:spPr>
          <a:xfrm>
            <a:off x="768240" y="3255120"/>
            <a:ext cx="1554120" cy="60300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TextBox 17"/>
          <p:cNvSpPr/>
          <p:nvPr/>
        </p:nvSpPr>
        <p:spPr>
          <a:xfrm>
            <a:off x="768240" y="3364920"/>
            <a:ext cx="155412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llama.cpp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2551320" y="3453480"/>
            <a:ext cx="85950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lekki C/C++, GGUF, największa kontrola, najwięcej konfiguracji</a:t>
            </a:r>
            <a:endParaRPr b="0" lang="pl-PL" sz="1350" spc="-1" strike="noStrike">
              <a:latin typeface="Arial"/>
            </a:endParaRPr>
          </a:p>
        </p:txBody>
      </p:sp>
      <p:graphicFrame>
        <p:nvGraphicFramePr>
          <p:cNvPr id="360" name="Table 19"/>
          <p:cNvGraphicFramePr/>
          <p:nvPr/>
        </p:nvGraphicFramePr>
        <p:xfrm>
          <a:off x="768240" y="4206240"/>
          <a:ext cx="10652400" cy="1974600"/>
        </p:xfrm>
        <a:graphic>
          <a:graphicData uri="http://schemas.openxmlformats.org/drawingml/2006/table">
            <a:tbl>
              <a:tblPr/>
              <a:tblGrid>
                <a:gridCol w="3063240"/>
                <a:gridCol w="2468880"/>
                <a:gridCol w="2560320"/>
                <a:gridCol w="2560320"/>
              </a:tblGrid>
              <a:tr h="329040"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2904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✗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✗ / ✗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WSL2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✓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04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40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multi-GPU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vLLM — uruchomienie serwera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62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GPU NVIDIA (VRAM ≥ 24 GB), Linux, CUDA 12.x; format HF Safetensors / GGUF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4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66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768240" y="1828800"/>
            <a:ext cx="5028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Instalacja: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68" name="Rounded Rectangle 8"/>
          <p:cNvSpPr/>
          <p:nvPr/>
        </p:nvSpPr>
        <p:spPr>
          <a:xfrm>
            <a:off x="768240" y="2194560"/>
            <a:ext cx="5120280" cy="8636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TextBox 9"/>
          <p:cNvSpPr/>
          <p:nvPr/>
        </p:nvSpPr>
        <p:spPr>
          <a:xfrm>
            <a:off x="1989720" y="2277000"/>
            <a:ext cx="26773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pip install vllm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python3 -c "import vllm;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print(vllm.__version__)"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6400800" y="1828800"/>
            <a:ext cx="5028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Serwowanie (PLLuM-70B):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1" name="Rounded Rectangle 11"/>
          <p:cNvSpPr/>
          <p:nvPr/>
        </p:nvSpPr>
        <p:spPr>
          <a:xfrm>
            <a:off x="6400800" y="2194560"/>
            <a:ext cx="5028840" cy="13302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TextBox 12"/>
          <p:cNvSpPr/>
          <p:nvPr/>
        </p:nvSpPr>
        <p:spPr>
          <a:xfrm>
            <a:off x="6904440" y="2277000"/>
            <a:ext cx="4021560" cy="10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vllm serve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CYFRAGOVPL/Llama-PLLuM-70B-chat-2512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--tensor-parallel-size 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--max-model-len 8192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</a:rPr>
              <a:t>--port 8080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73" name="Rounded Rectangle 13"/>
          <p:cNvSpPr/>
          <p:nvPr/>
        </p:nvSpPr>
        <p:spPr>
          <a:xfrm>
            <a:off x="768240" y="4206240"/>
            <a:ext cx="10652400" cy="731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4" name="Rectangle 14"/>
          <p:cNvSpPr/>
          <p:nvPr/>
        </p:nvSpPr>
        <p:spPr>
          <a:xfrm>
            <a:off x="768240" y="4206240"/>
            <a:ext cx="50400" cy="7311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TextBox 15"/>
          <p:cNvSpPr/>
          <p:nvPr/>
        </p:nvSpPr>
        <p:spPr>
          <a:xfrm>
            <a:off x="1024200" y="4271040"/>
            <a:ext cx="10195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Pozostali vendorzy w skrócie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LLM Router — AI Gateway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77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8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Open-source (Apache 2.0) warstwa pośrednicząca: aplikacja ↔ dostawca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79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0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LLM Router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81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82" name="TextBox 7"/>
          <p:cNvSpPr/>
          <p:nvPr/>
        </p:nvSpPr>
        <p:spPr>
          <a:xfrm>
            <a:off x="768240" y="1828800"/>
            <a:ext cx="5394600" cy="12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jeden endpoint dla wielu providerów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load balancing + health checks + streaming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maskowanie / anonimizacja PII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guardrails (treści zabronione)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383" name="TextBox 8"/>
          <p:cNvSpPr/>
          <p:nvPr/>
        </p:nvSpPr>
        <p:spPr>
          <a:xfrm>
            <a:off x="6400800" y="1783080"/>
            <a:ext cx="5028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Ekosystem (repozytoria):</a:t>
            </a:r>
            <a:endParaRPr b="0" lang="pl-PL" sz="1400" spc="-1" strike="noStrike">
              <a:latin typeface="Arial"/>
            </a:endParaRPr>
          </a:p>
        </p:txBody>
      </p:sp>
      <p:graphicFrame>
        <p:nvGraphicFramePr>
          <p:cNvPr id="384" name="Table 9"/>
          <p:cNvGraphicFramePr/>
          <p:nvPr/>
        </p:nvGraphicFramePr>
        <p:xfrm>
          <a:off x="6400800" y="2148840"/>
          <a:ext cx="5028840" cy="268812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</a:tblGrid>
              <a:tr h="383760"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83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385" name="Rounded Rectangle 10"/>
          <p:cNvSpPr/>
          <p:nvPr/>
        </p:nvSpPr>
        <p:spPr>
          <a:xfrm>
            <a:off x="768240" y="3931920"/>
            <a:ext cx="5394600" cy="8636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6" name="TextBox 11"/>
          <p:cNvSpPr/>
          <p:nvPr/>
        </p:nvSpPr>
        <p:spPr>
          <a:xfrm>
            <a:off x="1911960" y="4014360"/>
            <a:ext cx="31071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</a:rPr>
              <a:t>Request → MaskerPipeline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</a:rPr>
              <a:t>GuardrailPipeline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</a:rPr>
              <a:t>UtilsPipeline → Model Provider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87" name="Rounded Rectangle 12"/>
          <p:cNvSpPr/>
          <p:nvPr/>
        </p:nvSpPr>
        <p:spPr>
          <a:xfrm>
            <a:off x="768240" y="5074920"/>
            <a:ext cx="5394600" cy="731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Rectangle 13"/>
          <p:cNvSpPr/>
          <p:nvPr/>
        </p:nvSpPr>
        <p:spPr>
          <a:xfrm>
            <a:off x="768240" y="5074920"/>
            <a:ext cx="50400" cy="7311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9" name="TextBox 14"/>
          <p:cNvSpPr/>
          <p:nvPr/>
        </p:nvSpPr>
        <p:spPr>
          <a:xfrm>
            <a:off x="1024200" y="5139720"/>
            <a:ext cx="4937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Pluginy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fast_masker (regex, 30+ typów PII) · pii_masker (transformer) · nask_guard / sojka_guard · RAG, semantic routing.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Automatyczne labelowanie — genai-classifier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91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2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CLI z llm-router-utils: JSONL bez etykiet → JSONL z polem labels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93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5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6" name="Rounded Rectangle 7"/>
          <p:cNvSpPr/>
          <p:nvPr/>
        </p:nvSpPr>
        <p:spPr>
          <a:xfrm>
            <a:off x="768240" y="1828800"/>
            <a:ext cx="5851800" cy="20296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TextBox 8"/>
          <p:cNvSpPr/>
          <p:nvPr/>
        </p:nvSpPr>
        <p:spPr>
          <a:xfrm>
            <a:off x="1703160" y="1911240"/>
            <a:ext cx="398196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genai-classifier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--dataset-dir=resources/.../twitteremo/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--prompts-dir=.../classifier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--output-dir=.../genailabelled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--llm-router-url=http://localhost:8080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--temperature=0.0 --num-workers=2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--n-sample=0 --text-column-name=tekst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398" name="TextBox 9"/>
          <p:cNvSpPr/>
          <p:nvPr/>
        </p:nvSpPr>
        <p:spPr>
          <a:xfrm>
            <a:off x="6446520" y="1783080"/>
            <a:ext cx="4937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Jak działa: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99" name="TextBox 10"/>
          <p:cNvSpPr/>
          <p:nvPr/>
        </p:nvSpPr>
        <p:spPr>
          <a:xfrm>
            <a:off x="6446520" y="2148840"/>
            <a:ext cx="493740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buduje prompt dla każdego przykładu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wysyła do LLM przez router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parsuje wynik (klasa + confidence + reason)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batch processing, wielowątkowość, retry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00" name="Rounded Rectangle 11"/>
          <p:cNvSpPr/>
          <p:nvPr/>
        </p:nvSpPr>
        <p:spPr>
          <a:xfrm>
            <a:off x="768240" y="4343400"/>
            <a:ext cx="10652400" cy="1096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1" name="Rectangle 12"/>
          <p:cNvSpPr/>
          <p:nvPr/>
        </p:nvSpPr>
        <p:spPr>
          <a:xfrm>
            <a:off x="768240" y="4343400"/>
            <a:ext cx="50400" cy="109692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TextBox 13"/>
          <p:cNvSpPr/>
          <p:nvPr/>
        </p:nvSpPr>
        <p:spPr>
          <a:xfrm>
            <a:off x="1024200" y="4590360"/>
            <a:ext cx="10195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Koszt / czas i dobre praktyki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Automatyczna augmentacja — genai-data-augmentation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04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CLI z llm-router-utils: wybór klasy → nowe warianty zachowujące etykietę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06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7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8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9" name="Rounded Rectangle 7"/>
          <p:cNvSpPr/>
          <p:nvPr/>
        </p:nvSpPr>
        <p:spPr>
          <a:xfrm>
            <a:off x="768240" y="1828800"/>
            <a:ext cx="5851800" cy="20296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0" name="TextBox 8"/>
          <p:cNvSpPr/>
          <p:nvPr/>
        </p:nvSpPr>
        <p:spPr>
          <a:xfrm>
            <a:off x="1835640" y="1911240"/>
            <a:ext cx="371664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genai-data-augmentation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--dataset-path=..._labels.jsonl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--labels=pozytywny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--prompt-file=.../augmentator.prompt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--n-sample=350 --n-examples=5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--samples-as-examples=2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</a:rPr>
              <a:t>--temperature=0.0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11" name="TextBox 9"/>
          <p:cNvSpPr/>
          <p:nvPr/>
        </p:nvSpPr>
        <p:spPr>
          <a:xfrm>
            <a:off x="6446520" y="1783080"/>
            <a:ext cx="49374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</a:rPr>
              <a:t>Przykład wyniku (1 input → 5 wariantów):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12" name="Rounded Rectangle 10"/>
          <p:cNvSpPr/>
          <p:nvPr/>
        </p:nvSpPr>
        <p:spPr>
          <a:xfrm>
            <a:off x="6446520" y="2194560"/>
            <a:ext cx="4937400" cy="13302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3" name="TextBox 11"/>
          <p:cNvSpPr/>
          <p:nvPr/>
        </p:nvSpPr>
        <p:spPr>
          <a:xfrm>
            <a:off x="7734960" y="2277000"/>
            <a:ext cx="236052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"tekst": "Super sprawa!",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"labels": ["pozytywny"],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"augmented": [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"Rzeczywiście świetne!",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</a:rPr>
              <a:t>"Podoba mi się!", ... ]</a:t>
            </a:r>
            <a:endParaRPr b="0" lang="pl-PL" sz="1100" spc="-1" strike="noStrike">
              <a:latin typeface="Arial"/>
            </a:endParaRPr>
          </a:p>
        </p:txBody>
      </p:sp>
      <p:sp>
        <p:nvSpPr>
          <p:cNvPr id="414" name="Rounded Rectangle 12"/>
          <p:cNvSpPr/>
          <p:nvPr/>
        </p:nvSpPr>
        <p:spPr>
          <a:xfrm>
            <a:off x="768240" y="4343400"/>
            <a:ext cx="10652400" cy="1096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Rectangle 13"/>
          <p:cNvSpPr/>
          <p:nvPr/>
        </p:nvSpPr>
        <p:spPr>
          <a:xfrm>
            <a:off x="768240" y="4343400"/>
            <a:ext cx="50400" cy="1096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6" name="TextBox 14"/>
          <p:cNvSpPr/>
          <p:nvPr/>
        </p:nvSpPr>
        <p:spPr>
          <a:xfrm>
            <a:off x="1024200" y="4590360"/>
            <a:ext cx="10195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Merge i strojenie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Trening klasyfikatora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18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9" name="TextBox 3"/>
          <p:cNvSpPr/>
          <p:nvPr/>
        </p:nvSpPr>
        <p:spPr>
          <a:xfrm>
            <a:off x="768240" y="1298520"/>
            <a:ext cx="10606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</a:rPr>
              <a:t>clarin-pl/twitteremo · 5k train / 500 valid · fine-tuning allegro/herbert-base-cased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20" name="Rectangle 4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1" name="TextBox 5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Technika · Uczenie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22" name="TextBox 6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768240" y="1828800"/>
            <a:ext cx="53946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3 warianty (postęp pipeline'u):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24" name="Rounded Rectangle 8"/>
          <p:cNvSpPr/>
          <p:nvPr/>
        </p:nvSpPr>
        <p:spPr>
          <a:xfrm>
            <a:off x="768240" y="2240280"/>
            <a:ext cx="5394600" cy="475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5" name="Rectangle 9"/>
          <p:cNvSpPr/>
          <p:nvPr/>
        </p:nvSpPr>
        <p:spPr>
          <a:xfrm>
            <a:off x="768240" y="2240280"/>
            <a:ext cx="50400" cy="4752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TextBox 10"/>
          <p:cNvSpPr/>
          <p:nvPr/>
        </p:nvSpPr>
        <p:spPr>
          <a:xfrm>
            <a:off x="996840" y="2383200"/>
            <a:ext cx="1462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</a:rPr>
              <a:t>Wariant 1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27" name="TextBox 11"/>
          <p:cNvSpPr/>
          <p:nvPr/>
        </p:nvSpPr>
        <p:spPr>
          <a:xfrm>
            <a:off x="2368440" y="2389680"/>
            <a:ext cx="3702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</a:rPr>
              <a:t>tylko dane manualne (5k) — baseline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28" name="Rounded Rectangle 12"/>
          <p:cNvSpPr/>
          <p:nvPr/>
        </p:nvSpPr>
        <p:spPr>
          <a:xfrm>
            <a:off x="768240" y="2807280"/>
            <a:ext cx="5394600" cy="475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Rectangle 13"/>
          <p:cNvSpPr/>
          <p:nvPr/>
        </p:nvSpPr>
        <p:spPr>
          <a:xfrm>
            <a:off x="768240" y="2807280"/>
            <a:ext cx="50400" cy="4752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0" name="TextBox 14"/>
          <p:cNvSpPr/>
          <p:nvPr/>
        </p:nvSpPr>
        <p:spPr>
          <a:xfrm>
            <a:off x="996840" y="2949840"/>
            <a:ext cx="1462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</a:rPr>
              <a:t>Wariant 2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1" name="TextBox 15"/>
          <p:cNvSpPr/>
          <p:nvPr/>
        </p:nvSpPr>
        <p:spPr>
          <a:xfrm>
            <a:off x="2368440" y="2956680"/>
            <a:ext cx="3702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</a:rPr>
              <a:t>manual + augmentacja (~1.7k, klasa pozytywny)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32" name="Rounded Rectangle 16"/>
          <p:cNvSpPr/>
          <p:nvPr/>
        </p:nvSpPr>
        <p:spPr>
          <a:xfrm>
            <a:off x="768240" y="3374280"/>
            <a:ext cx="5394600" cy="475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Rectangle 17"/>
          <p:cNvSpPr/>
          <p:nvPr/>
        </p:nvSpPr>
        <p:spPr>
          <a:xfrm>
            <a:off x="768240" y="3374280"/>
            <a:ext cx="50400" cy="47520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4" name="TextBox 18"/>
          <p:cNvSpPr/>
          <p:nvPr/>
        </p:nvSpPr>
        <p:spPr>
          <a:xfrm>
            <a:off x="996840" y="3516840"/>
            <a:ext cx="1462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</a:rPr>
              <a:t>Wariant 3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5" name="TextBox 19"/>
          <p:cNvSpPr/>
          <p:nvPr/>
        </p:nvSpPr>
        <p:spPr>
          <a:xfrm>
            <a:off x="2368440" y="3523680"/>
            <a:ext cx="3702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</a:rPr>
              <a:t>manual + augmentacja + HIL/AL (dump z Web App)</a:t>
            </a:r>
            <a:endParaRPr b="0" lang="pl-PL" sz="1150" spc="-1" strike="noStrike">
              <a:latin typeface="Arial"/>
            </a:endParaRPr>
          </a:p>
        </p:txBody>
      </p:sp>
      <p:graphicFrame>
        <p:nvGraphicFramePr>
          <p:cNvPr id="436" name="Table 20"/>
          <p:cNvGraphicFramePr/>
          <p:nvPr/>
        </p:nvGraphicFramePr>
        <p:xfrm>
          <a:off x="6446520" y="1828800"/>
          <a:ext cx="4937400" cy="292572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</a:tblGrid>
              <a:tr h="365760"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tIns="12600" bIns="126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7" name="Rounded Rectangle 21"/>
          <p:cNvSpPr/>
          <p:nvPr/>
        </p:nvSpPr>
        <p:spPr>
          <a:xfrm>
            <a:off x="768240" y="4434840"/>
            <a:ext cx="5394600" cy="10054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8" name="Rectangle 22"/>
          <p:cNvSpPr/>
          <p:nvPr/>
        </p:nvSpPr>
        <p:spPr>
          <a:xfrm>
            <a:off x="768240" y="4434840"/>
            <a:ext cx="50400" cy="100548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9" name="TextBox 23"/>
          <p:cNvSpPr/>
          <p:nvPr/>
        </p:nvSpPr>
        <p:spPr>
          <a:xfrm>
            <a:off x="1024200" y="4636080"/>
            <a:ext cx="49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HIL/AL — wybór etykiety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Dump z Web App: brak anotacji → predykcja modelu; 1 ręczna → użyta; &gt;1 → majority voting; remis → tie-breaker predykcją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1"/>
          <p:cNvSpPr/>
          <p:nvPr/>
        </p:nvSpPr>
        <p:spPr>
          <a:xfrm>
            <a:off x="768240" y="2240280"/>
            <a:ext cx="18284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</a:rPr>
              <a:t>04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441" name="Rectangle 2"/>
          <p:cNvSpPr/>
          <p:nvPr/>
        </p:nvSpPr>
        <p:spPr>
          <a:xfrm>
            <a:off x="768240" y="3246120"/>
            <a:ext cx="1828440" cy="50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2" name="TextBox 3"/>
          <p:cNvSpPr/>
          <p:nvPr/>
        </p:nvSpPr>
        <p:spPr>
          <a:xfrm>
            <a:off x="768240" y="3429000"/>
            <a:ext cx="104238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</a:rPr>
              <a:t>Podsumowanie i wnioski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443" name="TextBox 4"/>
          <p:cNvSpPr/>
          <p:nvPr/>
        </p:nvSpPr>
        <p:spPr>
          <a:xfrm>
            <a:off x="768240" y="4754880"/>
            <a:ext cx="73148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</a:rPr>
              <a:t>~6 min · ocena modelu i kierunki dalsze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Co zbudowaliśmy — kompletny pipeline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45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6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48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768240" y="1417320"/>
            <a:ext cx="5577480" cy="23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Przygotowanie datasetu (twitteremo 5k/500)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Labelowanie LLM (genai-classifier)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Augmentacja danych (~1.7k, klasa pozytywny)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Merge: 5k manual + ~1.7k augment ≈ 6.7k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Trening 3 wariantów (herbert-base-cased)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Web App: ocena + anotacja (Flask + SQLite)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</a:rPr>
              <a:t>HITL/AL: poprawki wracają do treningu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6583680" y="1371600"/>
            <a:ext cx="4845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Ocena po HIL/AL — Weights &amp; Biases: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51" name="TextBox 8"/>
          <p:cNvSpPr/>
          <p:nvPr/>
        </p:nvSpPr>
        <p:spPr>
          <a:xfrm>
            <a:off x="6583680" y="1783080"/>
            <a:ext cx="484596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Accuracy i Macro F1 (czułe na imbalance)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Confusion matrix — które klasy mylone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porównanie 3 wariantów na jednym wykresie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</a:rPr>
              <a:t>dane z Web App: kto i co poprawił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52" name="Rounded Rectangle 9"/>
          <p:cNvSpPr/>
          <p:nvPr/>
        </p:nvSpPr>
        <p:spPr>
          <a:xfrm>
            <a:off x="6583680" y="4069080"/>
            <a:ext cx="4845960" cy="868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Rectangle 10"/>
          <p:cNvSpPr/>
          <p:nvPr/>
        </p:nvSpPr>
        <p:spPr>
          <a:xfrm>
            <a:off x="6583680" y="4069080"/>
            <a:ext cx="50400" cy="868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TextBox 11"/>
          <p:cNvSpPr/>
          <p:nvPr/>
        </p:nvSpPr>
        <p:spPr>
          <a:xfrm>
            <a:off x="6839640" y="4305600"/>
            <a:ext cx="438876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</a:rPr>
              <a:t>Podgląd w real-time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Wyniki na żywo: dss2026.radlab.dev + Weights &amp; Biases.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Box 1"/>
          <p:cNvSpPr/>
          <p:nvPr/>
        </p:nvSpPr>
        <p:spPr>
          <a:xfrm>
            <a:off x="768240" y="420480"/>
            <a:ext cx="106066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</a:rPr>
              <a:t>Wnioski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56" name="Rectangle 2"/>
          <p:cNvSpPr/>
          <p:nvPr/>
        </p:nvSpPr>
        <p:spPr>
          <a:xfrm>
            <a:off x="768240" y="1170360"/>
            <a:ext cx="1371240" cy="43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7" name="Rectangle 3"/>
          <p:cNvSpPr/>
          <p:nvPr/>
        </p:nvSpPr>
        <p:spPr>
          <a:xfrm>
            <a:off x="0" y="6437520"/>
            <a:ext cx="12191400" cy="147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8" name="TextBox 4"/>
          <p:cNvSpPr/>
          <p:nvPr/>
        </p:nvSpPr>
        <p:spPr>
          <a:xfrm>
            <a:off x="768240" y="6473880"/>
            <a:ext cx="82292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9" name="TextBox 5"/>
          <p:cNvSpPr/>
          <p:nvPr/>
        </p:nvSpPr>
        <p:spPr>
          <a:xfrm>
            <a:off x="10607040" y="6473880"/>
            <a:ext cx="8226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</a:rPr>
              <a:t>27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0" name="Rounded Rectangle 6"/>
          <p:cNvSpPr/>
          <p:nvPr/>
        </p:nvSpPr>
        <p:spPr>
          <a:xfrm>
            <a:off x="768240" y="1417320"/>
            <a:ext cx="3428640" cy="3657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Rounded Rectangle 7"/>
          <p:cNvSpPr/>
          <p:nvPr/>
        </p:nvSpPr>
        <p:spPr>
          <a:xfrm>
            <a:off x="768240" y="1417320"/>
            <a:ext cx="3428640" cy="502560"/>
          </a:xfrm>
          <a:prstGeom prst="roundRect">
            <a:avLst>
              <a:gd name="adj" fmla="val 16667"/>
            </a:avLst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TextBox 8"/>
          <p:cNvSpPr/>
          <p:nvPr/>
        </p:nvSpPr>
        <p:spPr>
          <a:xfrm>
            <a:off x="768240" y="1490400"/>
            <a:ext cx="3428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Co zadziałało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63" name="TextBox 9"/>
          <p:cNvSpPr/>
          <p:nvPr/>
        </p:nvSpPr>
        <p:spPr>
          <a:xfrm>
            <a:off x="996840" y="2103120"/>
            <a:ext cx="3017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auto-labelowanie ~10×+ szybciej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augmentacja ↑ recall klasy pozytywny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Web App — szybki wgląd w błędy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HIL/AL — najtrudniejsze przykłady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64" name="Rounded Rectangle 10"/>
          <p:cNvSpPr/>
          <p:nvPr/>
        </p:nvSpPr>
        <p:spPr>
          <a:xfrm>
            <a:off x="4380120" y="1417320"/>
            <a:ext cx="3428640" cy="3657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5" name="Rounded Rectangle 11"/>
          <p:cNvSpPr/>
          <p:nvPr/>
        </p:nvSpPr>
        <p:spPr>
          <a:xfrm>
            <a:off x="4380120" y="1417320"/>
            <a:ext cx="3428640" cy="502560"/>
          </a:xfrm>
          <a:prstGeom prst="roundRect">
            <a:avLst>
              <a:gd name="adj" fmla="val 16667"/>
            </a:avLst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TextBox 12"/>
          <p:cNvSpPr/>
          <p:nvPr/>
        </p:nvSpPr>
        <p:spPr>
          <a:xfrm>
            <a:off x="4380120" y="1490400"/>
            <a:ext cx="3428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Na co uważać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67" name="TextBox 13"/>
          <p:cNvSpPr/>
          <p:nvPr/>
        </p:nvSpPr>
        <p:spPr>
          <a:xfrm>
            <a:off x="4608720" y="2103120"/>
            <a:ext cx="3017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augmentacja bez HIL może szkodzić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temperatura &gt;0 ryzykuje poprawność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tylko jedna klasa augmentowana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LLM może powielać bias danych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68" name="Rounded Rectangle 14"/>
          <p:cNvSpPr/>
          <p:nvPr/>
        </p:nvSpPr>
        <p:spPr>
          <a:xfrm>
            <a:off x="7992000" y="1417320"/>
            <a:ext cx="3428640" cy="3657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9" name="Rounded Rectangle 15"/>
          <p:cNvSpPr/>
          <p:nvPr/>
        </p:nvSpPr>
        <p:spPr>
          <a:xfrm>
            <a:off x="7992000" y="1417320"/>
            <a:ext cx="3428640" cy="50256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0" name="TextBox 16"/>
          <p:cNvSpPr/>
          <p:nvPr/>
        </p:nvSpPr>
        <p:spPr>
          <a:xfrm>
            <a:off x="7992000" y="1490400"/>
            <a:ext cx="3428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Co dalej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1" name="TextBox 17"/>
          <p:cNvSpPr/>
          <p:nvPr/>
        </p:nvSpPr>
        <p:spPr>
          <a:xfrm>
            <a:off x="8220600" y="2103120"/>
            <a:ext cx="3017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augmentacja wszystkich klas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multi-model routing zadaniowy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pipeline CI/CD dla datasetów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</a:rPr>
              <a:t>HIL/AL na strumieniu (online)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2" name="Rounded Rectangle 18"/>
          <p:cNvSpPr/>
          <p:nvPr/>
        </p:nvSpPr>
        <p:spPr>
          <a:xfrm>
            <a:off x="768240" y="5212080"/>
            <a:ext cx="10652400" cy="502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Rectangle 19"/>
          <p:cNvSpPr/>
          <p:nvPr/>
        </p:nvSpPr>
        <p:spPr>
          <a:xfrm>
            <a:off x="768240" y="5212080"/>
            <a:ext cx="50400" cy="502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TextBox 20"/>
          <p:cNvSpPr/>
          <p:nvPr/>
        </p:nvSpPr>
        <p:spPr>
          <a:xfrm>
            <a:off x="1024200" y="5377320"/>
            <a:ext cx="1019520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Kontrolowana augmentacja + Active Learning + Human in the Loop = bezpieczniejsza droga do lepszego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2606040"/>
            <a:ext cx="1828440" cy="630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2"/>
          <p:cNvSpPr/>
          <p:nvPr/>
        </p:nvSpPr>
        <p:spPr>
          <a:xfrm>
            <a:off x="768240" y="2788920"/>
            <a:ext cx="104238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Play"/>
              </a:rPr>
              <a:t>Dziękujemy!</a:t>
            </a:r>
            <a:endParaRPr b="0" lang="pl-PL" sz="5400" spc="-1" strike="noStrike">
              <a:latin typeface="Arial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768240" y="3977640"/>
            <a:ext cx="100580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c9e9f5"/>
                </a:solidFill>
                <a:latin typeface="Arial"/>
              </a:rPr>
              <a:t>Pytania i dyskusja — zachęcamy do anotacji na żywo.</a:t>
            </a:r>
            <a:endParaRPr b="0" lang="pl-PL" sz="2000" spc="-1" strike="noStrike">
              <a:latin typeface="Arial"/>
            </a:endParaRPr>
          </a:p>
        </p:txBody>
      </p:sp>
      <p:sp>
        <p:nvSpPr>
          <p:cNvPr id="478" name="TextBox 4"/>
          <p:cNvSpPr/>
          <p:nvPr/>
        </p:nvSpPr>
        <p:spPr>
          <a:xfrm>
            <a:off x="768240" y="4754880"/>
            <a:ext cx="100580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befe"/>
                </a:solidFill>
                <a:latin typeface="Arial"/>
              </a:rPr>
              <a:t>https://dss2026.radlab.dev/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79" name="TextBox 5"/>
          <p:cNvSpPr/>
          <p:nvPr/>
        </p:nvSpPr>
        <p:spPr>
          <a:xfrm>
            <a:off x="768240" y="5852160"/>
            <a:ext cx="73148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</a:rPr>
              <a:t>Radlab Developer Services · DSS 2026 AI Edition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pl-PL</dc:language>
  <cp:lastModifiedBy/>
  <dcterms:modified xsi:type="dcterms:W3CDTF">2026-06-17T21:40:16Z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