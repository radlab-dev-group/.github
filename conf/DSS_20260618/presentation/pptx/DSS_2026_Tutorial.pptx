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27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1828800" cy="63500"/>
          </a:xfrm>
          <a:prstGeom prst="rect">
            <a:avLst/>
          </a:prstGeom>
          <a:solidFill>
            <a:srgbClr val="00B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8096" y="86868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0BEFE"/>
                </a:solidFill>
                <a:latin typeface="Arial"/>
              </a:rPr>
              <a:t>DSS 2026  ·  AI EDITION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2514600"/>
            <a:ext cx="104241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0" i="0">
                <a:solidFill>
                  <a:srgbClr val="FFFFFF"/>
                </a:solidFill>
                <a:latin typeface="Play"/>
              </a:rPr>
              <a:t>Augmentacja danych z LLM,</a:t>
            </a:r>
          </a:p>
          <a:p>
            <a:pPr algn="l">
              <a:lnSpc>
                <a:spcPct val="105000"/>
              </a:lnSpc>
            </a:pPr>
            <a:r>
              <a:rPr sz="4600" b="0" i="0">
                <a:solidFill>
                  <a:srgbClr val="FFFFFF"/>
                </a:solidFill>
                <a:latin typeface="Play"/>
              </a:rPr>
              <a:t>HITL i Active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434340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C9E9F5"/>
                </a:solidFill>
                <a:latin typeface="Arial"/>
              </a:rPr>
              <a:t>Od teorii do praktyki — kompletny proces wytwarzania modeli klasyfikacyjnych z wykorzystaniem lokalnych modeli generatywnych.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56235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0BEFE"/>
                </a:solidFill>
                <a:latin typeface="Arial"/>
              </a:rPr>
              <a:t>Radlab Developer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B6478"/>
                </a:solidFill>
                <a:latin typeface="Arial"/>
              </a:rPr>
              <a:t>Tutorial · ~60 min prezentacji + sesja pytań · interaktywna sesja anotacyjna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42062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1B0532"/>
                </a:solidFill>
                <a:latin typeface="Play"/>
              </a:rPr>
              <a:t>Agenda tutorialu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371600" cy="44450"/>
          </a:xfrm>
          <a:prstGeom prst="rect">
            <a:avLst/>
          </a:prstGeom>
          <a:solidFill>
            <a:srgbClr val="00B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37376"/>
            <a:ext cx="12191695" cy="15240"/>
          </a:xfrm>
          <a:prstGeom prst="rect">
            <a:avLst/>
          </a:prstGeom>
          <a:solidFill>
            <a:srgbClr val="F2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6473952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478"/>
                </a:solidFill>
                <a:latin typeface="Arial"/>
              </a:rPr>
              <a:t>DSS 2026 AI Edition  ·  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73952"/>
            <a:ext cx="822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6478"/>
                </a:solidFill>
                <a:latin typeface="Arial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" y="1417320"/>
            <a:ext cx="10607040" cy="786384"/>
          </a:xfrm>
          <a:prstGeom prst="roundRect">
            <a:avLst/>
          </a:prstGeom>
          <a:solidFill>
            <a:srgbClr val="F2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50976" y="1581912"/>
            <a:ext cx="457200" cy="457200"/>
          </a:xfrm>
          <a:prstGeom prst="ellipse">
            <a:avLst/>
          </a:prstGeom>
          <a:solidFill>
            <a:srgbClr val="8B1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1600200"/>
            <a:ext cx="457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36776" y="150876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B0532"/>
                </a:solidFill>
                <a:latin typeface="Arial"/>
              </a:rPr>
              <a:t>Wstęp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36776" y="1837944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6B6478"/>
                </a:solidFill>
                <a:latin typeface="Arial"/>
              </a:rPr>
              <a:t>Czego dotyczy tutorial i jaka korzyść dla uczestników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46336" y="1417320"/>
            <a:ext cx="173736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 i="0">
                <a:solidFill>
                  <a:srgbClr val="8B19FE"/>
                </a:solidFill>
                <a:latin typeface="Arial"/>
              </a:rPr>
              <a:t>~2 min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" y="2350008"/>
            <a:ext cx="10607040" cy="786384"/>
          </a:xfrm>
          <a:prstGeom prst="roundRect">
            <a:avLst/>
          </a:prstGeom>
          <a:solidFill>
            <a:srgbClr val="F2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50976" y="2514600"/>
            <a:ext cx="457200" cy="457200"/>
          </a:xfrm>
          <a:prstGeom prst="ellipse">
            <a:avLst/>
          </a:prstGeom>
          <a:solidFill>
            <a:srgbClr val="00B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" y="2532888"/>
            <a:ext cx="457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36776" y="2441448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B0532"/>
                </a:solidFill>
                <a:latin typeface="Arial"/>
              </a:rPr>
              <a:t>Część teoretyczno-praktyczna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36776" y="2770632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6B6478"/>
                </a:solidFill>
                <a:latin typeface="Arial"/>
              </a:rPr>
              <a:t>Augmentacja, labelowanie, klasyfikacja vs generowanie, HITL + AL, pętla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46336" y="2350008"/>
            <a:ext cx="173736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 i="0">
                <a:solidFill>
                  <a:srgbClr val="00BEFE"/>
                </a:solidFill>
                <a:latin typeface="Arial"/>
              </a:rPr>
              <a:t>~25 min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6" y="3282696"/>
            <a:ext cx="10607040" cy="786384"/>
          </a:xfrm>
          <a:prstGeom prst="roundRect">
            <a:avLst/>
          </a:prstGeom>
          <a:solidFill>
            <a:srgbClr val="F2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50976" y="3447288"/>
            <a:ext cx="457200" cy="457200"/>
          </a:xfrm>
          <a:prstGeom prst="ellipse">
            <a:avLst/>
          </a:prstGeom>
          <a:solidFill>
            <a:srgbClr val="8B1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6" y="3465576"/>
            <a:ext cx="457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Play"/>
              </a:rPr>
              <a:t>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36776" y="3374136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B0532"/>
                </a:solidFill>
                <a:latin typeface="Arial"/>
              </a:rPr>
              <a:t>Anotacja na żywo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36776" y="3703320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6B6478"/>
                </a:solidFill>
                <a:latin typeface="Arial"/>
              </a:rPr>
              <a:t>Interaktywna sesja: dss2026.radlab.dev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46336" y="3282696"/>
            <a:ext cx="173736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 i="0">
                <a:solidFill>
                  <a:srgbClr val="8B19FE"/>
                </a:solidFill>
                <a:latin typeface="Arial"/>
              </a:rPr>
              <a:t>~5 min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8096" y="4215384"/>
            <a:ext cx="10607040" cy="786384"/>
          </a:xfrm>
          <a:prstGeom prst="roundRect">
            <a:avLst/>
          </a:prstGeom>
          <a:solidFill>
            <a:srgbClr val="F2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50976" y="4379976"/>
            <a:ext cx="457200" cy="457200"/>
          </a:xfrm>
          <a:prstGeom prst="ellipse">
            <a:avLst/>
          </a:prstGeom>
          <a:solidFill>
            <a:srgbClr val="00B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4398264"/>
            <a:ext cx="457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Play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36776" y="4306824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B0532"/>
                </a:solidFill>
                <a:latin typeface="Arial"/>
              </a:rPr>
              <a:t>Część techniczna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36776" y="463600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6B6478"/>
                </a:solidFill>
                <a:latin typeface="Arial"/>
              </a:rPr>
              <a:t>Sprzęt, vendorzy, LLM Router, labelowanie i augmentacja narzędziami, trening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46336" y="4215384"/>
            <a:ext cx="173736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 i="0">
                <a:solidFill>
                  <a:srgbClr val="00BEFE"/>
                </a:solidFill>
                <a:latin typeface="Arial"/>
              </a:rPr>
              <a:t>~22 min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68096" y="5148072"/>
            <a:ext cx="10607040" cy="786384"/>
          </a:xfrm>
          <a:prstGeom prst="roundRect">
            <a:avLst/>
          </a:prstGeom>
          <a:solidFill>
            <a:srgbClr val="F2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50976" y="5312664"/>
            <a:ext cx="457200" cy="457200"/>
          </a:xfrm>
          <a:prstGeom prst="ellipse">
            <a:avLst/>
          </a:prstGeom>
          <a:solidFill>
            <a:srgbClr val="8B1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0976" y="5330952"/>
            <a:ext cx="457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Play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36776" y="5239512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B0532"/>
                </a:solidFill>
                <a:latin typeface="Arial"/>
              </a:rPr>
              <a:t>Podsumowanie i wnioski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36776" y="5568696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6B6478"/>
                </a:solidFill>
                <a:latin typeface="Arial"/>
              </a:rPr>
              <a:t>Ocena modelu w W&amp;B, wnioski i kierunki dalsze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46336" y="5148072"/>
            <a:ext cx="173736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 i="0">
                <a:solidFill>
                  <a:srgbClr val="8B19FE"/>
                </a:solidFill>
                <a:latin typeface="Arial"/>
              </a:rPr>
              <a:t>~6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42062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1B0532"/>
                </a:solidFill>
                <a:latin typeface="Play"/>
              </a:rPr>
              <a:t>Po co ten tutorial?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371600" cy="44450"/>
          </a:xfrm>
          <a:prstGeom prst="rect">
            <a:avLst/>
          </a:prstGeom>
          <a:solidFill>
            <a:srgbClr val="00B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37376"/>
            <a:ext cx="12191695" cy="15240"/>
          </a:xfrm>
          <a:prstGeom prst="rect">
            <a:avLst/>
          </a:prstGeom>
          <a:solidFill>
            <a:srgbClr val="F2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6473952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478"/>
                </a:solidFill>
                <a:latin typeface="Arial"/>
              </a:rPr>
              <a:t>DSS 2026 AI Edition  ·  Wstęp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73952"/>
            <a:ext cx="822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6478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141732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1B0532"/>
                </a:solidFill>
                <a:latin typeface="Arial"/>
              </a:rPr>
              <a:t>Zaprezentujemy proces kontrolowanej augmentacji danych — od podstawowych pojęć po kompletny pipeline z udziałem człowieka w pętli (HITL) i Active Learningu (AL).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423160"/>
            <a:ext cx="54864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>
                <a:solidFill>
                  <a:srgbClr val="1B0532"/>
                </a:solidFill>
                <a:latin typeface="Arial"/>
              </a:rPr>
              <a:t>▸  Labelowanie — człowiek vs LLM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>
                <a:solidFill>
                  <a:srgbClr val="1B0532"/>
                </a:solidFill>
                <a:latin typeface="Arial"/>
              </a:rPr>
              <a:t>▸  Augmentacja — nowe przykłady treningowe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>
                <a:solidFill>
                  <a:srgbClr val="1B0532"/>
                </a:solidFill>
                <a:latin typeface="Arial"/>
              </a:rPr>
              <a:t>▸  Klasyfikacja — modele decyzyjne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>
                <a:solidFill>
                  <a:srgbClr val="1B0532"/>
                </a:solidFill>
                <a:latin typeface="Arial"/>
              </a:rPr>
              <a:t>▸  Generowanie — LLM tworzy dane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>
                <a:solidFill>
                  <a:srgbClr val="1B0532"/>
                </a:solidFill>
                <a:latin typeface="Arial"/>
              </a:rPr>
              <a:t>▸  HITL + AL — człowiek w pętli uczenia aktywnego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2423160"/>
            <a:ext cx="4846320" cy="2377440"/>
          </a:xfrm>
          <a:prstGeom prst="roundRect">
            <a:avLst/>
          </a:prstGeom>
          <a:solidFill>
            <a:srgbClr val="F2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0" y="2423160"/>
            <a:ext cx="50800" cy="2377440"/>
          </a:xfrm>
          <a:prstGeom prst="rect">
            <a:avLst/>
          </a:prstGeom>
          <a:solidFill>
            <a:srgbClr val="8B1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39712" y="2532888"/>
            <a:ext cx="438912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B0532"/>
                </a:solidFill>
                <a:latin typeface="Arial"/>
              </a:rPr>
              <a:t>◆  Cel i korzyść</a:t>
            </a:r>
          </a:p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B6478"/>
                </a:solidFill>
                <a:latin typeface="Arial"/>
              </a:rPr>
              <a:t>Skrócenie czasu wytwarzania modeli klasyfikacyjnych oraz wsparcie w sytuacjach, gdy trudno zorganizować reprezentatywny zespół anotatorów.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4983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6B6478"/>
                </a:solidFill>
                <a:latin typeface="Arial"/>
              </a:rPr>
              <a:t>W trakcie: 5-minutowa sesja anotacyjna z udziałem uczestników.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27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2240280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i="0">
                <a:solidFill>
                  <a:srgbClr val="8B19FE"/>
                </a:solidFill>
                <a:latin typeface="Play"/>
              </a:rPr>
              <a:t>01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3246120"/>
            <a:ext cx="1828800" cy="50800"/>
          </a:xfrm>
          <a:prstGeom prst="rect">
            <a:avLst/>
          </a:prstGeom>
          <a:solidFill>
            <a:srgbClr val="00B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29000"/>
            <a:ext cx="10424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0" i="0">
                <a:solidFill>
                  <a:srgbClr val="FFFFFF"/>
                </a:solidFill>
                <a:latin typeface="Play"/>
              </a:rPr>
              <a:t>Część teoretyczno-praktyczna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47548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00BEFE"/>
                </a:solidFill>
                <a:latin typeface="Arial"/>
              </a:rPr>
              <a:t>~25 min · podstawy pojęciowe i metoda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42062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1B0532"/>
                </a:solidFill>
                <a:latin typeface="Play"/>
              </a:rPr>
              <a:t>Augmentacja danych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371600" cy="44450"/>
          </a:xfrm>
          <a:prstGeom prst="rect">
            <a:avLst/>
          </a:prstGeom>
          <a:solidFill>
            <a:srgbClr val="00B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984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6B6478"/>
                </a:solidFill>
                <a:latin typeface="Arial"/>
              </a:rPr>
              <a:t>Tworzenie nowych przykładów treningowych na bazie istniejącego zbioru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15240"/>
          </a:xfrm>
          <a:prstGeom prst="rect">
            <a:avLst/>
          </a:prstGeom>
          <a:solidFill>
            <a:srgbClr val="F2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6473952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478"/>
                </a:solidFill>
                <a:latin typeface="Arial"/>
              </a:rPr>
              <a:t>DSS 2026 AI Edition  ·  Teoria · Augmentacja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73952"/>
            <a:ext cx="822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6478"/>
                </a:solidFill>
                <a:latin typeface="Arial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18288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0532"/>
                </a:solidFill>
                <a:latin typeface="Arial"/>
              </a:rPr>
              <a:t>Dobra augmentacja zapewnia, że przykłady: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28600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600">
                <a:solidFill>
                  <a:srgbClr val="1B0532"/>
                </a:solidFill>
                <a:latin typeface="Arial"/>
              </a:rPr>
              <a:t>▸  są zgodne z problemem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600">
                <a:solidFill>
                  <a:srgbClr val="1B0532"/>
                </a:solidFill>
                <a:latin typeface="Arial"/>
              </a:rPr>
              <a:t>▸  zachowują poprawną etykietę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600">
                <a:solidFill>
                  <a:srgbClr val="1B0532"/>
                </a:solidFill>
                <a:latin typeface="Arial"/>
              </a:rPr>
              <a:t>▸  zwiększają różnorodność zbioru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600">
                <a:solidFill>
                  <a:srgbClr val="1B0532"/>
                </a:solidFill>
                <a:latin typeface="Arial"/>
              </a:rPr>
              <a:t>▸  pomagają modelowi generalizować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600">
                <a:solidFill>
                  <a:srgbClr val="1B0532"/>
                </a:solidFill>
                <a:latin typeface="Arial"/>
              </a:rPr>
              <a:t>▸  uzupełniają klasy słabo reprezentowane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288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0532"/>
                </a:solidFill>
                <a:latin typeface="Arial"/>
              </a:rPr>
              <a:t>Metody dla tekstu: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8600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600">
                <a:solidFill>
                  <a:srgbClr val="1B0532"/>
                </a:solidFill>
                <a:latin typeface="Arial"/>
              </a:rPr>
              <a:t>▸  parafrazowanie przykładów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600">
                <a:solidFill>
                  <a:srgbClr val="1B0532"/>
                </a:solidFill>
                <a:latin typeface="Arial"/>
              </a:rPr>
              <a:t>▸  zmiana stylu / długości wypowiedzi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600">
                <a:solidFill>
                  <a:srgbClr val="1B0532"/>
                </a:solidFill>
                <a:latin typeface="Arial"/>
              </a:rPr>
              <a:t>▸  warianty formalne i nieformalne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600">
                <a:solidFill>
                  <a:srgbClr val="1B0532"/>
                </a:solidFill>
                <a:latin typeface="Arial"/>
              </a:rPr>
              <a:t>▸  literówki, slang, język potoczny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600">
                <a:solidFill>
                  <a:srgbClr val="1B0532"/>
                </a:solidFill>
                <a:latin typeface="Arial"/>
              </a:rPr>
              <a:t>▸  przykłady rzadkie i graniczne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" y="5074920"/>
            <a:ext cx="10652760" cy="868680"/>
          </a:xfrm>
          <a:prstGeom prst="roundRect">
            <a:avLst/>
          </a:prstGeom>
          <a:solidFill>
            <a:srgbClr val="F2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8096" y="5074920"/>
            <a:ext cx="50800" cy="868680"/>
          </a:xfrm>
          <a:prstGeom prst="rect">
            <a:avLst/>
          </a:prstGeom>
          <a:solidFill>
            <a:srgbClr val="00B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5184648"/>
            <a:ext cx="101955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B0532"/>
                </a:solidFill>
                <a:latin typeface="Arial"/>
              </a:rPr>
              <a:t>▸  Przykład (etykieta zachowana)</a:t>
            </a:r>
          </a:p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B6478"/>
                </a:solidFill>
                <a:latin typeface="Arial"/>
              </a:rPr>
              <a:t>„Chcę zwrócić produkt…” [zwrot]  →  „Jak odesłać towar?” · „Czy da się zrobić zwrot?” — wszystkie warianty pozostają w tej samej klasie.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42062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1B0532"/>
                </a:solidFill>
                <a:latin typeface="Play"/>
              </a:rPr>
              <a:t>Labelowanie danych z wykorzystaniem LLM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371600" cy="44450"/>
          </a:xfrm>
          <a:prstGeom prst="rect">
            <a:avLst/>
          </a:prstGeom>
          <a:solidFill>
            <a:srgbClr val="00B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984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6B6478"/>
                </a:solidFill>
                <a:latin typeface="Arial"/>
              </a:rPr>
              <a:t>Przypisywanie etykiet przykładom — klasyczne (człowiek) vs wspierane LLM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15240"/>
          </a:xfrm>
          <a:prstGeom prst="rect">
            <a:avLst/>
          </a:prstGeom>
          <a:solidFill>
            <a:srgbClr val="F2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6473952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478"/>
                </a:solidFill>
                <a:latin typeface="Arial"/>
              </a:rPr>
              <a:t>DSS 2026 AI Edition  ·  Teoria · Labelowanie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73952"/>
            <a:ext cx="822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6478"/>
                </a:solidFill>
                <a:latin typeface="Arial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182880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0532"/>
                </a:solidFill>
                <a:latin typeface="Arial"/>
              </a:rPr>
              <a:t>Szczególnie przydatne, gdy: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28600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1B0532"/>
                </a:solidFill>
                <a:latin typeface="Arial"/>
              </a:rPr>
              <a:t>▸  mamy dużo nieoznaczonych danych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1B0532"/>
                </a:solidFill>
                <a:latin typeface="Arial"/>
              </a:rPr>
              <a:t>▸  chcemy szybko pierwszy zbiór treningowy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1B0532"/>
                </a:solidFill>
                <a:latin typeface="Arial"/>
              </a:rPr>
              <a:t>▸  potrzebne wstępne etykiety do eksperymentów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1B0532"/>
                </a:solidFill>
                <a:latin typeface="Arial"/>
              </a:rPr>
              <a:t>▸  chcemy ograniczyć koszt ręcznej anotacji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1B0532"/>
                </a:solidFill>
                <a:latin typeface="Arial"/>
              </a:rPr>
              <a:t>▸  klasy da się jasno zdefiniować w promptach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828800"/>
            <a:ext cx="5029200" cy="1554480"/>
          </a:xfrm>
          <a:prstGeom prst="roundRect">
            <a:avLst/>
          </a:prstGeom>
          <a:solidFill>
            <a:srgbClr val="F2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828800"/>
            <a:ext cx="50800" cy="1554480"/>
          </a:xfrm>
          <a:prstGeom prst="rect">
            <a:avLst/>
          </a:prstGeom>
          <a:solidFill>
            <a:srgbClr val="C9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938528"/>
            <a:ext cx="4572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B0532"/>
                </a:solidFill>
                <a:latin typeface="Arial"/>
              </a:rPr>
              <a:t>⚠  Uwaga</a:t>
            </a:r>
          </a:p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B6478"/>
                </a:solidFill>
                <a:latin typeface="Arial"/>
              </a:rPr>
              <a:t>Etykiety LLM to tylko propozycje. Model myli się przy ironii, niejednoznaczności, braku kontekstu i slangu.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3566160"/>
            <a:ext cx="5029200" cy="1508760"/>
          </a:xfrm>
          <a:prstGeom prst="roundRect">
            <a:avLst/>
          </a:prstGeom>
          <a:solidFill>
            <a:srgbClr val="F2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3566160"/>
            <a:ext cx="50800" cy="1508760"/>
          </a:xfrm>
          <a:prstGeom prst="rect">
            <a:avLst/>
          </a:prstGeom>
          <a:solidFill>
            <a:srgbClr val="1F9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56832" y="3675888"/>
            <a:ext cx="457200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B0532"/>
                </a:solidFill>
                <a:latin typeface="Arial"/>
              </a:rPr>
              <a:t>✓  Zasada</a:t>
            </a:r>
          </a:p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B6478"/>
                </a:solidFill>
                <a:latin typeface="Arial"/>
              </a:rPr>
              <a:t>LLM nie zastępuje człowieka — przyspiesza etykietowanie. Człowiek kontroluje jakość, poprawia błędy i rozstrzyga trudne przypadki.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42062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1B0532"/>
                </a:solidFill>
                <a:latin typeface="Play"/>
              </a:rPr>
              <a:t>Klasyfikacja vs generowanie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371600" cy="44450"/>
          </a:xfrm>
          <a:prstGeom prst="rect">
            <a:avLst/>
          </a:prstGeom>
          <a:solidFill>
            <a:srgbClr val="00B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37376"/>
            <a:ext cx="12191695" cy="15240"/>
          </a:xfrm>
          <a:prstGeom prst="rect">
            <a:avLst/>
          </a:prstGeom>
          <a:solidFill>
            <a:srgbClr val="F2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6473952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478"/>
                </a:solidFill>
                <a:latin typeface="Arial"/>
              </a:rPr>
              <a:t>DSS 2026 AI Edition  ·  Teoria · Modele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73952"/>
            <a:ext cx="822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6478"/>
                </a:solidFill>
                <a:latin typeface="Arial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" y="1417320"/>
            <a:ext cx="5257800" cy="3566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B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68096" y="1417320"/>
            <a:ext cx="5257800" cy="548640"/>
          </a:xfrm>
          <a:prstGeom prst="roundRect">
            <a:avLst/>
          </a:prstGeom>
          <a:solidFill>
            <a:srgbClr val="04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472184"/>
            <a:ext cx="5257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0BEFE"/>
                </a:solidFill>
                <a:latin typeface="Arial"/>
              </a:rPr>
              <a:t>MODEL KLASYFIKACYJNY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" y="2148840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B19FE"/>
                </a:solidFill>
                <a:latin typeface="Arial"/>
              </a:rPr>
              <a:t>Wejście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68296" y="214884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1B0532"/>
                </a:solidFill>
                <a:latin typeface="Arial"/>
              </a:rPr>
              <a:t>„Nie mogę zalogować się do konta”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" y="2679192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B19FE"/>
                </a:solidFill>
                <a:latin typeface="Arial"/>
              </a:rPr>
              <a:t>Wyjście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68296" y="2679192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1B0532"/>
                </a:solidFill>
                <a:latin typeface="Arial"/>
              </a:rPr>
              <a:t>klasa: problem_logowania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209544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B19FE"/>
                </a:solidFill>
                <a:latin typeface="Arial"/>
              </a:rPr>
              <a:t>Dodatkowo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68296" y="3209544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1B0532"/>
                </a:solidFill>
                <a:latin typeface="Arial"/>
              </a:rPr>
              <a:t>prawdopodobieństwa klas + thresholdy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6696" y="3739896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B19FE"/>
                </a:solidFill>
                <a:latin typeface="Arial"/>
              </a:rPr>
              <a:t>Pytanie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68296" y="3739896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1B0532"/>
                </a:solidFill>
                <a:latin typeface="Arial"/>
              </a:rPr>
              <a:t>Do której kategorii należy przykład?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6" y="4270248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B19FE"/>
                </a:solidFill>
                <a:latin typeface="Arial"/>
              </a:rPr>
              <a:t>Zalety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68296" y="4270248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1B0532"/>
                </a:solidFill>
                <a:latin typeface="Arial"/>
              </a:rPr>
              <a:t>szybki, tani, łatwy do wdrożenia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1417320"/>
            <a:ext cx="5257800" cy="3566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B19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0" y="1417320"/>
            <a:ext cx="5257800" cy="548640"/>
          </a:xfrm>
          <a:prstGeom prst="roundRect">
            <a:avLst/>
          </a:prstGeom>
          <a:solidFill>
            <a:srgbClr val="04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1472184"/>
            <a:ext cx="5257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0BEFE"/>
                </a:solidFill>
                <a:latin typeface="Arial"/>
              </a:rPr>
              <a:t>MODEL GENERATYWNY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148840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B19FE"/>
                </a:solidFill>
                <a:latin typeface="Arial"/>
              </a:rPr>
              <a:t>Wejście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0" y="214884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1B0532"/>
                </a:solidFill>
                <a:latin typeface="Arial"/>
              </a:rPr>
              <a:t>prompt: „Wygeneruj alternatywy zdania”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2679192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B19FE"/>
                </a:solidFill>
                <a:latin typeface="Arial"/>
              </a:rPr>
              <a:t>Wyjście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0" y="2679192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1B0532"/>
                </a:solidFill>
                <a:latin typeface="Arial"/>
              </a:rPr>
              <a:t>nowe teksty (warianty)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3209544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B19FE"/>
                </a:solidFill>
                <a:latin typeface="Arial"/>
              </a:rPr>
              <a:t>Rola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3209544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1B0532"/>
                </a:solidFill>
                <a:latin typeface="Arial"/>
              </a:rPr>
              <a:t>pomocnicza — przygotowuje dane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739896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B19FE"/>
                </a:solidFill>
                <a:latin typeface="Arial"/>
              </a:rPr>
              <a:t>Pytanie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0" y="3739896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1B0532"/>
                </a:solidFill>
                <a:latin typeface="Arial"/>
              </a:rPr>
              <a:t>Co można wygenerować z kontekstu?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4270248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B19FE"/>
                </a:solidFill>
                <a:latin typeface="Arial"/>
              </a:rPr>
              <a:t>Uwaga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01000" y="4270248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1B0532"/>
                </a:solidFill>
                <a:latin typeface="Arial"/>
              </a:rPr>
              <a:t>nie jest modelem docelowym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8096" y="5120640"/>
            <a:ext cx="10652760" cy="594360"/>
          </a:xfrm>
          <a:prstGeom prst="roundRect">
            <a:avLst/>
          </a:prstGeom>
          <a:solidFill>
            <a:srgbClr val="F2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68096" y="5120640"/>
            <a:ext cx="50800" cy="594360"/>
          </a:xfrm>
          <a:prstGeom prst="rect">
            <a:avLst/>
          </a:prstGeom>
          <a:solidFill>
            <a:srgbClr val="00B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4128" y="5230368"/>
            <a:ext cx="101955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B6478"/>
                </a:solidFill>
                <a:latin typeface="Arial"/>
              </a:rPr>
              <a:t>LLM generatywny przygotowuje dane → model klasyfikacyjny uczy się na nich podejmować decyzje.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42062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1B0532"/>
                </a:solidFill>
                <a:latin typeface="Play"/>
              </a:rPr>
              <a:t>Active Learning (AL)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371600" cy="44450"/>
          </a:xfrm>
          <a:prstGeom prst="rect">
            <a:avLst/>
          </a:prstGeom>
          <a:solidFill>
            <a:srgbClr val="00B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984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6B6478"/>
                </a:solidFill>
                <a:latin typeface="Arial"/>
              </a:rPr>
              <a:t>Pętla zwrotna: zamiast losowo, wybieramy najbardziej informacyjne przykłady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15240"/>
          </a:xfrm>
          <a:prstGeom prst="rect">
            <a:avLst/>
          </a:prstGeom>
          <a:solidFill>
            <a:srgbClr val="F2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6473952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478"/>
                </a:solidFill>
                <a:latin typeface="Arial"/>
              </a:rPr>
              <a:t>DSS 2026 AI Edition  ·  Teoria · Active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73952"/>
            <a:ext cx="822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6478"/>
                </a:solidFill>
                <a:latin typeface="Arial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182880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0532"/>
                </a:solidFill>
                <a:latin typeface="Arial"/>
              </a:rPr>
              <a:t>AL wybiera przykłady, dla których model: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286000"/>
            <a:ext cx="5486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1B0532"/>
                </a:solidFill>
                <a:latin typeface="Arial"/>
              </a:rPr>
              <a:t>▸  ma niską pewność predykcji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1B0532"/>
                </a:solidFill>
                <a:latin typeface="Arial"/>
              </a:rPr>
              <a:t>▸  myli się między podobnymi klasami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1B0532"/>
                </a:solidFill>
                <a:latin typeface="Arial"/>
              </a:rPr>
              <a:t>▸  daje wysokie p-stwo dla kilku klas naraz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1B0532"/>
                </a:solidFill>
                <a:latin typeface="Arial"/>
              </a:rPr>
              <a:t>▸  jest niezgodny z inną regułą / modelem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1B0532"/>
                </a:solidFill>
                <a:latin typeface="Arial"/>
              </a:rPr>
              <a:t>▸  reprezentuje rzadką / problematyczną część danych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46520" y="1828800"/>
            <a:ext cx="4983480" cy="2103120"/>
          </a:xfrm>
          <a:prstGeom prst="roundRect">
            <a:avLst/>
          </a:prstGeom>
          <a:solidFill>
            <a:srgbClr val="F2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46520" y="1828800"/>
            <a:ext cx="50800" cy="2103120"/>
          </a:xfrm>
          <a:prstGeom prst="rect">
            <a:avLst/>
          </a:prstGeom>
          <a:solidFill>
            <a:srgbClr val="8B1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02552" y="1938528"/>
            <a:ext cx="4526280" cy="1920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B0532"/>
                </a:solidFill>
                <a:latin typeface="Arial"/>
              </a:rPr>
              <a:t>◎  Przykład trudnego przypadku</a:t>
            </a:r>
          </a:p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B6478"/>
                </a:solidFill>
                <a:latin typeface="Arial"/>
              </a:rPr>
              <a:t>„Nie dostałem produktu i chcę pieniądze z powrotem”
zwrot 0.42 · reklamacja 0.39 · status_dostawy 0.15
Trudny przykład — poprawne oznaczenie uczy rozróżniania klas granicznych.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42062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1B0532"/>
                </a:solidFill>
                <a:latin typeface="Play"/>
              </a:rPr>
              <a:t>Które dane warto augmentować?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371600" cy="44450"/>
          </a:xfrm>
          <a:prstGeom prst="rect">
            <a:avLst/>
          </a:prstGeom>
          <a:solidFill>
            <a:srgbClr val="00B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984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6B6478"/>
                </a:solidFill>
                <a:latin typeface="Arial"/>
              </a:rPr>
              <a:t>Nie zawsze cały zbiór po równo — liczebność klasy to nie wszystko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15240"/>
          </a:xfrm>
          <a:prstGeom prst="rect">
            <a:avLst/>
          </a:prstGeom>
          <a:solidFill>
            <a:srgbClr val="F2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6473952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478"/>
                </a:solidFill>
                <a:latin typeface="Arial"/>
              </a:rPr>
              <a:t>DSS 2026 AI Edition  ·  Teoria · Active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73952"/>
            <a:ext cx="822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6478"/>
                </a:solidFill>
                <a:latin typeface="Arial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1828800"/>
            <a:ext cx="5394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1B0532"/>
                </a:solidFill>
                <a:latin typeface="Arial"/>
              </a:rPr>
              <a:t>▸  klasy o najgorszych wynikach modelu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1B0532"/>
                </a:solidFill>
                <a:latin typeface="Arial"/>
              </a:rPr>
              <a:t>▸  przykłady z pogranicza kilku klas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1B0532"/>
                </a:solidFill>
                <a:latin typeface="Arial"/>
              </a:rPr>
              <a:t>▸  przypadki ważne biznesowo (wskazane przez człowieka)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1B0532"/>
                </a:solidFill>
                <a:latin typeface="Arial"/>
              </a:rPr>
              <a:t>▸  przykłady o niskiej pewności modelu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1B0532"/>
                </a:solidFill>
                <a:latin typeface="Arial"/>
              </a:rPr>
              <a:t>▸  nietypowe warianty językowe, slang, błędy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3736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0532"/>
                </a:solidFill>
                <a:latin typeface="Arial"/>
              </a:rPr>
              <a:t>Proces kontrolowany: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148840"/>
            <a:ext cx="5029200" cy="1796796"/>
          </a:xfrm>
          <a:prstGeom prst="roundRect">
            <a:avLst/>
          </a:prstGeom>
          <a:solidFill>
            <a:srgbClr val="110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2231136"/>
            <a:ext cx="4700016" cy="16322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</a:pPr>
            <a:r>
              <a:rPr sz="1250">
                <a:solidFill>
                  <a:srgbClr val="E8E6F0"/>
                </a:solidFill>
                <a:latin typeface="Consolas"/>
              </a:rPr>
              <a:t>1. Trenuj prosty klasyfikator</a:t>
            </a:r>
          </a:p>
          <a:p>
            <a:pPr>
              <a:lnSpc>
                <a:spcPct val="100000"/>
              </a:lnSpc>
            </a:pPr>
            <a:r>
              <a:rPr sz="1250">
                <a:solidFill>
                  <a:srgbClr val="E8E6F0"/>
                </a:solidFill>
                <a:latin typeface="Consolas"/>
              </a:rPr>
              <a:t>2. Sprawdź, gdzie się myli</a:t>
            </a:r>
          </a:p>
          <a:p>
            <a:pPr>
              <a:lnSpc>
                <a:spcPct val="100000"/>
              </a:lnSpc>
            </a:pPr>
            <a:r>
              <a:rPr sz="1250">
                <a:solidFill>
                  <a:srgbClr val="E8E6F0"/>
                </a:solidFill>
                <a:latin typeface="Consolas"/>
              </a:rPr>
              <a:t>3. Zidentyfikuj klasy problematyczne</a:t>
            </a:r>
          </a:p>
          <a:p>
            <a:pPr>
              <a:lnSpc>
                <a:spcPct val="100000"/>
              </a:lnSpc>
            </a:pPr>
            <a:r>
              <a:rPr sz="1250">
                <a:solidFill>
                  <a:srgbClr val="E8E6F0"/>
                </a:solidFill>
                <a:latin typeface="Consolas"/>
              </a:rPr>
              <a:t>4. Wygeneruj przykłady (LLM)</a:t>
            </a:r>
          </a:p>
          <a:p>
            <a:pPr>
              <a:lnSpc>
                <a:spcPct val="100000"/>
              </a:lnSpc>
            </a:pPr>
            <a:r>
              <a:rPr sz="1250">
                <a:solidFill>
                  <a:srgbClr val="E8E6F0"/>
                </a:solidFill>
                <a:latin typeface="Consolas"/>
              </a:rPr>
              <a:t>5. Walidacja (człowiek / reguły)</a:t>
            </a:r>
          </a:p>
          <a:p>
            <a:pPr>
              <a:lnSpc>
                <a:spcPct val="100000"/>
              </a:lnSpc>
            </a:pPr>
            <a:r>
              <a:rPr sz="1250">
                <a:solidFill>
                  <a:srgbClr val="E8E6F0"/>
                </a:solidFill>
                <a:latin typeface="Consolas"/>
              </a:rPr>
              <a:t>6. Trenuj ponownie</a:t>
            </a:r>
          </a:p>
          <a:p>
            <a:pPr>
              <a:lnSpc>
                <a:spcPct val="100000"/>
              </a:lnSpc>
            </a:pPr>
            <a:r>
              <a:rPr sz="1250">
                <a:solidFill>
                  <a:srgbClr val="E8E6F0"/>
                </a:solidFill>
                <a:latin typeface="Consolas"/>
              </a:rPr>
              <a:t>7. Porównaj wyniki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42062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1B0532"/>
                </a:solidFill>
                <a:latin typeface="Play"/>
              </a:rPr>
              <a:t>Human In The Loop (HITL)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371600" cy="44450"/>
          </a:xfrm>
          <a:prstGeom prst="rect">
            <a:avLst/>
          </a:prstGeom>
          <a:solidFill>
            <a:srgbClr val="00B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984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6B6478"/>
                </a:solidFill>
                <a:latin typeface="Arial"/>
              </a:rPr>
              <a:t>Człowiek jako świadoma część procesu uczenia i walidacji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15240"/>
          </a:xfrm>
          <a:prstGeom prst="rect">
            <a:avLst/>
          </a:prstGeom>
          <a:solidFill>
            <a:srgbClr val="F2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6473952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478"/>
                </a:solidFill>
                <a:latin typeface="Arial"/>
              </a:rPr>
              <a:t>DSS 2026 AI Edition  ·  Teoria · HITL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73952"/>
            <a:ext cx="822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6478"/>
                </a:solidFill>
                <a:latin typeface="Arial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" y="1828800"/>
            <a:ext cx="5029200" cy="1463040"/>
          </a:xfrm>
          <a:prstGeom prst="roundRect">
            <a:avLst/>
          </a:prstGeom>
          <a:solidFill>
            <a:srgbClr val="F2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8096" y="1828800"/>
            <a:ext cx="50800" cy="1463040"/>
          </a:xfrm>
          <a:prstGeom prst="rect">
            <a:avLst/>
          </a:prstGeom>
          <a:solidFill>
            <a:srgbClr val="00B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6" y="199339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B0532"/>
                </a:solidFill>
                <a:latin typeface="Arial"/>
              </a:rPr>
              <a:t>Definiuje reguły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" y="2423160"/>
            <a:ext cx="45720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B6478"/>
                </a:solidFill>
                <a:latin typeface="Arial"/>
              </a:rPr>
              <a:t>jakie klasy istnieją, co oznaczają, gdzie biegnie granica między nimi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828800"/>
            <a:ext cx="5029200" cy="1463040"/>
          </a:xfrm>
          <a:prstGeom prst="roundRect">
            <a:avLst/>
          </a:prstGeom>
          <a:solidFill>
            <a:srgbClr val="F2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828800"/>
            <a:ext cx="50800" cy="1463040"/>
          </a:xfrm>
          <a:prstGeom prst="rect">
            <a:avLst/>
          </a:prstGeom>
          <a:solidFill>
            <a:srgbClr val="00B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199339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B0532"/>
                </a:solidFill>
                <a:latin typeface="Arial"/>
              </a:rPr>
              <a:t>Sprawdza jakość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423160"/>
            <a:ext cx="45720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B6478"/>
                </a:solidFill>
                <a:latin typeface="Arial"/>
              </a:rPr>
              <a:t>czy przykład pasuje do etykiety, jest realistyczny, nie powiela oryginału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" y="3566160"/>
            <a:ext cx="5029200" cy="1463040"/>
          </a:xfrm>
          <a:prstGeom prst="roundRect">
            <a:avLst/>
          </a:prstGeom>
          <a:solidFill>
            <a:srgbClr val="F2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8096" y="3566160"/>
            <a:ext cx="50800" cy="1463040"/>
          </a:xfrm>
          <a:prstGeom prst="rect">
            <a:avLst/>
          </a:prstGeom>
          <a:solidFill>
            <a:srgbClr val="00B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6" y="373075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B0532"/>
                </a:solidFill>
                <a:latin typeface="Arial"/>
              </a:rPr>
              <a:t>Rozstrzyga niejasne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" y="4160520"/>
            <a:ext cx="45720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B6478"/>
                </a:solidFill>
                <a:latin typeface="Arial"/>
              </a:rPr>
              <a:t>spójne decyzje dla przypadków granicznych („koordynator”)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3566160"/>
            <a:ext cx="5029200" cy="1463040"/>
          </a:xfrm>
          <a:prstGeom prst="roundRect">
            <a:avLst/>
          </a:prstGeom>
          <a:solidFill>
            <a:srgbClr val="F2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0" y="3566160"/>
            <a:ext cx="50800" cy="1463040"/>
          </a:xfrm>
          <a:prstGeom prst="rect">
            <a:avLst/>
          </a:prstGeom>
          <a:solidFill>
            <a:srgbClr val="00B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0" y="373075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B0532"/>
                </a:solidFill>
                <a:latin typeface="Arial"/>
              </a:rPr>
              <a:t>Kontroluje uczenie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4160520"/>
            <a:ext cx="45720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B6478"/>
                </a:solidFill>
                <a:latin typeface="Arial"/>
              </a:rPr>
              <a:t>metryki, confusion matrix, klasy rzadkie, jakość języka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42062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1B0532"/>
                </a:solidFill>
                <a:latin typeface="Play"/>
              </a:rPr>
              <a:t>Pętla HITL z wykorzystaniem AL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371600" cy="44450"/>
          </a:xfrm>
          <a:prstGeom prst="rect">
            <a:avLst/>
          </a:prstGeom>
          <a:solidFill>
            <a:srgbClr val="00B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37376"/>
            <a:ext cx="12191695" cy="15240"/>
          </a:xfrm>
          <a:prstGeom prst="rect">
            <a:avLst/>
          </a:prstGeom>
          <a:solidFill>
            <a:srgbClr val="F2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6473952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478"/>
                </a:solidFill>
                <a:latin typeface="Arial"/>
              </a:rPr>
              <a:t>DSS 2026 AI Edition  ·  Teoria · Pętla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73952"/>
            <a:ext cx="822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6478"/>
                </a:solidFill>
                <a:latin typeface="Arial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" y="1417320"/>
            <a:ext cx="3383280" cy="1188720"/>
          </a:xfrm>
          <a:prstGeom prst="roundRect">
            <a:avLst/>
          </a:prstGeom>
          <a:solidFill>
            <a:srgbClr val="F2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68096" y="1417320"/>
            <a:ext cx="3383280" cy="457200"/>
          </a:xfrm>
          <a:prstGeom prst="roundRect">
            <a:avLst/>
          </a:prstGeom>
          <a:solidFill>
            <a:srgbClr val="00B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48132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Augmentacja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01168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1B0532"/>
                </a:solidFill>
                <a:latin typeface="Arial"/>
              </a:rPr>
              <a:t>Jak zwiększyć i urozmaicić zbiór?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1417320"/>
            <a:ext cx="3383280" cy="1188720"/>
          </a:xfrm>
          <a:prstGeom prst="roundRect">
            <a:avLst/>
          </a:prstGeom>
          <a:solidFill>
            <a:srgbClr val="F2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79976" y="1417320"/>
            <a:ext cx="3383280" cy="457200"/>
          </a:xfrm>
          <a:prstGeom prst="roundRect">
            <a:avLst/>
          </a:prstGeom>
          <a:solidFill>
            <a:srgbClr val="8B1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79976" y="148132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Active Learning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2856" y="201168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1B0532"/>
                </a:solidFill>
                <a:latin typeface="Arial"/>
              </a:rPr>
              <a:t>Które dane są warte uwagi?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91856" y="1417320"/>
            <a:ext cx="3383280" cy="1188720"/>
          </a:xfrm>
          <a:prstGeom prst="roundRect">
            <a:avLst/>
          </a:prstGeom>
          <a:solidFill>
            <a:srgbClr val="F2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991856" y="1417320"/>
            <a:ext cx="3383280" cy="457200"/>
          </a:xfrm>
          <a:prstGeom prst="roundRect">
            <a:avLst/>
          </a:prstGeom>
          <a:solidFill>
            <a:srgbClr val="00B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91856" y="148132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Human in the Loop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74736" y="201168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1B0532"/>
                </a:solidFill>
                <a:latin typeface="Arial"/>
              </a:rPr>
              <a:t>Jak utrzymać jakość i kontrolę?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301752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0532"/>
                </a:solidFill>
                <a:latin typeface="Arial"/>
              </a:rPr>
              <a:t>Przepływ: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8096" y="3474720"/>
            <a:ext cx="1207008" cy="640080"/>
          </a:xfrm>
          <a:prstGeom prst="roundRect">
            <a:avLst/>
          </a:prstGeom>
          <a:solidFill>
            <a:srgbClr val="04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" y="3474720"/>
            <a:ext cx="113385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Zbiór danych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56816" y="3474720"/>
            <a:ext cx="16459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00BEFE"/>
                </a:solidFill>
                <a:latin typeface="Arial"/>
              </a:rP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103120" y="3474720"/>
            <a:ext cx="1207008" cy="640080"/>
          </a:xfrm>
          <a:prstGeom prst="roundRect">
            <a:avLst/>
          </a:prstGeom>
          <a:solidFill>
            <a:srgbClr val="04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39696" y="3474720"/>
            <a:ext cx="113385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Trening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0" y="3474720"/>
            <a:ext cx="16459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00BEFE"/>
                </a:solidFill>
                <a:latin typeface="Arial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38144" y="3474720"/>
            <a:ext cx="1207008" cy="640080"/>
          </a:xfrm>
          <a:prstGeom prst="roundRect">
            <a:avLst/>
          </a:prstGeom>
          <a:solidFill>
            <a:srgbClr val="04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74720" y="3474720"/>
            <a:ext cx="113385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Analiza błędów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26864" y="3474720"/>
            <a:ext cx="16459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00BEFE"/>
                </a:solidFill>
                <a:latin typeface="Arial"/>
              </a:rPr>
              <a:t>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73168" y="3474720"/>
            <a:ext cx="1207008" cy="640080"/>
          </a:xfrm>
          <a:prstGeom prst="roundRect">
            <a:avLst/>
          </a:prstGeom>
          <a:solidFill>
            <a:srgbClr val="04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09744" y="3474720"/>
            <a:ext cx="113385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Wybór do augmentacji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61888" y="3474720"/>
            <a:ext cx="16459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00BEFE"/>
                </a:solidFill>
                <a:latin typeface="Arial"/>
              </a:rPr>
              <a:t>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08192" y="3474720"/>
            <a:ext cx="1207008" cy="640080"/>
          </a:xfrm>
          <a:prstGeom prst="roundRect">
            <a:avLst/>
          </a:prstGeom>
          <a:solidFill>
            <a:srgbClr val="04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44768" y="3474720"/>
            <a:ext cx="113385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Generowanie (LLM)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96912" y="3474720"/>
            <a:ext cx="16459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00BEFE"/>
                </a:solidFill>
                <a:latin typeface="Arial"/>
              </a:rPr>
              <a:t>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443216" y="3474720"/>
            <a:ext cx="1207008" cy="640080"/>
          </a:xfrm>
          <a:prstGeom prst="roundRect">
            <a:avLst/>
          </a:prstGeom>
          <a:solidFill>
            <a:srgbClr val="04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79792" y="3474720"/>
            <a:ext cx="113385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Walidacja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31936" y="3474720"/>
            <a:ext cx="16459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00BEFE"/>
                </a:solidFill>
                <a:latin typeface="Arial"/>
              </a:rPr>
              <a:t>›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778240" y="3474720"/>
            <a:ext cx="1207008" cy="640080"/>
          </a:xfrm>
          <a:prstGeom prst="roundRect">
            <a:avLst/>
          </a:prstGeom>
          <a:solidFill>
            <a:srgbClr val="04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814816" y="3474720"/>
            <a:ext cx="113385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Aktualizacja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3474720"/>
            <a:ext cx="16459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00BEFE"/>
                </a:solidFill>
                <a:latin typeface="Arial"/>
              </a:rPr>
              <a:t>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113264" y="3474720"/>
            <a:ext cx="1207008" cy="640080"/>
          </a:xfrm>
          <a:prstGeom prst="roundRect">
            <a:avLst/>
          </a:prstGeom>
          <a:solidFill>
            <a:srgbClr val="04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49840" y="3474720"/>
            <a:ext cx="113385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Ponowny trening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68096" y="4389120"/>
            <a:ext cx="10652760" cy="685800"/>
          </a:xfrm>
          <a:prstGeom prst="roundRect">
            <a:avLst/>
          </a:prstGeom>
          <a:solidFill>
            <a:srgbClr val="F2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68096" y="4389120"/>
            <a:ext cx="50800" cy="685800"/>
          </a:xfrm>
          <a:prstGeom prst="rect">
            <a:avLst/>
          </a:prstGeom>
          <a:solidFill>
            <a:srgbClr val="C9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24128" y="4498848"/>
            <a:ext cx="101955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B6478"/>
                </a:solidFill>
                <a:latin typeface="Arial"/>
              </a:rPr>
              <a:t>Bezpieczniejsza niż „weź dane → wygeneruj 10× więcej → trenuj”. Samo zwiększenie liczby przykładów nie gwarantuje poprawy — może nawet pogorszyć wynik.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27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68096" y="1554480"/>
            <a:ext cx="1828800" cy="50800"/>
          </a:xfrm>
          <a:prstGeom prst="rect">
            <a:avLst/>
          </a:prstGeom>
          <a:solidFill>
            <a:srgbClr val="00B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8096" y="173736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0" i="0">
                <a:solidFill>
                  <a:srgbClr val="FFFFFF"/>
                </a:solidFill>
                <a:latin typeface="Play"/>
              </a:rPr>
              <a:t>Interaktywna sesja anotacyjna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26974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C9E9F5"/>
                </a:solidFill>
                <a:latin typeface="Arial"/>
              </a:rPr>
              <a:t>Spróbuj sam — przekonaj się, jak trudno dokładnie oznaczać tekst bez kontekstu biznesowego.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8096" y="3566160"/>
            <a:ext cx="6400800" cy="1005840"/>
          </a:xfrm>
          <a:prstGeom prst="roundRect">
            <a:avLst/>
          </a:prstGeom>
          <a:solidFill>
            <a:srgbClr val="00B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37033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42733"/>
                </a:solidFill>
                <a:latin typeface="Arial"/>
              </a:rPr>
              <a:t>Link do sesji (~5 min):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4041648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42733"/>
                </a:solidFill>
                <a:latin typeface="Play"/>
              </a:rPr>
              <a:t>https://dss2026.radlab.dev/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512064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0BEFE"/>
                </a:solidFill>
                <a:latin typeface="Arial"/>
              </a:rPr>
              <a:t>Przeczytaj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548640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9E9F5"/>
                </a:solidFill>
                <a:latin typeface="Arial"/>
              </a:rPr>
              <a:t>każdy tweet uważnie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65576" y="512064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0BEFE"/>
                </a:solidFill>
                <a:latin typeface="Arial"/>
              </a:rPr>
              <a:t>Zastanów się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65576" y="548640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9E9F5"/>
                </a:solidFill>
                <a:latin typeface="Arial"/>
              </a:rPr>
              <a:t>jaka jest intencja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63056" y="512064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0BEFE"/>
                </a:solidFill>
                <a:latin typeface="Arial"/>
              </a:rPr>
              <a:t>Wybierz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63056" y="548640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9E9F5"/>
                </a:solidFill>
                <a:latin typeface="Arial"/>
              </a:rPr>
              <a:t>najlepszą klasę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0536" y="512064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0BEFE"/>
                </a:solidFill>
                <a:latin typeface="Arial"/>
              </a:rPr>
              <a:t>Zwróć uwagę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0536" y="548640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9E9F5"/>
                </a:solidFill>
                <a:latin typeface="Arial"/>
              </a:rPr>
              <a:t>na niuanse i kontekst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27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2240280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i="0">
                <a:solidFill>
                  <a:srgbClr val="8B19FE"/>
                </a:solidFill>
                <a:latin typeface="Play"/>
              </a:rPr>
              <a:t>03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3246120"/>
            <a:ext cx="1828800" cy="50800"/>
          </a:xfrm>
          <a:prstGeom prst="rect">
            <a:avLst/>
          </a:prstGeom>
          <a:solidFill>
            <a:srgbClr val="00B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29000"/>
            <a:ext cx="10424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0" i="0">
                <a:solidFill>
                  <a:srgbClr val="FFFFFF"/>
                </a:solidFill>
                <a:latin typeface="Play"/>
              </a:rPr>
              <a:t>Część techniczna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47548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00BEFE"/>
                </a:solidFill>
                <a:latin typeface="Arial"/>
              </a:rPr>
              <a:t>~22 min · od sprzętu po trening klasyfikatora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42062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1B0532"/>
                </a:solidFill>
                <a:latin typeface="Play"/>
              </a:rPr>
              <a:t>Wymagania sprzętowe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371600" cy="44450"/>
          </a:xfrm>
          <a:prstGeom prst="rect">
            <a:avLst/>
          </a:prstGeom>
          <a:solidFill>
            <a:srgbClr val="00B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37376"/>
            <a:ext cx="12191695" cy="15240"/>
          </a:xfrm>
          <a:prstGeom prst="rect">
            <a:avLst/>
          </a:prstGeom>
          <a:solidFill>
            <a:srgbClr val="F2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6473952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478"/>
                </a:solidFill>
                <a:latin typeface="Arial"/>
              </a:rPr>
              <a:t>DSS 2026 AI Edition  ·  Technika · Sprzęt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73952"/>
            <a:ext cx="822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6478"/>
                </a:solidFill>
                <a:latin typeface="Arial"/>
              </a:rPr>
              <a:t>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8096" y="1417320"/>
          <a:ext cx="1065276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/>
                <a:gridCol w="2011680"/>
                <a:gridCol w="2194560"/>
                <a:gridCol w="489204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00BEFE"/>
                          </a:solidFill>
                          <a:latin typeface="Arial"/>
                        </a:rPr>
                        <a:t>Komponent</a:t>
                      </a:r>
                    </a:p>
                  </a:txBody>
                  <a:tcPr marT="25400" marB="25400" marL="76200" marR="76200" anchor="ctr">
                    <a:solidFill>
                      <a:srgbClr val="0427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00BEFE"/>
                          </a:solidFill>
                          <a:latin typeface="Arial"/>
                        </a:rPr>
                        <a:t>Minimalne</a:t>
                      </a:r>
                    </a:p>
                  </a:txBody>
                  <a:tcPr marT="25400" marB="25400" marL="76200" marR="76200" anchor="ctr">
                    <a:solidFill>
                      <a:srgbClr val="0427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00BEFE"/>
                          </a:solidFill>
                          <a:latin typeface="Arial"/>
                        </a:rPr>
                        <a:t>Zalecane</a:t>
                      </a:r>
                    </a:p>
                  </a:txBody>
                  <a:tcPr marT="25400" marB="25400" marL="76200" marR="76200" anchor="ctr">
                    <a:solidFill>
                      <a:srgbClr val="0427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00BEFE"/>
                          </a:solidFill>
                          <a:latin typeface="Arial"/>
                        </a:rPr>
                        <a:t>Uwagi</a:t>
                      </a:r>
                    </a:p>
                  </a:txBody>
                  <a:tcPr marT="25400" marB="25400" marL="76200" marR="76200" anchor="ctr">
                    <a:solidFill>
                      <a:srgbClr val="0427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B0532"/>
                          </a:solidFill>
                          <a:latin typeface="Arial"/>
                        </a:rPr>
                        <a:t>CPU</a:t>
                      </a:r>
                    </a:p>
                  </a:txBody>
                  <a:tcPr marT="12700" marB="127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0532"/>
                          </a:solidFill>
                          <a:latin typeface="Arial"/>
                        </a:rPr>
                        <a:t>4 rdzenie</a:t>
                      </a:r>
                    </a:p>
                  </a:txBody>
                  <a:tcPr marT="12700" marB="127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0532"/>
                          </a:solidFill>
                          <a:latin typeface="Arial"/>
                        </a:rPr>
                        <a:t>8+ rdzeni</a:t>
                      </a:r>
                    </a:p>
                  </a:txBody>
                  <a:tcPr marT="12700" marB="127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0532"/>
                          </a:solidFill>
                          <a:latin typeface="Arial"/>
                        </a:rPr>
                        <a:t>batch wielowątkowy: więcej rdzeni = szybciej</a:t>
                      </a:r>
                    </a:p>
                  </a:txBody>
                  <a:tcPr marT="12700" marB="12700" marL="76200" marR="762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B0532"/>
                          </a:solidFill>
                          <a:latin typeface="Arial"/>
                        </a:rPr>
                        <a:t>RAM</a:t>
                      </a:r>
                    </a:p>
                  </a:txBody>
                  <a:tcPr marT="12700" marB="12700" marL="76200" marR="76200" anchor="ctr">
                    <a:solidFill>
                      <a:srgbClr val="F2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0532"/>
                          </a:solidFill>
                          <a:latin typeface="Arial"/>
                        </a:rPr>
                        <a:t>16 GB</a:t>
                      </a:r>
                    </a:p>
                  </a:txBody>
                  <a:tcPr marT="12700" marB="12700" marL="76200" marR="76200" anchor="ctr">
                    <a:solidFill>
                      <a:srgbClr val="F2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0532"/>
                          </a:solidFill>
                          <a:latin typeface="Arial"/>
                        </a:rPr>
                        <a:t>32–128 GB+</a:t>
                      </a:r>
                    </a:p>
                  </a:txBody>
                  <a:tcPr marT="12700" marB="12700" marL="76200" marR="76200" anchor="ctr">
                    <a:solidFill>
                      <a:srgbClr val="F2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0532"/>
                          </a:solidFill>
                          <a:latin typeface="Arial"/>
                        </a:rPr>
                        <a:t>7B: 16GB · 70B: 64GB+ · 120B: 96GB+</a:t>
                      </a:r>
                    </a:p>
                  </a:txBody>
                  <a:tcPr marT="12700" marB="12700" marL="76200" marR="76200" anchor="ctr">
                    <a:solidFill>
                      <a:srgbClr val="F2F1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B0532"/>
                          </a:solidFill>
                          <a:latin typeface="Arial"/>
                        </a:rPr>
                        <a:t>Dysk</a:t>
                      </a:r>
                    </a:p>
                  </a:txBody>
                  <a:tcPr marT="12700" marB="127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0532"/>
                          </a:solidFill>
                          <a:latin typeface="Arial"/>
                        </a:rPr>
                        <a:t>50 GB</a:t>
                      </a:r>
                    </a:p>
                  </a:txBody>
                  <a:tcPr marT="12700" marB="127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0532"/>
                          </a:solidFill>
                          <a:latin typeface="Arial"/>
                        </a:rPr>
                        <a:t>250 GB+</a:t>
                      </a:r>
                    </a:p>
                  </a:txBody>
                  <a:tcPr marT="12700" marB="127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0532"/>
                          </a:solidFill>
                          <a:latin typeface="Arial"/>
                        </a:rPr>
                        <a:t>Bielik ~5GB · PLLuM ~40GB · gpt-oss ~65GB</a:t>
                      </a:r>
                    </a:p>
                  </a:txBody>
                  <a:tcPr marT="12700" marB="12700" marL="76200" marR="762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B0532"/>
                          </a:solidFill>
                          <a:latin typeface="Arial"/>
                        </a:rPr>
                        <a:t>GPU</a:t>
                      </a:r>
                    </a:p>
                  </a:txBody>
                  <a:tcPr marT="12700" marB="12700" marL="76200" marR="76200" anchor="ctr">
                    <a:solidFill>
                      <a:srgbClr val="F2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0532"/>
                          </a:solidFill>
                          <a:latin typeface="Arial"/>
                        </a:rPr>
                        <a:t>opcjonalne</a:t>
                      </a:r>
                    </a:p>
                  </a:txBody>
                  <a:tcPr marT="12700" marB="12700" marL="76200" marR="76200" anchor="ctr">
                    <a:solidFill>
                      <a:srgbClr val="F2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0532"/>
                          </a:solidFill>
                          <a:latin typeface="Arial"/>
                        </a:rPr>
                        <a:t>24–80 GB VRAM</a:t>
                      </a:r>
                    </a:p>
                  </a:txBody>
                  <a:tcPr marT="12700" marB="12700" marL="76200" marR="76200" anchor="ctr">
                    <a:solidFill>
                      <a:srgbClr val="F2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0532"/>
                          </a:solidFill>
                          <a:latin typeface="Arial"/>
                        </a:rPr>
                        <a:t>Bielik 8GB · PLLuM 48GB+ · gpt-oss 80GB</a:t>
                      </a:r>
                    </a:p>
                  </a:txBody>
                  <a:tcPr marT="12700" marB="12700" marL="76200" marR="76200" anchor="ctr">
                    <a:solidFill>
                      <a:srgbClr val="F2F1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B0532"/>
                          </a:solidFill>
                          <a:latin typeface="Arial"/>
                        </a:rPr>
                        <a:t>System</a:t>
                      </a:r>
                    </a:p>
                  </a:txBody>
                  <a:tcPr marT="12700" marB="127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0532"/>
                          </a:solidFill>
                          <a:latin typeface="Arial"/>
                        </a:rPr>
                        <a:t>Linux / macOS 13+</a:t>
                      </a:r>
                    </a:p>
                  </a:txBody>
                  <a:tcPr marT="12700" marB="127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0532"/>
                          </a:solidFill>
                          <a:latin typeface="Arial"/>
                        </a:rPr>
                        <a:t>Ubuntu 22.04+</a:t>
                      </a:r>
                    </a:p>
                  </a:txBody>
                  <a:tcPr marT="12700" marB="127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0532"/>
                          </a:solidFill>
                          <a:latin typeface="Arial"/>
                        </a:rPr>
                        <a:t>Linux docelowy; vLLM tylko Linux+NVIDIA</a:t>
                      </a:r>
                    </a:p>
                  </a:txBody>
                  <a:tcPr marT="12700" marB="127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68096" y="4480560"/>
            <a:ext cx="10652760" cy="685800"/>
          </a:xfrm>
          <a:prstGeom prst="roundRect">
            <a:avLst/>
          </a:prstGeom>
          <a:solidFill>
            <a:srgbClr val="F2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8096" y="4480560"/>
            <a:ext cx="50800" cy="685800"/>
          </a:xfrm>
          <a:prstGeom prst="rect">
            <a:avLst/>
          </a:prstGeom>
          <a:solidFill>
            <a:srgbClr val="00B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4590288"/>
            <a:ext cx="101955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B6478"/>
                </a:solidFill>
                <a:latin typeface="Arial"/>
              </a:rPr>
              <a:t>Wymagania zależą od modelu i vendora. Bez GPU używaj Ollama / llama.cpp (CPU-only). Python 3.10+ (zalecane 3.12+), izolowany venv, zależności z requirements.txt.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42062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1B0532"/>
                </a:solidFill>
                <a:latin typeface="Play"/>
              </a:rPr>
              <a:t>Lokalne silniki (vendorzy)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371600" cy="44450"/>
          </a:xfrm>
          <a:prstGeom prst="rect">
            <a:avLst/>
          </a:prstGeom>
          <a:solidFill>
            <a:srgbClr val="00B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984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6B6478"/>
                </a:solidFill>
                <a:latin typeface="Arial"/>
              </a:rPr>
              <a:t>Trzy sposoby serwowania modeli lokalnie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15240"/>
          </a:xfrm>
          <a:prstGeom prst="rect">
            <a:avLst/>
          </a:prstGeom>
          <a:solidFill>
            <a:srgbClr val="F2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6473952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478"/>
                </a:solidFill>
                <a:latin typeface="Arial"/>
              </a:rPr>
              <a:t>DSS 2026 AI Edition  ·  Technika · Vendorzy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73952"/>
            <a:ext cx="822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6478"/>
                </a:solidFill>
                <a:latin typeface="Arial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" y="1828800"/>
            <a:ext cx="10652760" cy="603504"/>
          </a:xfrm>
          <a:prstGeom prst="roundRect">
            <a:avLst/>
          </a:prstGeom>
          <a:solidFill>
            <a:srgbClr val="F2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1828800"/>
            <a:ext cx="1554480" cy="603504"/>
          </a:xfrm>
          <a:prstGeom prst="roundRect">
            <a:avLst/>
          </a:prstGeom>
          <a:solidFill>
            <a:srgbClr val="00B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9385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vLLM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51176" y="1828800"/>
            <a:ext cx="8595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1B0532"/>
                </a:solidFill>
                <a:latin typeface="Arial"/>
              </a:rPr>
              <a:t>wysokowydajny, GPU NVIDIA, tensor parallelism, multi-GPU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" y="2542032"/>
            <a:ext cx="10652760" cy="603504"/>
          </a:xfrm>
          <a:prstGeom prst="roundRect">
            <a:avLst/>
          </a:prstGeom>
          <a:solidFill>
            <a:srgbClr val="F2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8096" y="2542032"/>
            <a:ext cx="1554480" cy="603504"/>
          </a:xfrm>
          <a:prstGeom prst="roundRect">
            <a:avLst/>
          </a:prstGeom>
          <a:solidFill>
            <a:srgbClr val="8B1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2651760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Ollama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51176" y="2542032"/>
            <a:ext cx="8595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1B0532"/>
                </a:solidFill>
                <a:latin typeface="Arial"/>
              </a:rPr>
              <a:t>najprostszy, GGUF, NVIDIA/AMD/Apple/CPU, API :11434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" y="3255264"/>
            <a:ext cx="10652760" cy="603504"/>
          </a:xfrm>
          <a:prstGeom prst="roundRect">
            <a:avLst/>
          </a:prstGeom>
          <a:solidFill>
            <a:srgbClr val="F2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8096" y="3255264"/>
            <a:ext cx="1554480" cy="603504"/>
          </a:xfrm>
          <a:prstGeom prst="roundRect">
            <a:avLst/>
          </a:prstGeom>
          <a:solidFill>
            <a:srgbClr val="00B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364992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llama.cpp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51176" y="3255264"/>
            <a:ext cx="8595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1B0532"/>
                </a:solidFill>
                <a:latin typeface="Arial"/>
              </a:rPr>
              <a:t>lekki C/C++, GGUF, największa kontrola, najwięcej konfiguracji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768096" y="4206240"/>
          <a:ext cx="10652760" cy="19751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63240"/>
                <a:gridCol w="2468880"/>
                <a:gridCol w="2560320"/>
                <a:gridCol w="256032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00BEFE"/>
                          </a:solidFill>
                          <a:latin typeface="Arial"/>
                        </a:rPr>
                        <a:t>Cecha</a:t>
                      </a:r>
                    </a:p>
                  </a:txBody>
                  <a:tcPr marT="25400" marB="25400" marL="76200" marR="76200" anchor="ctr">
                    <a:solidFill>
                      <a:srgbClr val="0427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00BEFE"/>
                          </a:solidFill>
                          <a:latin typeface="Arial"/>
                        </a:rPr>
                        <a:t>vLLM</a:t>
                      </a:r>
                    </a:p>
                  </a:txBody>
                  <a:tcPr marT="25400" marB="25400" marL="76200" marR="76200" anchor="ctr">
                    <a:solidFill>
                      <a:srgbClr val="0427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00BEFE"/>
                          </a:solidFill>
                          <a:latin typeface="Arial"/>
                        </a:rPr>
                        <a:t>Ollama</a:t>
                      </a:r>
                    </a:p>
                  </a:txBody>
                  <a:tcPr marT="25400" marB="25400" marL="76200" marR="76200" anchor="ctr">
                    <a:solidFill>
                      <a:srgbClr val="0427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00BEFE"/>
                          </a:solidFill>
                          <a:latin typeface="Arial"/>
                        </a:rPr>
                        <a:t>llama.cpp</a:t>
                      </a:r>
                    </a:p>
                  </a:txBody>
                  <a:tcPr marT="25400" marB="25400" marL="76200" marR="76200" anchor="ctr">
                    <a:solidFill>
                      <a:srgbClr val="04273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0532"/>
                          </a:solidFill>
                          <a:latin typeface="Arial"/>
                        </a:rPr>
                        <a:t>GPU</a:t>
                      </a:r>
                    </a:p>
                  </a:txBody>
                  <a:tcPr marT="12700" marB="127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0532"/>
                          </a:solidFill>
                          <a:latin typeface="Arial"/>
                        </a:rPr>
                        <a:t>NVIDIA (CUDA)</a:t>
                      </a:r>
                    </a:p>
                  </a:txBody>
                  <a:tcPr marT="12700" marB="127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0532"/>
                          </a:solidFill>
                          <a:latin typeface="Arial"/>
                        </a:rPr>
                        <a:t>ROCm/Metal/CUDA</a:t>
                      </a:r>
                    </a:p>
                  </a:txBody>
                  <a:tcPr marT="12700" marB="127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0532"/>
                          </a:solidFill>
                          <a:latin typeface="Arial"/>
                        </a:rPr>
                        <a:t>CUDA/Metal/Vulkan</a:t>
                      </a:r>
                    </a:p>
                  </a:txBody>
                  <a:tcPr marT="12700" marB="12700" marL="76200" marR="762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0532"/>
                          </a:solidFill>
                          <a:latin typeface="Arial"/>
                        </a:rPr>
                        <a:t>CPU-only / macOS / Win</a:t>
                      </a:r>
                    </a:p>
                  </a:txBody>
                  <a:tcPr marT="12700" marB="12700" marL="76200" marR="76200" anchor="ctr">
                    <a:solidFill>
                      <a:srgbClr val="F2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0532"/>
                          </a:solidFill>
                          <a:latin typeface="Arial"/>
                        </a:rPr>
                        <a:t>✗ / ✗ / ✗</a:t>
                      </a:r>
                    </a:p>
                  </a:txBody>
                  <a:tcPr marT="12700" marB="12700" marL="76200" marR="76200" anchor="ctr">
                    <a:solidFill>
                      <a:srgbClr val="F2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0532"/>
                          </a:solidFill>
                          <a:latin typeface="Arial"/>
                        </a:rPr>
                        <a:t>✓ / ✓ / WSL2</a:t>
                      </a:r>
                    </a:p>
                  </a:txBody>
                  <a:tcPr marT="12700" marB="12700" marL="76200" marR="76200" anchor="ctr">
                    <a:solidFill>
                      <a:srgbClr val="F2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0532"/>
                          </a:solidFill>
                          <a:latin typeface="Arial"/>
                        </a:rPr>
                        <a:t>✓ / ✓ / ✓</a:t>
                      </a:r>
                    </a:p>
                  </a:txBody>
                  <a:tcPr marT="12700" marB="12700" marL="76200" marR="76200" anchor="ctr">
                    <a:solidFill>
                      <a:srgbClr val="F2F1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0532"/>
                          </a:solidFill>
                          <a:latin typeface="Arial"/>
                        </a:rPr>
                        <a:t>Łatwość konfiguracji</a:t>
                      </a:r>
                    </a:p>
                  </a:txBody>
                  <a:tcPr marT="12700" marB="127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0532"/>
                          </a:solidFill>
                          <a:latin typeface="Arial"/>
                        </a:rPr>
                        <a:t>średnia</a:t>
                      </a:r>
                    </a:p>
                  </a:txBody>
                  <a:tcPr marT="12700" marB="127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0532"/>
                          </a:solidFill>
                          <a:latin typeface="Arial"/>
                        </a:rPr>
                        <a:t>łatwa</a:t>
                      </a:r>
                    </a:p>
                  </a:txBody>
                  <a:tcPr marT="12700" marB="127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0532"/>
                          </a:solidFill>
                          <a:latin typeface="Arial"/>
                        </a:rPr>
                        <a:t>trudna</a:t>
                      </a:r>
                    </a:p>
                  </a:txBody>
                  <a:tcPr marT="12700" marB="12700" marL="76200" marR="762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0532"/>
                          </a:solidFill>
                          <a:latin typeface="Arial"/>
                        </a:rPr>
                        <a:t>Wydajność GPU / CPU</a:t>
                      </a:r>
                    </a:p>
                  </a:txBody>
                  <a:tcPr marT="12700" marB="12700" marL="76200" marR="76200" anchor="ctr">
                    <a:solidFill>
                      <a:srgbClr val="F2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0532"/>
                          </a:solidFill>
                          <a:latin typeface="Arial"/>
                        </a:rPr>
                        <a:t>b. wysoka / brak</a:t>
                      </a:r>
                    </a:p>
                  </a:txBody>
                  <a:tcPr marT="12700" marB="12700" marL="76200" marR="76200" anchor="ctr">
                    <a:solidFill>
                      <a:srgbClr val="F2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0532"/>
                          </a:solidFill>
                          <a:latin typeface="Arial"/>
                        </a:rPr>
                        <a:t>wysoka / dobra</a:t>
                      </a:r>
                    </a:p>
                  </a:txBody>
                  <a:tcPr marT="12700" marB="12700" marL="76200" marR="76200" anchor="ctr">
                    <a:solidFill>
                      <a:srgbClr val="F2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0532"/>
                          </a:solidFill>
                          <a:latin typeface="Arial"/>
                        </a:rPr>
                        <a:t>wysoka / b. dobra</a:t>
                      </a:r>
                    </a:p>
                  </a:txBody>
                  <a:tcPr marT="12700" marB="12700" marL="76200" marR="76200" anchor="ctr">
                    <a:solidFill>
                      <a:srgbClr val="F2F1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0532"/>
                          </a:solidFill>
                          <a:latin typeface="Arial"/>
                        </a:rPr>
                        <a:t>Modele 120B+</a:t>
                      </a:r>
                    </a:p>
                  </a:txBody>
                  <a:tcPr marT="12700" marB="127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0532"/>
                          </a:solidFill>
                          <a:latin typeface="Arial"/>
                        </a:rPr>
                        <a:t>✓ multi-GPU</a:t>
                      </a:r>
                    </a:p>
                  </a:txBody>
                  <a:tcPr marT="12700" marB="127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0532"/>
                          </a:solidFill>
                          <a:latin typeface="Arial"/>
                        </a:rPr>
                        <a:t>⚠ GGUF/RAM</a:t>
                      </a:r>
                    </a:p>
                  </a:txBody>
                  <a:tcPr marT="12700" marB="127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0532"/>
                          </a:solidFill>
                          <a:latin typeface="Arial"/>
                        </a:rPr>
                        <a:t>⚠ GGUF/RAM</a:t>
                      </a:r>
                    </a:p>
                  </a:txBody>
                  <a:tcPr marT="12700" marB="127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42062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1B0532"/>
                </a:solidFill>
                <a:latin typeface="Play"/>
              </a:rPr>
              <a:t>vLLM — uruchomienie serwera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371600" cy="44450"/>
          </a:xfrm>
          <a:prstGeom prst="rect">
            <a:avLst/>
          </a:prstGeom>
          <a:solidFill>
            <a:srgbClr val="00B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984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6B6478"/>
                </a:solidFill>
                <a:latin typeface="Arial"/>
              </a:rPr>
              <a:t>GPU NVIDIA (VRAM ≥ 24 GB), Linux, CUDA 12.x; format HF Safetensors / GGUF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15240"/>
          </a:xfrm>
          <a:prstGeom prst="rect">
            <a:avLst/>
          </a:prstGeom>
          <a:solidFill>
            <a:srgbClr val="F2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6473952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478"/>
                </a:solidFill>
                <a:latin typeface="Arial"/>
              </a:rPr>
              <a:t>DSS 2026 AI Edition  ·  Technika · Vendorzy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73952"/>
            <a:ext cx="822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6478"/>
                </a:solidFill>
                <a:latin typeface="Arial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182880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0532"/>
                </a:solidFill>
                <a:latin typeface="Arial"/>
              </a:rPr>
              <a:t>Instalacja: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" y="2194560"/>
            <a:ext cx="5120640" cy="864108"/>
          </a:xfrm>
          <a:prstGeom prst="roundRect">
            <a:avLst/>
          </a:prstGeom>
          <a:solidFill>
            <a:srgbClr val="110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276856"/>
            <a:ext cx="4791456" cy="6995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</a:pPr>
            <a:r>
              <a:rPr sz="1250">
                <a:solidFill>
                  <a:srgbClr val="E8E6F0"/>
                </a:solidFill>
                <a:latin typeface="Consolas"/>
              </a:rPr>
              <a:t>pip install vllm</a:t>
            </a:r>
          </a:p>
          <a:p>
            <a:pPr>
              <a:lnSpc>
                <a:spcPct val="100000"/>
              </a:lnSpc>
            </a:pPr>
            <a:r>
              <a:rPr sz="1250">
                <a:solidFill>
                  <a:srgbClr val="E8E6F0"/>
                </a:solidFill>
                <a:latin typeface="Consolas"/>
              </a:rPr>
              <a:t>python3 -c "import vllm; \</a:t>
            </a:r>
          </a:p>
          <a:p>
            <a:pPr>
              <a:lnSpc>
                <a:spcPct val="100000"/>
              </a:lnSpc>
            </a:pPr>
            <a:r>
              <a:rPr sz="1250">
                <a:solidFill>
                  <a:srgbClr val="E8E6F0"/>
                </a:solidFill>
                <a:latin typeface="Consolas"/>
              </a:rPr>
              <a:t>  print(vllm.__version__)"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2880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0532"/>
                </a:solidFill>
                <a:latin typeface="Arial"/>
              </a:rPr>
              <a:t>Serwowanie (PLLuM-70B):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194560"/>
            <a:ext cx="5029200" cy="1330452"/>
          </a:xfrm>
          <a:prstGeom prst="roundRect">
            <a:avLst/>
          </a:prstGeom>
          <a:solidFill>
            <a:srgbClr val="110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65392" y="2276856"/>
            <a:ext cx="4700016" cy="11658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</a:pPr>
            <a:r>
              <a:rPr sz="1250">
                <a:solidFill>
                  <a:srgbClr val="E8E6F0"/>
                </a:solidFill>
                <a:latin typeface="Consolas"/>
              </a:rPr>
              <a:t>vllm serve \</a:t>
            </a:r>
          </a:p>
          <a:p>
            <a:pPr>
              <a:lnSpc>
                <a:spcPct val="100000"/>
              </a:lnSpc>
            </a:pPr>
            <a:r>
              <a:rPr sz="1250">
                <a:solidFill>
                  <a:srgbClr val="E8E6F0"/>
                </a:solidFill>
                <a:latin typeface="Consolas"/>
              </a:rPr>
              <a:t>  CYFRAGOVPL/Llama-PLLuM-70B-chat-2512 \</a:t>
            </a:r>
          </a:p>
          <a:p>
            <a:pPr>
              <a:lnSpc>
                <a:spcPct val="100000"/>
              </a:lnSpc>
            </a:pPr>
            <a:r>
              <a:rPr sz="1250">
                <a:solidFill>
                  <a:srgbClr val="E8E6F0"/>
                </a:solidFill>
                <a:latin typeface="Consolas"/>
              </a:rPr>
              <a:t>  --tensor-parallel-size 2 \</a:t>
            </a:r>
          </a:p>
          <a:p>
            <a:pPr>
              <a:lnSpc>
                <a:spcPct val="100000"/>
              </a:lnSpc>
            </a:pPr>
            <a:r>
              <a:rPr sz="1250">
                <a:solidFill>
                  <a:srgbClr val="E8E6F0"/>
                </a:solidFill>
                <a:latin typeface="Consolas"/>
              </a:rPr>
              <a:t>  --max-model-len 8192 \</a:t>
            </a:r>
          </a:p>
          <a:p>
            <a:pPr>
              <a:lnSpc>
                <a:spcPct val="100000"/>
              </a:lnSpc>
            </a:pPr>
            <a:r>
              <a:rPr sz="1250">
                <a:solidFill>
                  <a:srgbClr val="E8E6F0"/>
                </a:solidFill>
                <a:latin typeface="Consolas"/>
              </a:rPr>
              <a:t>  --port 8080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" y="4206240"/>
            <a:ext cx="10652760" cy="731520"/>
          </a:xfrm>
          <a:prstGeom prst="roundRect">
            <a:avLst/>
          </a:prstGeom>
          <a:solidFill>
            <a:srgbClr val="F2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8096" y="4206240"/>
            <a:ext cx="50800" cy="731520"/>
          </a:xfrm>
          <a:prstGeom prst="rect">
            <a:avLst/>
          </a:prstGeom>
          <a:solidFill>
            <a:srgbClr val="8B1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4315968"/>
            <a:ext cx="101955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B0532"/>
                </a:solidFill>
                <a:latin typeface="Arial"/>
              </a:rPr>
              <a:t>▸  Pozostali vendorzy w skrócie</a:t>
            </a:r>
          </a:p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B6478"/>
                </a:solidFill>
                <a:latin typeface="Arial"/>
              </a:rPr>
              <a:t>Po starcie serwer dostępny pod http://localhost:8080. Ollama: `ollama run SpeakLeash/bielik-…` lub `ollama run gpt-oss:120b`; llama.cpp: `cmake -B build -DGGML_CUDA=ON` → `llama-server --model model.gguf`.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42062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1B0532"/>
                </a:solidFill>
                <a:latin typeface="Play"/>
              </a:rPr>
              <a:t>LLM Router — AI Gateway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371600" cy="44450"/>
          </a:xfrm>
          <a:prstGeom prst="rect">
            <a:avLst/>
          </a:prstGeom>
          <a:solidFill>
            <a:srgbClr val="00B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984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6B6478"/>
                </a:solidFill>
                <a:latin typeface="Arial"/>
              </a:rPr>
              <a:t>Open-source (Apache 2.0) warstwa pośrednicząca: aplikacja ↔ dostawca LLM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15240"/>
          </a:xfrm>
          <a:prstGeom prst="rect">
            <a:avLst/>
          </a:prstGeom>
          <a:solidFill>
            <a:srgbClr val="F2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6473952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478"/>
                </a:solidFill>
                <a:latin typeface="Arial"/>
              </a:rPr>
              <a:t>DSS 2026 AI Edition  ·  Technika · LLM Router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73952"/>
            <a:ext cx="822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6478"/>
                </a:solidFill>
                <a:latin typeface="Arial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1828800"/>
            <a:ext cx="5394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50">
                <a:solidFill>
                  <a:srgbClr val="1B0532"/>
                </a:solidFill>
                <a:latin typeface="Arial"/>
              </a:rPr>
              <a:t>▸  jeden endpoint dla wielu providerów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50">
                <a:solidFill>
                  <a:srgbClr val="1B0532"/>
                </a:solidFill>
                <a:latin typeface="Arial"/>
              </a:rPr>
              <a:t>▸  load balancing + health checks + streaming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50">
                <a:solidFill>
                  <a:srgbClr val="1B0532"/>
                </a:solidFill>
                <a:latin typeface="Arial"/>
              </a:rPr>
              <a:t>▸  maskowanie / anonimizacja PII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50">
                <a:solidFill>
                  <a:srgbClr val="1B0532"/>
                </a:solidFill>
                <a:latin typeface="Arial"/>
              </a:rPr>
              <a:t>▸  guardrails (treści zabronione)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0532"/>
                </a:solidFill>
                <a:latin typeface="Arial"/>
              </a:rPr>
              <a:t>Ekosystem (repozytoria):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2148840"/>
          <a:ext cx="5029200" cy="26883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292608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00BEFE"/>
                          </a:solidFill>
                          <a:latin typeface="Arial"/>
                        </a:rPr>
                        <a:t>Repo</a:t>
                      </a:r>
                    </a:p>
                  </a:txBody>
                  <a:tcPr marT="25400" marB="25400" marL="76200" marR="76200" anchor="ctr">
                    <a:solidFill>
                      <a:srgbClr val="0427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00BEFE"/>
                          </a:solidFill>
                          <a:latin typeface="Arial"/>
                        </a:rPr>
                        <a:t>Rola</a:t>
                      </a:r>
                    </a:p>
                  </a:txBody>
                  <a:tcPr marT="25400" marB="25400" marL="76200" marR="76200" anchor="ctr">
                    <a:solidFill>
                      <a:srgbClr val="0427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B0532"/>
                          </a:solidFill>
                          <a:latin typeface="Arial"/>
                        </a:rPr>
                        <a:t>llm-router-api</a:t>
                      </a:r>
                    </a:p>
                  </a:txBody>
                  <a:tcPr marT="12700" marB="127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0532"/>
                          </a:solidFill>
                          <a:latin typeface="Arial"/>
                        </a:rPr>
                        <a:t>REST proxy do backendów</a:t>
                      </a:r>
                    </a:p>
                  </a:txBody>
                  <a:tcPr marT="12700" marB="12700" marL="76200" marR="762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B0532"/>
                          </a:solidFill>
                          <a:latin typeface="Arial"/>
                        </a:rPr>
                        <a:t>llm-router-lib</a:t>
                      </a:r>
                    </a:p>
                  </a:txBody>
                  <a:tcPr marT="12700" marB="12700" marL="76200" marR="76200" anchor="ctr">
                    <a:solidFill>
                      <a:srgbClr val="F2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0532"/>
                          </a:solidFill>
                          <a:latin typeface="Arial"/>
                        </a:rPr>
                        <a:t>Python SDK (typowane)</a:t>
                      </a:r>
                    </a:p>
                  </a:txBody>
                  <a:tcPr marT="12700" marB="12700" marL="76200" marR="76200" anchor="ctr">
                    <a:solidFill>
                      <a:srgbClr val="F2F1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B0532"/>
                          </a:solidFill>
                          <a:latin typeface="Arial"/>
                        </a:rPr>
                        <a:t>llm-router-web</a:t>
                      </a:r>
                    </a:p>
                  </a:txBody>
                  <a:tcPr marT="12700" marB="127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0532"/>
                          </a:solidFill>
                          <a:latin typeface="Arial"/>
                        </a:rPr>
                        <a:t>Flask UI: config + anonymizer</a:t>
                      </a:r>
                    </a:p>
                  </a:txBody>
                  <a:tcPr marT="12700" marB="12700" marL="76200" marR="762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B0532"/>
                          </a:solidFill>
                          <a:latin typeface="Arial"/>
                        </a:rPr>
                        <a:t>llm-router-plugins</a:t>
                      </a:r>
                    </a:p>
                  </a:txBody>
                  <a:tcPr marT="12700" marB="12700" marL="76200" marR="76200" anchor="ctr">
                    <a:solidFill>
                      <a:srgbClr val="F2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0532"/>
                          </a:solidFill>
                          <a:latin typeface="Arial"/>
                        </a:rPr>
                        <a:t>maskery, guardrails, routing, RAG</a:t>
                      </a:r>
                    </a:p>
                  </a:txBody>
                  <a:tcPr marT="12700" marB="12700" marL="76200" marR="76200" anchor="ctr">
                    <a:solidFill>
                      <a:srgbClr val="F2F1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B0532"/>
                          </a:solidFill>
                          <a:latin typeface="Arial"/>
                        </a:rPr>
                        <a:t>llm-router-services</a:t>
                      </a:r>
                    </a:p>
                  </a:txBody>
                  <a:tcPr marT="12700" marB="127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0532"/>
                          </a:solidFill>
                          <a:latin typeface="Arial"/>
                        </a:rPr>
                        <a:t>guardrails + PII masker (HTTP)</a:t>
                      </a:r>
                    </a:p>
                  </a:txBody>
                  <a:tcPr marT="12700" marB="12700" marL="76200" marR="762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B0532"/>
                          </a:solidFill>
                          <a:latin typeface="Arial"/>
                        </a:rPr>
                        <a:t>llm-router-utils</a:t>
                      </a:r>
                    </a:p>
                  </a:txBody>
                  <a:tcPr marT="12700" marB="12700" marL="76200" marR="76200" anchor="ctr">
                    <a:solidFill>
                      <a:srgbClr val="F2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0532"/>
                          </a:solidFill>
                          <a:latin typeface="Arial"/>
                        </a:rPr>
                        <a:t>CLI: genai-classifier, augmentation</a:t>
                      </a:r>
                    </a:p>
                  </a:txBody>
                  <a:tcPr marT="12700" marB="12700" marL="76200" marR="76200" anchor="ctr">
                    <a:solidFill>
                      <a:srgbClr val="F2F1F6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68096" y="3931920"/>
            <a:ext cx="5394960" cy="864108"/>
          </a:xfrm>
          <a:prstGeom prst="roundRect">
            <a:avLst/>
          </a:prstGeom>
          <a:solidFill>
            <a:srgbClr val="110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4014216"/>
            <a:ext cx="5065776" cy="6995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</a:pPr>
            <a:r>
              <a:rPr sz="1200">
                <a:solidFill>
                  <a:srgbClr val="E8E6F0"/>
                </a:solidFill>
                <a:latin typeface="Consolas"/>
              </a:rPr>
              <a:t>Request → MaskerPipeline →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E8E6F0"/>
                </a:solidFill>
                <a:latin typeface="Consolas"/>
              </a:rPr>
              <a:t>  GuardrailPipeline →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E8E6F0"/>
                </a:solidFill>
                <a:latin typeface="Consolas"/>
              </a:rPr>
              <a:t>  UtilsPipeline → Model Provider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" y="5074920"/>
            <a:ext cx="5394960" cy="731520"/>
          </a:xfrm>
          <a:prstGeom prst="roundRect">
            <a:avLst/>
          </a:prstGeom>
          <a:solidFill>
            <a:srgbClr val="F2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8096" y="5074920"/>
            <a:ext cx="50800" cy="731520"/>
          </a:xfrm>
          <a:prstGeom prst="rect">
            <a:avLst/>
          </a:prstGeom>
          <a:solidFill>
            <a:srgbClr val="00B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5184648"/>
            <a:ext cx="4937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B0532"/>
                </a:solidFill>
                <a:latin typeface="Arial"/>
              </a:rPr>
              <a:t>▸  Pluginy</a:t>
            </a:r>
          </a:p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B6478"/>
                </a:solidFill>
                <a:latin typeface="Arial"/>
              </a:rPr>
              <a:t>fast_masker (regex, 30+ typów PII) · pii_masker (transformer) · nask_guard / sojka_guard · RAG, semantic routing.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42062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1B0532"/>
                </a:solidFill>
                <a:latin typeface="Play"/>
              </a:rPr>
              <a:t>Automatyczne labelowanie — genai-classifier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371600" cy="44450"/>
          </a:xfrm>
          <a:prstGeom prst="rect">
            <a:avLst/>
          </a:prstGeom>
          <a:solidFill>
            <a:srgbClr val="00B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984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6B6478"/>
                </a:solidFill>
                <a:latin typeface="Arial"/>
              </a:rPr>
              <a:t>CLI z llm-router-utils: JSONL bez etykiet → JSONL z polem labels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15240"/>
          </a:xfrm>
          <a:prstGeom prst="rect">
            <a:avLst/>
          </a:prstGeom>
          <a:solidFill>
            <a:srgbClr val="F2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6473952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478"/>
                </a:solidFill>
                <a:latin typeface="Arial"/>
              </a:rPr>
              <a:t>DSS 2026 AI Edition  ·  Technika · Labelowanie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73952"/>
            <a:ext cx="822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6478"/>
                </a:solidFill>
                <a:latin typeface="Arial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" y="1828800"/>
            <a:ext cx="5852160" cy="2029968"/>
          </a:xfrm>
          <a:prstGeom prst="roundRect">
            <a:avLst/>
          </a:prstGeom>
          <a:solidFill>
            <a:srgbClr val="110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911096"/>
            <a:ext cx="5522976" cy="18653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</a:pPr>
            <a:r>
              <a:rPr sz="1150">
                <a:solidFill>
                  <a:srgbClr val="E8E6F0"/>
                </a:solidFill>
                <a:latin typeface="Consolas"/>
              </a:rPr>
              <a:t>genai-classifier \</a:t>
            </a:r>
          </a:p>
          <a:p>
            <a:pPr>
              <a:lnSpc>
                <a:spcPct val="100000"/>
              </a:lnSpc>
            </a:pPr>
            <a:r>
              <a:rPr sz="1150">
                <a:solidFill>
                  <a:srgbClr val="E8E6F0"/>
                </a:solidFill>
                <a:latin typeface="Consolas"/>
              </a:rPr>
              <a:t>  --dataset-dir=resources/.../twitteremo/ \</a:t>
            </a:r>
          </a:p>
          <a:p>
            <a:pPr>
              <a:lnSpc>
                <a:spcPct val="100000"/>
              </a:lnSpc>
            </a:pPr>
            <a:r>
              <a:rPr sz="1150">
                <a:solidFill>
                  <a:srgbClr val="E8E6F0"/>
                </a:solidFill>
                <a:latin typeface="Consolas"/>
              </a:rPr>
              <a:t>  --prompts-dir=.../classifier \</a:t>
            </a:r>
          </a:p>
          <a:p>
            <a:pPr>
              <a:lnSpc>
                <a:spcPct val="100000"/>
              </a:lnSpc>
            </a:pPr>
            <a:r>
              <a:rPr sz="1150">
                <a:solidFill>
                  <a:srgbClr val="E8E6F0"/>
                </a:solidFill>
                <a:latin typeface="Consolas"/>
              </a:rPr>
              <a:t>  --output-dir=.../genailabelled \</a:t>
            </a:r>
          </a:p>
          <a:p>
            <a:pPr>
              <a:lnSpc>
                <a:spcPct val="100000"/>
              </a:lnSpc>
            </a:pPr>
            <a:r>
              <a:rPr sz="1150">
                <a:solidFill>
                  <a:srgbClr val="E8E6F0"/>
                </a:solidFill>
                <a:latin typeface="Consolas"/>
              </a:rPr>
              <a:t>  --llm-router-url=http://localhost:8080 \</a:t>
            </a:r>
          </a:p>
          <a:p>
            <a:pPr>
              <a:lnSpc>
                <a:spcPct val="100000"/>
              </a:lnSpc>
            </a:pPr>
            <a:r>
              <a:rPr sz="1150">
                <a:solidFill>
                  <a:srgbClr val="E8E6F0"/>
                </a:solidFill>
                <a:latin typeface="Consolas"/>
              </a:rPr>
              <a:t>  --model-name=gpt-oss:120b \</a:t>
            </a:r>
          </a:p>
          <a:p>
            <a:pPr>
              <a:lnSpc>
                <a:spcPct val="100000"/>
              </a:lnSpc>
            </a:pPr>
            <a:r>
              <a:rPr sz="1150">
                <a:solidFill>
                  <a:srgbClr val="E8E6F0"/>
                </a:solidFill>
                <a:latin typeface="Consolas"/>
              </a:rPr>
              <a:t>  --temperature=0.0 --num-workers=2 \</a:t>
            </a:r>
          </a:p>
          <a:p>
            <a:pPr>
              <a:lnSpc>
                <a:spcPct val="100000"/>
              </a:lnSpc>
            </a:pPr>
            <a:r>
              <a:rPr sz="1150">
                <a:solidFill>
                  <a:srgbClr val="E8E6F0"/>
                </a:solidFill>
                <a:latin typeface="Consolas"/>
              </a:rPr>
              <a:t>  --n-sample=0 --text-column-name=tekst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78308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0532"/>
                </a:solidFill>
                <a:latin typeface="Arial"/>
              </a:rPr>
              <a:t>Jak działa: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148840"/>
            <a:ext cx="49377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1B0532"/>
                </a:solidFill>
                <a:latin typeface="Arial"/>
              </a:rPr>
              <a:t>▸  buduje prompt dla każdego przykładu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1B0532"/>
                </a:solidFill>
                <a:latin typeface="Arial"/>
              </a:rPr>
              <a:t>▸  wysyła do LLM przez router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1B0532"/>
                </a:solidFill>
                <a:latin typeface="Arial"/>
              </a:rPr>
              <a:t>▸  parsuje wynik (klasa + confidence + reason)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1B0532"/>
                </a:solidFill>
                <a:latin typeface="Arial"/>
              </a:rPr>
              <a:t>▸  batch processing, wielowątkowość, retry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" y="4343400"/>
            <a:ext cx="10652760" cy="1097280"/>
          </a:xfrm>
          <a:prstGeom prst="roundRect">
            <a:avLst/>
          </a:prstGeom>
          <a:solidFill>
            <a:srgbClr val="F2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8096" y="4343400"/>
            <a:ext cx="50800" cy="1097280"/>
          </a:xfrm>
          <a:prstGeom prst="rect">
            <a:avLst/>
          </a:prstGeom>
          <a:solidFill>
            <a:srgbClr val="8B1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4453128"/>
            <a:ext cx="101955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B0532"/>
                </a:solidFill>
                <a:latin typeface="Arial"/>
              </a:rPr>
              <a:t>◆  Koszt / czas i dobre praktyki</a:t>
            </a:r>
          </a:p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B6478"/>
                </a:solidFill>
                <a:latin typeface="Arial"/>
              </a:rPr>
              <a:t>temperature=0.0 → determinizm i spójność etykiet · n-sample=0 → wszystkie (5k = 5k wywołań), n-sample=N do testów · num-workers ↑ = szybciej, ale większe obciążenie. Następnie konwersja do formatu treningowego (convert_genai_to_training.py).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42062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1B0532"/>
                </a:solidFill>
                <a:latin typeface="Play"/>
              </a:rPr>
              <a:t>Automatyczna augmentacja — genai-data-augmentation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371600" cy="44450"/>
          </a:xfrm>
          <a:prstGeom prst="rect">
            <a:avLst/>
          </a:prstGeom>
          <a:solidFill>
            <a:srgbClr val="00B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984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6B6478"/>
                </a:solidFill>
                <a:latin typeface="Arial"/>
              </a:rPr>
              <a:t>CLI z llm-router-utils: wybór klasy → nowe warianty zachowujące etykietę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15240"/>
          </a:xfrm>
          <a:prstGeom prst="rect">
            <a:avLst/>
          </a:prstGeom>
          <a:solidFill>
            <a:srgbClr val="F2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6473952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478"/>
                </a:solidFill>
                <a:latin typeface="Arial"/>
              </a:rPr>
              <a:t>DSS 2026 AI Edition  ·  Technika · Augmentacja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73952"/>
            <a:ext cx="822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6478"/>
                </a:solidFill>
                <a:latin typeface="Arial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" y="1828800"/>
            <a:ext cx="5852160" cy="2029968"/>
          </a:xfrm>
          <a:prstGeom prst="roundRect">
            <a:avLst/>
          </a:prstGeom>
          <a:solidFill>
            <a:srgbClr val="110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911096"/>
            <a:ext cx="5522976" cy="18653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</a:pPr>
            <a:r>
              <a:rPr sz="1150">
                <a:solidFill>
                  <a:srgbClr val="E8E6F0"/>
                </a:solidFill>
                <a:latin typeface="Consolas"/>
              </a:rPr>
              <a:t>genai-data-augmentation \</a:t>
            </a:r>
          </a:p>
          <a:p>
            <a:pPr>
              <a:lnSpc>
                <a:spcPct val="100000"/>
              </a:lnSpc>
            </a:pPr>
            <a:r>
              <a:rPr sz="1150">
                <a:solidFill>
                  <a:srgbClr val="E8E6F0"/>
                </a:solidFill>
                <a:latin typeface="Consolas"/>
              </a:rPr>
              <a:t>  --dataset-path=..._labels.jsonl \</a:t>
            </a:r>
          </a:p>
          <a:p>
            <a:pPr>
              <a:lnSpc>
                <a:spcPct val="100000"/>
              </a:lnSpc>
            </a:pPr>
            <a:r>
              <a:rPr sz="1150">
                <a:solidFill>
                  <a:srgbClr val="E8E6F0"/>
                </a:solidFill>
                <a:latin typeface="Consolas"/>
              </a:rPr>
              <a:t>  --labels=pozytywny \</a:t>
            </a:r>
          </a:p>
          <a:p>
            <a:pPr>
              <a:lnSpc>
                <a:spcPct val="100000"/>
              </a:lnSpc>
            </a:pPr>
            <a:r>
              <a:rPr sz="1150">
                <a:solidFill>
                  <a:srgbClr val="E8E6F0"/>
                </a:solidFill>
                <a:latin typeface="Consolas"/>
              </a:rPr>
              <a:t>  --prompt-file=.../augmentator.prompt \</a:t>
            </a:r>
          </a:p>
          <a:p>
            <a:pPr>
              <a:lnSpc>
                <a:spcPct val="100000"/>
              </a:lnSpc>
            </a:pPr>
            <a:r>
              <a:rPr sz="1150">
                <a:solidFill>
                  <a:srgbClr val="E8E6F0"/>
                </a:solidFill>
                <a:latin typeface="Consolas"/>
              </a:rPr>
              <a:t>  --model-name=gpt-oss:120b \</a:t>
            </a:r>
          </a:p>
          <a:p>
            <a:pPr>
              <a:lnSpc>
                <a:spcPct val="100000"/>
              </a:lnSpc>
            </a:pPr>
            <a:r>
              <a:rPr sz="1150">
                <a:solidFill>
                  <a:srgbClr val="E8E6F0"/>
                </a:solidFill>
                <a:latin typeface="Consolas"/>
              </a:rPr>
              <a:t>  --n-sample=350 --n-examples=5 \</a:t>
            </a:r>
          </a:p>
          <a:p>
            <a:pPr>
              <a:lnSpc>
                <a:spcPct val="100000"/>
              </a:lnSpc>
            </a:pPr>
            <a:r>
              <a:rPr sz="1150">
                <a:solidFill>
                  <a:srgbClr val="E8E6F0"/>
                </a:solidFill>
                <a:latin typeface="Consolas"/>
              </a:rPr>
              <a:t>  --samples-as-examples=2 \</a:t>
            </a:r>
          </a:p>
          <a:p>
            <a:pPr>
              <a:lnSpc>
                <a:spcPct val="100000"/>
              </a:lnSpc>
            </a:pPr>
            <a:r>
              <a:rPr sz="1150">
                <a:solidFill>
                  <a:srgbClr val="E8E6F0"/>
                </a:solidFill>
                <a:latin typeface="Consolas"/>
              </a:rPr>
              <a:t>  --temperature=0.0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78308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B0532"/>
                </a:solidFill>
                <a:latin typeface="Arial"/>
              </a:rPr>
              <a:t>Przykład wyniku (1 input → 5 wariantów):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46520" y="2194560"/>
            <a:ext cx="4937760" cy="1330452"/>
          </a:xfrm>
          <a:prstGeom prst="roundRect">
            <a:avLst/>
          </a:prstGeom>
          <a:solidFill>
            <a:srgbClr val="110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1112" y="2276856"/>
            <a:ext cx="4608576" cy="11658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</a:pPr>
            <a:r>
              <a:rPr sz="1100">
                <a:solidFill>
                  <a:srgbClr val="E8E6F0"/>
                </a:solidFill>
                <a:latin typeface="Consolas"/>
              </a:rPr>
              <a:t>"tekst": "Super sprawa!",</a:t>
            </a:r>
          </a:p>
          <a:p>
            <a:pPr>
              <a:lnSpc>
                <a:spcPct val="100000"/>
              </a:lnSpc>
            </a:pPr>
            <a:r>
              <a:rPr sz="1100">
                <a:solidFill>
                  <a:srgbClr val="E8E6F0"/>
                </a:solidFill>
                <a:latin typeface="Consolas"/>
              </a:rPr>
              <a:t>"labels": ["pozytywny"],</a:t>
            </a:r>
          </a:p>
          <a:p>
            <a:pPr>
              <a:lnSpc>
                <a:spcPct val="100000"/>
              </a:lnSpc>
            </a:pPr>
            <a:r>
              <a:rPr sz="1100">
                <a:solidFill>
                  <a:srgbClr val="E8E6F0"/>
                </a:solidFill>
                <a:latin typeface="Consolas"/>
              </a:rPr>
              <a:t>"augmented": [</a:t>
            </a:r>
          </a:p>
          <a:p>
            <a:pPr>
              <a:lnSpc>
                <a:spcPct val="100000"/>
              </a:lnSpc>
            </a:pPr>
            <a:r>
              <a:rPr sz="1100">
                <a:solidFill>
                  <a:srgbClr val="E8E6F0"/>
                </a:solidFill>
                <a:latin typeface="Consolas"/>
              </a:rPr>
              <a:t>  "Rzeczywiście świetne!",</a:t>
            </a:r>
          </a:p>
          <a:p>
            <a:pPr>
              <a:lnSpc>
                <a:spcPct val="100000"/>
              </a:lnSpc>
            </a:pPr>
            <a:r>
              <a:rPr sz="1100">
                <a:solidFill>
                  <a:srgbClr val="E8E6F0"/>
                </a:solidFill>
                <a:latin typeface="Consolas"/>
              </a:rPr>
              <a:t>  "Podoba mi się!", ... 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" y="4343400"/>
            <a:ext cx="10652760" cy="1097280"/>
          </a:xfrm>
          <a:prstGeom prst="roundRect">
            <a:avLst/>
          </a:prstGeom>
          <a:solidFill>
            <a:srgbClr val="F2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8096" y="4343400"/>
            <a:ext cx="50800" cy="1097280"/>
          </a:xfrm>
          <a:prstGeom prst="rect">
            <a:avLst/>
          </a:prstGeom>
          <a:solidFill>
            <a:srgbClr val="00B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4453128"/>
            <a:ext cx="101955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B0532"/>
                </a:solidFill>
                <a:latin typeface="Arial"/>
              </a:rPr>
              <a:t>◆  Merge i strojenie</a:t>
            </a:r>
          </a:p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B6478"/>
                </a:solidFill>
                <a:latin typeface="Arial"/>
              </a:rPr>
              <a:t>Merge: 5000 ręcznych + ~1750 (350×5) augmentowanych ≈ 6750 przykładów. n-examples=5 to dobry balans; samples-as-examples=2–3 (in-context); temperature 0.0 dla spójności, 0.3–0.7 dla różnorodności (ryzyko poprawności).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42062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1B0532"/>
                </a:solidFill>
                <a:latin typeface="Play"/>
              </a:rPr>
              <a:t>Trening klasyfikatora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371600" cy="44450"/>
          </a:xfrm>
          <a:prstGeom prst="rect">
            <a:avLst/>
          </a:prstGeom>
          <a:solidFill>
            <a:srgbClr val="00B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984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6B6478"/>
                </a:solidFill>
                <a:latin typeface="Arial"/>
              </a:rPr>
              <a:t>clarin-pl/twitteremo · 5k train / 500 valid · fine-tuning allegro/herbert-base-cased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15240"/>
          </a:xfrm>
          <a:prstGeom prst="rect">
            <a:avLst/>
          </a:prstGeom>
          <a:solidFill>
            <a:srgbClr val="F2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6473952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478"/>
                </a:solidFill>
                <a:latin typeface="Arial"/>
              </a:rPr>
              <a:t>DSS 2026 AI Edition  ·  Technika · Uczenie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73952"/>
            <a:ext cx="822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6478"/>
                </a:solidFill>
                <a:latin typeface="Arial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182880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0532"/>
                </a:solidFill>
                <a:latin typeface="Arial"/>
              </a:rPr>
              <a:t>3 warianty (postęp pipeline'u):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" y="2240280"/>
            <a:ext cx="5394960" cy="475488"/>
          </a:xfrm>
          <a:prstGeom prst="roundRect">
            <a:avLst/>
          </a:prstGeom>
          <a:solidFill>
            <a:srgbClr val="F2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8096" y="2240280"/>
            <a:ext cx="50800" cy="475488"/>
          </a:xfrm>
          <a:prstGeom prst="rect">
            <a:avLst/>
          </a:prstGeom>
          <a:solidFill>
            <a:srgbClr val="00B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2276856"/>
            <a:ext cx="14630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B0532"/>
                </a:solidFill>
                <a:latin typeface="Arial"/>
              </a:rPr>
              <a:t>Wariant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68296" y="2240280"/>
            <a:ext cx="37033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B6478"/>
                </a:solidFill>
                <a:latin typeface="Arial"/>
              </a:rPr>
              <a:t>tylko dane manualne (5k) — baseline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" y="2807208"/>
            <a:ext cx="5394960" cy="475488"/>
          </a:xfrm>
          <a:prstGeom prst="roundRect">
            <a:avLst/>
          </a:prstGeom>
          <a:solidFill>
            <a:srgbClr val="F2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8096" y="2807208"/>
            <a:ext cx="50800" cy="475488"/>
          </a:xfrm>
          <a:prstGeom prst="rect">
            <a:avLst/>
          </a:prstGeom>
          <a:solidFill>
            <a:srgbClr val="8B1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6696" y="2843784"/>
            <a:ext cx="14630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B0532"/>
                </a:solidFill>
                <a:latin typeface="Arial"/>
              </a:rPr>
              <a:t>Wariant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68296" y="2807208"/>
            <a:ext cx="37033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B6478"/>
                </a:solidFill>
                <a:latin typeface="Arial"/>
              </a:rPr>
              <a:t>manual + augmentacja (~1.7k, klasa pozytywny)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3374136"/>
            <a:ext cx="5394960" cy="475488"/>
          </a:xfrm>
          <a:prstGeom prst="roundRect">
            <a:avLst/>
          </a:prstGeom>
          <a:solidFill>
            <a:srgbClr val="F2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3374136"/>
            <a:ext cx="50800" cy="475488"/>
          </a:xfrm>
          <a:prstGeom prst="rect">
            <a:avLst/>
          </a:prstGeom>
          <a:solidFill>
            <a:srgbClr val="1F9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96696" y="3410712"/>
            <a:ext cx="14630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B0532"/>
                </a:solidFill>
                <a:latin typeface="Arial"/>
              </a:rPr>
              <a:t>Wariant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68296" y="3374136"/>
            <a:ext cx="37033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B6478"/>
                </a:solidFill>
                <a:latin typeface="Arial"/>
              </a:rPr>
              <a:t>manual + augmentacja + HIL/AL (dump z Web App)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446520" y="1828800"/>
          <a:ext cx="4937760" cy="2926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301752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00BEFE"/>
                          </a:solidFill>
                          <a:latin typeface="Arial"/>
                        </a:rPr>
                        <a:t>Parametr</a:t>
                      </a:r>
                    </a:p>
                  </a:txBody>
                  <a:tcPr marT="25400" marB="25400" marL="76200" marR="76200" anchor="ctr">
                    <a:solidFill>
                      <a:srgbClr val="0427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00BEFE"/>
                          </a:solidFill>
                          <a:latin typeface="Arial"/>
                        </a:rPr>
                        <a:t>Wartość</a:t>
                      </a:r>
                    </a:p>
                  </a:txBody>
                  <a:tcPr marT="25400" marB="25400" marL="76200" marR="76200" anchor="ctr">
                    <a:solidFill>
                      <a:srgbClr val="04273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0532"/>
                          </a:solidFill>
                          <a:latin typeface="Arial"/>
                        </a:rPr>
                        <a:t>Epoki</a:t>
                      </a:r>
                    </a:p>
                  </a:txBody>
                  <a:tcPr marT="12700" marB="127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0532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T="12700" marB="12700" marL="76200" marR="762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0532"/>
                          </a:solidFill>
                          <a:latin typeface="Arial"/>
                        </a:rPr>
                        <a:t>Batch size</a:t>
                      </a:r>
                    </a:p>
                  </a:txBody>
                  <a:tcPr marT="12700" marB="12700" marL="76200" marR="76200" anchor="ctr">
                    <a:solidFill>
                      <a:srgbClr val="F2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0532"/>
                          </a:solidFill>
                          <a:latin typeface="Arial"/>
                        </a:rPr>
                        <a:t>32 (eff. 64, grad-accum 2)</a:t>
                      </a:r>
                    </a:p>
                  </a:txBody>
                  <a:tcPr marT="12700" marB="12700" marL="76200" marR="76200" anchor="ctr">
                    <a:solidFill>
                      <a:srgbClr val="F2F1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0532"/>
                          </a:solidFill>
                          <a:latin typeface="Arial"/>
                        </a:rPr>
                        <a:t>Learning rate</a:t>
                      </a:r>
                    </a:p>
                  </a:txBody>
                  <a:tcPr marT="12700" marB="127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0532"/>
                          </a:solidFill>
                          <a:latin typeface="Arial"/>
                        </a:rPr>
                        <a:t>3e-6</a:t>
                      </a:r>
                    </a:p>
                  </a:txBody>
                  <a:tcPr marT="12700" marB="12700" marL="76200" marR="762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0532"/>
                          </a:solidFill>
                          <a:latin typeface="Arial"/>
                        </a:rPr>
                        <a:t>Max length</a:t>
                      </a:r>
                    </a:p>
                  </a:txBody>
                  <a:tcPr marT="12700" marB="12700" marL="76200" marR="76200" anchor="ctr">
                    <a:solidFill>
                      <a:srgbClr val="F2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0532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T="12700" marB="12700" marL="76200" marR="76200" anchor="ctr">
                    <a:solidFill>
                      <a:srgbClr val="F2F1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0532"/>
                          </a:solidFill>
                          <a:latin typeface="Arial"/>
                        </a:rPr>
                        <a:t>Scheduler</a:t>
                      </a:r>
                    </a:p>
                  </a:txBody>
                  <a:tcPr marT="12700" marB="127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0532"/>
                          </a:solidFill>
                          <a:latin typeface="Arial"/>
                        </a:rPr>
                        <a:t>cosine</a:t>
                      </a:r>
                    </a:p>
                  </a:txBody>
                  <a:tcPr marT="12700" marB="12700" marL="76200" marR="762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0532"/>
                          </a:solidFill>
                          <a:latin typeface="Arial"/>
                        </a:rPr>
                        <a:t>Seed</a:t>
                      </a:r>
                    </a:p>
                  </a:txBody>
                  <a:tcPr marT="12700" marB="12700" marL="76200" marR="76200" anchor="ctr">
                    <a:solidFill>
                      <a:srgbClr val="F2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0532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T="12700" marB="12700" marL="76200" marR="76200" anchor="ctr">
                    <a:solidFill>
                      <a:srgbClr val="F2F1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0532"/>
                          </a:solidFill>
                          <a:latin typeface="Arial"/>
                        </a:rPr>
                        <a:t>Logowanie</a:t>
                      </a:r>
                    </a:p>
                  </a:txBody>
                  <a:tcPr marT="12700" marB="127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0532"/>
                          </a:solidFill>
                          <a:latin typeface="Arial"/>
                        </a:rPr>
                        <a:t>W&amp;B (acc, F1, conf. matrix)</a:t>
                      </a:r>
                    </a:p>
                  </a:txBody>
                  <a:tcPr marT="12700" marB="127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768096" y="4434840"/>
            <a:ext cx="5394960" cy="1005840"/>
          </a:xfrm>
          <a:prstGeom prst="roundRect">
            <a:avLst/>
          </a:prstGeom>
          <a:solidFill>
            <a:srgbClr val="F2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8096" y="4434840"/>
            <a:ext cx="50800" cy="1005840"/>
          </a:xfrm>
          <a:prstGeom prst="rect">
            <a:avLst/>
          </a:prstGeom>
          <a:solidFill>
            <a:srgbClr val="1F9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4128" y="4544568"/>
            <a:ext cx="49377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B0532"/>
                </a:solidFill>
                <a:latin typeface="Arial"/>
              </a:rPr>
              <a:t>✓  HIL/AL — wybór etykiety</a:t>
            </a:r>
          </a:p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B6478"/>
                </a:solidFill>
                <a:latin typeface="Arial"/>
              </a:rPr>
              <a:t>Dump z Web App: brak anotacji → predykcja modelu; 1 ręczna → użyta; &gt;1 → majority voting; remis → tie-breaker predykcją modelu.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27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2240280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i="0">
                <a:solidFill>
                  <a:srgbClr val="8B19FE"/>
                </a:solidFill>
                <a:latin typeface="Play"/>
              </a:rPr>
              <a:t>04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3246120"/>
            <a:ext cx="1828800" cy="50800"/>
          </a:xfrm>
          <a:prstGeom prst="rect">
            <a:avLst/>
          </a:prstGeom>
          <a:solidFill>
            <a:srgbClr val="00B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429000"/>
            <a:ext cx="10424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0" i="0">
                <a:solidFill>
                  <a:srgbClr val="FFFFFF"/>
                </a:solidFill>
                <a:latin typeface="Play"/>
              </a:rPr>
              <a:t>Podsumowanie i wnioski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47548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00BEFE"/>
                </a:solidFill>
                <a:latin typeface="Arial"/>
              </a:rPr>
              <a:t>~6 min · ocena modelu i kierunki dalsze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42062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1B0532"/>
                </a:solidFill>
                <a:latin typeface="Play"/>
              </a:rPr>
              <a:t>Co zbudowaliśmy — kompletny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371600" cy="44450"/>
          </a:xfrm>
          <a:prstGeom prst="rect">
            <a:avLst/>
          </a:prstGeom>
          <a:solidFill>
            <a:srgbClr val="00B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37376"/>
            <a:ext cx="12191695" cy="15240"/>
          </a:xfrm>
          <a:prstGeom prst="rect">
            <a:avLst/>
          </a:prstGeom>
          <a:solidFill>
            <a:srgbClr val="F2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6473952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478"/>
                </a:solidFill>
                <a:latin typeface="Arial"/>
              </a:rPr>
              <a:t>DSS 2026 AI Edition  ·  Podsumowanie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73952"/>
            <a:ext cx="822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6478"/>
                </a:solidFill>
                <a:latin typeface="Arial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1417320"/>
            <a:ext cx="5577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50">
                <a:solidFill>
                  <a:srgbClr val="1B0532"/>
                </a:solidFill>
                <a:latin typeface="Arial"/>
              </a:rPr>
              <a:t>▸  Przygotowanie datasetu (twitteremo 5k/500)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50">
                <a:solidFill>
                  <a:srgbClr val="1B0532"/>
                </a:solidFill>
                <a:latin typeface="Arial"/>
              </a:rPr>
              <a:t>▸  Labelowanie LLM (genai-classifier)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50">
                <a:solidFill>
                  <a:srgbClr val="1B0532"/>
                </a:solidFill>
                <a:latin typeface="Arial"/>
              </a:rPr>
              <a:t>▸  Augmentacja danych (~1.7k, klasa pozytywny)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50">
                <a:solidFill>
                  <a:srgbClr val="1B0532"/>
                </a:solidFill>
                <a:latin typeface="Arial"/>
              </a:rPr>
              <a:t>▸  Merge: 5k manual + ~1.7k augment ≈ 6.7k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50">
                <a:solidFill>
                  <a:srgbClr val="1B0532"/>
                </a:solidFill>
                <a:latin typeface="Arial"/>
              </a:rPr>
              <a:t>▸  Trening 3 wariantów (herbert-base-cased)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50">
                <a:solidFill>
                  <a:srgbClr val="1B0532"/>
                </a:solidFill>
                <a:latin typeface="Arial"/>
              </a:rPr>
              <a:t>▸  Web App: ocena + anotacja (Flask + SQLite)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50">
                <a:solidFill>
                  <a:srgbClr val="1B0532"/>
                </a:solidFill>
                <a:latin typeface="Arial"/>
              </a:rPr>
              <a:t>▸  HITL/AL: poprawki wracają do treningu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371600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0532"/>
                </a:solidFill>
                <a:latin typeface="Arial"/>
              </a:rPr>
              <a:t>Ocena po HIL/AL — Weights &amp; Biases: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783080"/>
            <a:ext cx="4846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1B0532"/>
                </a:solidFill>
                <a:latin typeface="Arial"/>
              </a:rPr>
              <a:t>▸  Accuracy i Macro F1 (czułe na imbalance)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1B0532"/>
                </a:solidFill>
                <a:latin typeface="Arial"/>
              </a:rPr>
              <a:t>▸  Confusion matrix — które klasy mylone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1B0532"/>
                </a:solidFill>
                <a:latin typeface="Arial"/>
              </a:rPr>
              <a:t>▸  porównanie 3 wariantów na jednym wykresie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1B0532"/>
                </a:solidFill>
                <a:latin typeface="Arial"/>
              </a:rPr>
              <a:t>▸  dane z Web App: kto i co poprawił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4069080"/>
            <a:ext cx="4846320" cy="868680"/>
          </a:xfrm>
          <a:prstGeom prst="roundRect">
            <a:avLst/>
          </a:prstGeom>
          <a:solidFill>
            <a:srgbClr val="F2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0" y="4069080"/>
            <a:ext cx="50800" cy="868680"/>
          </a:xfrm>
          <a:prstGeom prst="rect">
            <a:avLst/>
          </a:prstGeom>
          <a:solidFill>
            <a:srgbClr val="00B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39712" y="4178808"/>
            <a:ext cx="4389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B0532"/>
                </a:solidFill>
                <a:latin typeface="Arial"/>
              </a:rPr>
              <a:t>◎  Podgląd w real-time</a:t>
            </a:r>
          </a:p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B6478"/>
                </a:solidFill>
                <a:latin typeface="Arial"/>
              </a:rPr>
              <a:t>Wyniki na żywo: dss2026.radlab.dev + Weights &amp; Biases.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42062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1B0532"/>
                </a:solidFill>
                <a:latin typeface="Play"/>
              </a:rPr>
              <a:t>Wnioski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371600" cy="44450"/>
          </a:xfrm>
          <a:prstGeom prst="rect">
            <a:avLst/>
          </a:prstGeom>
          <a:solidFill>
            <a:srgbClr val="00B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37376"/>
            <a:ext cx="12191695" cy="15240"/>
          </a:xfrm>
          <a:prstGeom prst="rect">
            <a:avLst/>
          </a:prstGeom>
          <a:solidFill>
            <a:srgbClr val="F2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6473952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478"/>
                </a:solidFill>
                <a:latin typeface="Arial"/>
              </a:rPr>
              <a:t>DSS 2026 AI Edition  ·  Podsumowanie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73952"/>
            <a:ext cx="822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6478"/>
                </a:solidFill>
                <a:latin typeface="Arial"/>
              </a:rPr>
              <a:t>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" y="1417320"/>
            <a:ext cx="3429000" cy="3657600"/>
          </a:xfrm>
          <a:prstGeom prst="roundRect">
            <a:avLst/>
          </a:prstGeom>
          <a:solidFill>
            <a:srgbClr val="F2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68096" y="1417320"/>
            <a:ext cx="3429000" cy="502920"/>
          </a:xfrm>
          <a:prstGeom prst="roundRect">
            <a:avLst/>
          </a:prstGeom>
          <a:solidFill>
            <a:srgbClr val="1F9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490472"/>
            <a:ext cx="3429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Co zadziałało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" y="2103120"/>
            <a:ext cx="30175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>
                <a:solidFill>
                  <a:srgbClr val="1B0532"/>
                </a:solidFill>
                <a:latin typeface="Arial"/>
              </a:rPr>
              <a:t>▸  auto-labelowanie ~10×+ szybciej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>
                <a:solidFill>
                  <a:srgbClr val="1B0532"/>
                </a:solidFill>
                <a:latin typeface="Arial"/>
              </a:rPr>
              <a:t>▸  augmentacja ↑ recall klasy pozytywny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>
                <a:solidFill>
                  <a:srgbClr val="1B0532"/>
                </a:solidFill>
                <a:latin typeface="Arial"/>
              </a:rPr>
              <a:t>▸  Web App — szybki wgląd w błędy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>
                <a:solidFill>
                  <a:srgbClr val="1B0532"/>
                </a:solidFill>
                <a:latin typeface="Arial"/>
              </a:rPr>
              <a:t>▸  HIL/AL — najtrudniejsze przykłady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1417320"/>
            <a:ext cx="3429000" cy="3657600"/>
          </a:xfrm>
          <a:prstGeom prst="roundRect">
            <a:avLst/>
          </a:prstGeom>
          <a:solidFill>
            <a:srgbClr val="F2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79976" y="1417320"/>
            <a:ext cx="3429000" cy="502920"/>
          </a:xfrm>
          <a:prstGeom prst="roundRect">
            <a:avLst/>
          </a:prstGeom>
          <a:solidFill>
            <a:srgbClr val="C9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79976" y="1490472"/>
            <a:ext cx="3429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Na co uważać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8576" y="2103120"/>
            <a:ext cx="30175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>
                <a:solidFill>
                  <a:srgbClr val="1B0532"/>
                </a:solidFill>
                <a:latin typeface="Arial"/>
              </a:rPr>
              <a:t>▸  augmentacja bez HIL może szkodzić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>
                <a:solidFill>
                  <a:srgbClr val="1B0532"/>
                </a:solidFill>
                <a:latin typeface="Arial"/>
              </a:rPr>
              <a:t>▸  temperatura &gt;0 ryzykuje poprawność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>
                <a:solidFill>
                  <a:srgbClr val="1B0532"/>
                </a:solidFill>
                <a:latin typeface="Arial"/>
              </a:rPr>
              <a:t>▸  tylko jedna klasa augmentowana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>
                <a:solidFill>
                  <a:srgbClr val="1B0532"/>
                </a:solidFill>
                <a:latin typeface="Arial"/>
              </a:rPr>
              <a:t>▸  LLM może powielać bias danych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91856" y="1417320"/>
            <a:ext cx="3429000" cy="3657600"/>
          </a:xfrm>
          <a:prstGeom prst="roundRect">
            <a:avLst/>
          </a:prstGeom>
          <a:solidFill>
            <a:srgbClr val="F2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991856" y="1417320"/>
            <a:ext cx="3429000" cy="502920"/>
          </a:xfrm>
          <a:prstGeom prst="roundRect">
            <a:avLst/>
          </a:prstGeom>
          <a:solidFill>
            <a:srgbClr val="8B1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91856" y="1490472"/>
            <a:ext cx="3429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Co dalej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0456" y="2103120"/>
            <a:ext cx="30175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>
                <a:solidFill>
                  <a:srgbClr val="1B0532"/>
                </a:solidFill>
                <a:latin typeface="Arial"/>
              </a:rPr>
              <a:t>▸  augmentacja wszystkich klas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>
                <a:solidFill>
                  <a:srgbClr val="1B0532"/>
                </a:solidFill>
                <a:latin typeface="Arial"/>
              </a:rPr>
              <a:t>▸  multi-model routing zadaniowy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>
                <a:solidFill>
                  <a:srgbClr val="1B0532"/>
                </a:solidFill>
                <a:latin typeface="Arial"/>
              </a:rPr>
              <a:t>▸  pipeline CI/CD dla datasetów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>
                <a:solidFill>
                  <a:srgbClr val="1B0532"/>
                </a:solidFill>
                <a:latin typeface="Arial"/>
              </a:rPr>
              <a:t>▸  HIL/AL na strumieniu (online)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6" y="5212080"/>
            <a:ext cx="10652760" cy="502920"/>
          </a:xfrm>
          <a:prstGeom prst="roundRect">
            <a:avLst/>
          </a:prstGeom>
          <a:solidFill>
            <a:srgbClr val="F2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68096" y="5212080"/>
            <a:ext cx="50800" cy="502920"/>
          </a:xfrm>
          <a:prstGeom prst="rect">
            <a:avLst/>
          </a:prstGeom>
          <a:solidFill>
            <a:srgbClr val="00B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5321808"/>
            <a:ext cx="101955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B6478"/>
                </a:solidFill>
                <a:latin typeface="Arial"/>
              </a:rPr>
              <a:t>Kontrolowana augmentacja + Active Learning + Human in the Loop = bezpieczniejsza droga do lepszego modelu.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27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606040"/>
            <a:ext cx="1828800" cy="63500"/>
          </a:xfrm>
          <a:prstGeom prst="rect">
            <a:avLst/>
          </a:prstGeom>
          <a:solidFill>
            <a:srgbClr val="00B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8096" y="2788920"/>
            <a:ext cx="10424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0" i="0">
                <a:solidFill>
                  <a:srgbClr val="FFFFFF"/>
                </a:solidFill>
                <a:latin typeface="Play"/>
              </a:rPr>
              <a:t>Dziękujemy!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3977639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 i="0">
                <a:solidFill>
                  <a:srgbClr val="C9E9F5"/>
                </a:solidFill>
                <a:latin typeface="Arial"/>
              </a:rPr>
              <a:t>Pytania i dyskusja — zachęcamy do anotacji na żywo.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47548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0BEFE"/>
                </a:solidFill>
                <a:latin typeface="Arial"/>
              </a:rPr>
              <a:t>https://dss2026.radlab.dev/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58521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B6478"/>
                </a:solidFill>
                <a:latin typeface="Arial"/>
              </a:rPr>
              <a:t>Radlab Developer Services · DSS 2026 AI Edition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