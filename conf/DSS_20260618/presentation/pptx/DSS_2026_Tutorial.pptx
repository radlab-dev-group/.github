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8.jpeg" ContentType="image/jpeg"/>
  <Override PartName="/ppt/media/image5.png" ContentType="image/png"/>
  <Override PartName="/ppt/media/image10.png" ContentType="image/png"/>
  <Override PartName="/ppt/media/image6.png" ContentType="image/png"/>
  <Override PartName="/ppt/media/image11.png" ContentType="image/png"/>
  <Override PartName="/ppt/media/image7.png" ContentType="image/png"/>
  <Override PartName="/ppt/media/image12.png" ContentType="image/png"/>
  <Override PartName="/ppt/media/image9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8.xml" ContentType="application/vnd.openxmlformats-officedocument.presentationml.slide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6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4.xml.rels" ContentType="application/vnd.openxmlformats-package.relationships+xml"/>
  <Override PartName="/ppt/slides/_rels/slide27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28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slide16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4E71060-E972-4C2D-AB26-F6869C246E7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5D190B6-F4F6-4018-91FD-0A27EE0FCE9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6F2CD7C-3605-459A-9099-E702E945192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4433EBD-8CDE-440B-8F24-63BB750F1E0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17199EB-1F4C-414A-9857-4D1C2F55097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43677C7-E803-4061-8295-7A138FDFACD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C1035F7-23F2-40B3-BC04-5DB19B15F6F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B135158-3ED6-4D5E-BFFA-2BEB24E12A0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9A51D1C-E52F-4ECD-86A7-6EF4889047E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BA444B5-F50B-4494-A345-F01D17D7D79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8716AE6-D6D9-468B-ACA1-541CD2573BF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pl-PL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pl-PL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384249-6640-49BA-A7AD-2648AAE19ED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l-PL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pl-PL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pl-PL" sz="1400" spc="-1" strike="noStrike">
                <a:latin typeface="Times New Roman"/>
              </a:rPr>
              <a:t>&lt;stopka&gt;</a:t>
            </a:r>
            <a:endParaRPr b="0" lang="pl-PL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9D3A044-7160-4471-BFC5-F301D059CF9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&lt;numer&gt;</a:t>
            </a:fld>
            <a:endParaRPr b="0" lang="pl-PL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pl-PL" sz="1400" spc="-1" strike="noStrike">
                <a:latin typeface="Times New Roman"/>
              </a:defRPr>
            </a:lvl1pPr>
          </a:lstStyle>
          <a:p>
            <a:r>
              <a:rPr b="0" lang="pl-PL" sz="1400" spc="-1" strike="noStrike">
                <a:latin typeface="Times New Roman"/>
              </a:rPr>
              <a:t>&lt;data/godzina&gt;</a:t>
            </a:r>
            <a:endParaRPr b="0" lang="pl-PL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pl-PL" sz="4400" spc="-1" strike="noStrike">
                <a:latin typeface="Arial"/>
              </a:rPr>
              <a:t>Kliknij, </a:t>
            </a:r>
            <a:r>
              <a:rPr b="0" lang="pl-PL" sz="4400" spc="-1" strike="noStrike">
                <a:latin typeface="Arial"/>
              </a:rPr>
              <a:t>aby </a:t>
            </a:r>
            <a:r>
              <a:rPr b="0" lang="pl-PL" sz="4400" spc="-1" strike="noStrike">
                <a:latin typeface="Arial"/>
              </a:rPr>
              <a:t>edytować </a:t>
            </a:r>
            <a:r>
              <a:rPr b="0" lang="pl-PL" sz="4400" spc="-1" strike="noStrike">
                <a:latin typeface="Arial"/>
              </a:rPr>
              <a:t>format </a:t>
            </a:r>
            <a:r>
              <a:rPr b="0" lang="pl-PL" sz="4400" spc="-1" strike="noStrike">
                <a:latin typeface="Arial"/>
              </a:rPr>
              <a:t>tekstu </a:t>
            </a:r>
            <a:r>
              <a:rPr b="0" lang="pl-PL" sz="4400" spc="-1" strike="noStrike">
                <a:latin typeface="Arial"/>
              </a:rPr>
              <a:t>tytułu</a:t>
            </a:r>
            <a:endParaRPr b="0" lang="pl-PL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l-PL" sz="3200" spc="-1" strike="noStrike">
                <a:latin typeface="Arial"/>
              </a:rPr>
              <a:t>Kliknij, aby edytować format tekstu konspektu</a:t>
            </a:r>
            <a:endParaRPr b="0" lang="pl-PL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l-PL" sz="2800" spc="-1" strike="noStrike">
                <a:latin typeface="Arial"/>
              </a:rPr>
              <a:t>Drugi poziom konspektu</a:t>
            </a:r>
            <a:endParaRPr b="0" lang="pl-PL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l-PL" sz="2400" spc="-1" strike="noStrike">
                <a:latin typeface="Arial"/>
              </a:rPr>
              <a:t>Trzeci poziom konspektu</a:t>
            </a:r>
            <a:endParaRPr b="0" lang="pl-PL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l-PL" sz="2000" spc="-1" strike="noStrike">
                <a:latin typeface="Arial"/>
              </a:rPr>
              <a:t>Czwarty poziom konspektu</a:t>
            </a:r>
            <a:endParaRPr b="0" lang="pl-PL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l-PL" sz="2000" spc="-1" strike="noStrike">
                <a:latin typeface="Arial"/>
              </a:rPr>
              <a:t>Piąty poziom konspektu</a:t>
            </a:r>
            <a:endParaRPr b="0" lang="pl-PL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l-PL" sz="2000" spc="-1" strike="noStrike">
                <a:latin typeface="Arial"/>
              </a:rPr>
              <a:t>Szósty poziom konspektu</a:t>
            </a:r>
            <a:endParaRPr b="0" lang="pl-PL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l-PL" sz="2000" spc="-1" strike="noStrike">
                <a:latin typeface="Arial"/>
              </a:rPr>
              <a:t>Siódmy poziom konspektu</a:t>
            </a:r>
            <a:endParaRPr b="0" lang="pl-PL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hyperlink" Target="https://helpi-tos.radlab.dev/" TargetMode="External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2331720"/>
            <a:ext cx="1826280" cy="60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" name="TextBox 2"/>
          <p:cNvSpPr/>
          <p:nvPr/>
        </p:nvSpPr>
        <p:spPr>
          <a:xfrm>
            <a:off x="768240" y="868680"/>
            <a:ext cx="228348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befe"/>
                </a:solidFill>
                <a:latin typeface="Arial"/>
                <a:ea typeface="DejaVu Sans"/>
              </a:rPr>
              <a:t>DSS 2026  ·  AI EDITION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43" name="TextBox 3"/>
          <p:cNvSpPr/>
          <p:nvPr/>
        </p:nvSpPr>
        <p:spPr>
          <a:xfrm>
            <a:off x="768240" y="2514600"/>
            <a:ext cx="10421640" cy="14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4600" spc="-1" strike="noStrike">
                <a:solidFill>
                  <a:srgbClr val="ffffff"/>
                </a:solidFill>
                <a:latin typeface="Play"/>
                <a:ea typeface="DejaVu Sans"/>
              </a:rPr>
              <a:t>Augmentacja danych z LLM,</a:t>
            </a:r>
            <a:endParaRPr b="0" lang="pl-PL" sz="46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4600" spc="-1" strike="noStrike">
                <a:solidFill>
                  <a:srgbClr val="ffffff"/>
                </a:solidFill>
                <a:latin typeface="Play"/>
                <a:ea typeface="DejaVu Sans"/>
              </a:rPr>
              <a:t>HITL i Active Learning</a:t>
            </a:r>
            <a:endParaRPr b="0" lang="pl-PL" sz="4600" spc="-1" strike="noStrike">
              <a:latin typeface="Arial"/>
            </a:endParaRPr>
          </a:p>
        </p:txBody>
      </p:sp>
      <p:sp>
        <p:nvSpPr>
          <p:cNvPr id="44" name="TextBox 4"/>
          <p:cNvSpPr/>
          <p:nvPr/>
        </p:nvSpPr>
        <p:spPr>
          <a:xfrm>
            <a:off x="768240" y="4343400"/>
            <a:ext cx="100558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5000"/>
              </a:lnSpc>
              <a:buNone/>
            </a:pPr>
            <a:r>
              <a:rPr b="0" lang="en-US" sz="1800" spc="-1" strike="noStrike">
                <a:solidFill>
                  <a:srgbClr val="c9e9f5"/>
                </a:solidFill>
                <a:latin typeface="Arial"/>
                <a:ea typeface="DejaVu Sans"/>
              </a:rPr>
              <a:t>Od teorii do praktyki — kompletny proces wytwarzania modeli klasyfikacyjnych z wykorzystaniem lokalnych modeli generatywnych.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45" name="TextBox 5"/>
          <p:cNvSpPr/>
          <p:nvPr/>
        </p:nvSpPr>
        <p:spPr>
          <a:xfrm>
            <a:off x="768240" y="5623560"/>
            <a:ext cx="731268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Paweł Kędzia - Research and Development Laboratory, radlab.dev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Marta Murzyn – Centrum Wspierania Rodzin “Rodzinna Warszawa”</a:t>
            </a:r>
            <a:endParaRPr b="0" lang="pl-PL" sz="1600" spc="-1" strike="noStrike">
              <a:latin typeface="Arial"/>
            </a:endParaRPr>
          </a:p>
        </p:txBody>
      </p:sp>
      <p:pic>
        <p:nvPicPr>
          <p:cNvPr id="46" name="" descr=""/>
          <p:cNvPicPr/>
          <p:nvPr/>
        </p:nvPicPr>
        <p:blipFill>
          <a:blip r:embed="rId1"/>
          <a:stretch/>
        </p:blipFill>
        <p:spPr>
          <a:xfrm>
            <a:off x="10983960" y="6336000"/>
            <a:ext cx="1060920" cy="596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1"/>
          <p:cNvSpPr/>
          <p:nvPr/>
        </p:nvSpPr>
        <p:spPr>
          <a:xfrm>
            <a:off x="768240" y="420480"/>
            <a:ext cx="1060452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Agenda tutorialu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8" name="Rectangle 2"/>
          <p:cNvSpPr/>
          <p:nvPr/>
        </p:nvSpPr>
        <p:spPr>
          <a:xfrm>
            <a:off x="768240" y="1170360"/>
            <a:ext cx="1369080" cy="41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" name="Rectangle 3"/>
          <p:cNvSpPr/>
          <p:nvPr/>
        </p:nvSpPr>
        <p:spPr>
          <a:xfrm>
            <a:off x="0" y="6437520"/>
            <a:ext cx="12189240" cy="126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" name="TextBox 4"/>
          <p:cNvSpPr/>
          <p:nvPr/>
        </p:nvSpPr>
        <p:spPr>
          <a:xfrm>
            <a:off x="768240" y="6473880"/>
            <a:ext cx="82270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Agenda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51" name="TextBox 5"/>
          <p:cNvSpPr/>
          <p:nvPr/>
        </p:nvSpPr>
        <p:spPr>
          <a:xfrm>
            <a:off x="10607040" y="6473880"/>
            <a:ext cx="820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52" name="Rounded Rectangle 6"/>
          <p:cNvSpPr/>
          <p:nvPr/>
        </p:nvSpPr>
        <p:spPr>
          <a:xfrm>
            <a:off x="768240" y="1417320"/>
            <a:ext cx="10604520" cy="7837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" name="Oval 7"/>
          <p:cNvSpPr/>
          <p:nvPr/>
        </p:nvSpPr>
        <p:spPr>
          <a:xfrm>
            <a:off x="951120" y="1581840"/>
            <a:ext cx="454680" cy="454680"/>
          </a:xfrm>
          <a:prstGeom prst="ellipse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" name="TextBox 8"/>
          <p:cNvSpPr/>
          <p:nvPr/>
        </p:nvSpPr>
        <p:spPr>
          <a:xfrm>
            <a:off x="951120" y="1668240"/>
            <a:ext cx="454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  <a:ea typeface="DejaVu Sans"/>
              </a:rPr>
              <a:t>1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55" name="TextBox 9"/>
          <p:cNvSpPr/>
          <p:nvPr/>
        </p:nvSpPr>
        <p:spPr>
          <a:xfrm>
            <a:off x="1636920" y="1508760"/>
            <a:ext cx="63982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Wstęp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1636920" y="1837800"/>
            <a:ext cx="7769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  <a:ea typeface="DejaVu Sans"/>
              </a:rPr>
              <a:t>Czego dotyczy tutorial i jaka korzyść dla uczestników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57" name="TextBox 11"/>
          <p:cNvSpPr/>
          <p:nvPr/>
        </p:nvSpPr>
        <p:spPr>
          <a:xfrm>
            <a:off x="9546480" y="1703160"/>
            <a:ext cx="173484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8b19fe"/>
                </a:solidFill>
                <a:latin typeface="Arial"/>
                <a:ea typeface="DejaVu Sans"/>
              </a:rPr>
              <a:t>~2 min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58" name="Rounded Rectangle 12"/>
          <p:cNvSpPr/>
          <p:nvPr/>
        </p:nvSpPr>
        <p:spPr>
          <a:xfrm>
            <a:off x="768240" y="2350080"/>
            <a:ext cx="10604520" cy="7837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" name="Oval 13"/>
          <p:cNvSpPr/>
          <p:nvPr/>
        </p:nvSpPr>
        <p:spPr>
          <a:xfrm>
            <a:off x="951120" y="2514600"/>
            <a:ext cx="454680" cy="454680"/>
          </a:xfrm>
          <a:prstGeom prst="ellipse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" name="TextBox 14"/>
          <p:cNvSpPr/>
          <p:nvPr/>
        </p:nvSpPr>
        <p:spPr>
          <a:xfrm>
            <a:off x="951120" y="2601000"/>
            <a:ext cx="454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  <a:ea typeface="DejaVu Sans"/>
              </a:rPr>
              <a:t>2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61" name="TextBox 15"/>
          <p:cNvSpPr/>
          <p:nvPr/>
        </p:nvSpPr>
        <p:spPr>
          <a:xfrm>
            <a:off x="1636920" y="2441520"/>
            <a:ext cx="63982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Część teoretyczno-praktyczna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62" name="TextBox 16"/>
          <p:cNvSpPr/>
          <p:nvPr/>
        </p:nvSpPr>
        <p:spPr>
          <a:xfrm>
            <a:off x="1636920" y="2770560"/>
            <a:ext cx="7769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  <a:ea typeface="DejaVu Sans"/>
              </a:rPr>
              <a:t>Augmentacja, labelowanie, klasyfikacja vs generowanie, HITL + AL, pętla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63" name="TextBox 17"/>
          <p:cNvSpPr/>
          <p:nvPr/>
        </p:nvSpPr>
        <p:spPr>
          <a:xfrm>
            <a:off x="9546480" y="2635920"/>
            <a:ext cx="173484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befe"/>
                </a:solidFill>
                <a:latin typeface="Arial"/>
                <a:ea typeface="DejaVu Sans"/>
              </a:rPr>
              <a:t>~25 min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64" name="Rounded Rectangle 18"/>
          <p:cNvSpPr/>
          <p:nvPr/>
        </p:nvSpPr>
        <p:spPr>
          <a:xfrm>
            <a:off x="768240" y="3282840"/>
            <a:ext cx="10604520" cy="7837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" name="Oval 19"/>
          <p:cNvSpPr/>
          <p:nvPr/>
        </p:nvSpPr>
        <p:spPr>
          <a:xfrm>
            <a:off x="951120" y="3447360"/>
            <a:ext cx="454680" cy="454680"/>
          </a:xfrm>
          <a:prstGeom prst="ellipse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6" name="TextBox 20"/>
          <p:cNvSpPr/>
          <p:nvPr/>
        </p:nvSpPr>
        <p:spPr>
          <a:xfrm>
            <a:off x="951120" y="3533760"/>
            <a:ext cx="454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  <a:ea typeface="DejaVu Sans"/>
              </a:rPr>
              <a:t>★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67" name="TextBox 21"/>
          <p:cNvSpPr/>
          <p:nvPr/>
        </p:nvSpPr>
        <p:spPr>
          <a:xfrm>
            <a:off x="1636920" y="3374280"/>
            <a:ext cx="63982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Anotacja na żywo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68" name="TextBox 22"/>
          <p:cNvSpPr/>
          <p:nvPr/>
        </p:nvSpPr>
        <p:spPr>
          <a:xfrm>
            <a:off x="1636920" y="3703320"/>
            <a:ext cx="7769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  <a:ea typeface="DejaVu Sans"/>
              </a:rPr>
              <a:t>Interaktywna sesja: dss2026.radlab.dev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69" name="TextBox 23"/>
          <p:cNvSpPr/>
          <p:nvPr/>
        </p:nvSpPr>
        <p:spPr>
          <a:xfrm>
            <a:off x="9546480" y="3568680"/>
            <a:ext cx="173484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8b19fe"/>
                </a:solidFill>
                <a:latin typeface="Arial"/>
                <a:ea typeface="DejaVu Sans"/>
              </a:rPr>
              <a:t>~5 min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70" name="Rounded Rectangle 24"/>
          <p:cNvSpPr/>
          <p:nvPr/>
        </p:nvSpPr>
        <p:spPr>
          <a:xfrm>
            <a:off x="768240" y="4215240"/>
            <a:ext cx="10604520" cy="7837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1" name="Oval 25"/>
          <p:cNvSpPr/>
          <p:nvPr/>
        </p:nvSpPr>
        <p:spPr>
          <a:xfrm>
            <a:off x="951120" y="4380120"/>
            <a:ext cx="454680" cy="454680"/>
          </a:xfrm>
          <a:prstGeom prst="ellipse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2" name="TextBox 26"/>
          <p:cNvSpPr/>
          <p:nvPr/>
        </p:nvSpPr>
        <p:spPr>
          <a:xfrm>
            <a:off x="951120" y="4466160"/>
            <a:ext cx="454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  <a:ea typeface="DejaVu Sans"/>
              </a:rPr>
              <a:t>3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73" name="TextBox 27"/>
          <p:cNvSpPr/>
          <p:nvPr/>
        </p:nvSpPr>
        <p:spPr>
          <a:xfrm>
            <a:off x="1636920" y="4306680"/>
            <a:ext cx="63982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Część techniczna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74" name="TextBox 28"/>
          <p:cNvSpPr/>
          <p:nvPr/>
        </p:nvSpPr>
        <p:spPr>
          <a:xfrm>
            <a:off x="1636920" y="4636080"/>
            <a:ext cx="7769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  <a:ea typeface="DejaVu Sans"/>
              </a:rPr>
              <a:t>Sprzęt, vendorzy, LLM Router, labelowanie i augmentacja narzędziami, trening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75" name="TextBox 29"/>
          <p:cNvSpPr/>
          <p:nvPr/>
        </p:nvSpPr>
        <p:spPr>
          <a:xfrm>
            <a:off x="9546480" y="4501080"/>
            <a:ext cx="173484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befe"/>
                </a:solidFill>
                <a:latin typeface="Arial"/>
                <a:ea typeface="DejaVu Sans"/>
              </a:rPr>
              <a:t>~22 min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76" name="Rounded Rectangle 30"/>
          <p:cNvSpPr/>
          <p:nvPr/>
        </p:nvSpPr>
        <p:spPr>
          <a:xfrm>
            <a:off x="768240" y="5148000"/>
            <a:ext cx="10604520" cy="7837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7" name="Oval 31"/>
          <p:cNvSpPr/>
          <p:nvPr/>
        </p:nvSpPr>
        <p:spPr>
          <a:xfrm>
            <a:off x="951120" y="5312520"/>
            <a:ext cx="454680" cy="454680"/>
          </a:xfrm>
          <a:prstGeom prst="ellipse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8" name="TextBox 32"/>
          <p:cNvSpPr/>
          <p:nvPr/>
        </p:nvSpPr>
        <p:spPr>
          <a:xfrm>
            <a:off x="951120" y="5398920"/>
            <a:ext cx="454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Play"/>
                <a:ea typeface="DejaVu Sans"/>
              </a:rPr>
              <a:t>4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79" name="TextBox 33"/>
          <p:cNvSpPr/>
          <p:nvPr/>
        </p:nvSpPr>
        <p:spPr>
          <a:xfrm>
            <a:off x="1636920" y="5239440"/>
            <a:ext cx="63982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Podsumowanie i wnioski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80" name="TextBox 34"/>
          <p:cNvSpPr/>
          <p:nvPr/>
        </p:nvSpPr>
        <p:spPr>
          <a:xfrm>
            <a:off x="1636920" y="5568840"/>
            <a:ext cx="7769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b6478"/>
                </a:solidFill>
                <a:latin typeface="Arial"/>
                <a:ea typeface="DejaVu Sans"/>
              </a:rPr>
              <a:t>Ocena modelu w W&amp;B, wnioski i kierunki dalsze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81" name="TextBox 35"/>
          <p:cNvSpPr/>
          <p:nvPr/>
        </p:nvSpPr>
        <p:spPr>
          <a:xfrm>
            <a:off x="9546480" y="5433840"/>
            <a:ext cx="1734840" cy="21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8b19fe"/>
                </a:solidFill>
                <a:latin typeface="Arial"/>
                <a:ea typeface="DejaVu Sans"/>
              </a:rPr>
              <a:t>~6 min</a:t>
            </a:r>
            <a:endParaRPr b="0" lang="pl-PL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Box 1"/>
          <p:cNvSpPr/>
          <p:nvPr/>
        </p:nvSpPr>
        <p:spPr>
          <a:xfrm>
            <a:off x="768240" y="420480"/>
            <a:ext cx="1060452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Po co ten tutorial?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768240" y="1170360"/>
            <a:ext cx="1369080" cy="41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4" name="Rectangle 3"/>
          <p:cNvSpPr/>
          <p:nvPr/>
        </p:nvSpPr>
        <p:spPr>
          <a:xfrm>
            <a:off x="0" y="6437520"/>
            <a:ext cx="12189240" cy="126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5" name="TextBox 4"/>
          <p:cNvSpPr/>
          <p:nvPr/>
        </p:nvSpPr>
        <p:spPr>
          <a:xfrm>
            <a:off x="768240" y="6473880"/>
            <a:ext cx="82270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Wstęp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86" name="TextBox 5"/>
          <p:cNvSpPr/>
          <p:nvPr/>
        </p:nvSpPr>
        <p:spPr>
          <a:xfrm>
            <a:off x="10607040" y="6473880"/>
            <a:ext cx="820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3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87" name="TextBox 6"/>
          <p:cNvSpPr/>
          <p:nvPr/>
        </p:nvSpPr>
        <p:spPr>
          <a:xfrm>
            <a:off x="768240" y="1417320"/>
            <a:ext cx="10604520" cy="62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Zaprezentujemy proces kontrolowanej augmentacji danych — od podstawowych pojęć po kompletny pipeline z udziałem człowieka w pętli (HITL) i Active Learningu (AL).</a:t>
            </a:r>
            <a:endParaRPr b="0" lang="pl-PL" sz="1700" spc="-1" strike="noStrike">
              <a:latin typeface="Arial"/>
            </a:endParaRPr>
          </a:p>
        </p:txBody>
      </p:sp>
      <p:sp>
        <p:nvSpPr>
          <p:cNvPr id="88" name="TextBox 7"/>
          <p:cNvSpPr/>
          <p:nvPr/>
        </p:nvSpPr>
        <p:spPr>
          <a:xfrm>
            <a:off x="768240" y="2423160"/>
            <a:ext cx="5483880" cy="195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Labelowanie — człowiek vs LLM</a:t>
            </a:r>
            <a:endParaRPr b="0" lang="pl-PL" sz="17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Augmentacja — nowe przykłady treningowe</a:t>
            </a:r>
            <a:endParaRPr b="0" lang="pl-PL" sz="17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Klasyfikacja — modele decyzyjne</a:t>
            </a:r>
            <a:endParaRPr b="0" lang="pl-PL" sz="17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Generowanie — LLM tworzy dane</a:t>
            </a:r>
            <a:endParaRPr b="0" lang="pl-PL" sz="17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1001"/>
              </a:spcAft>
              <a:buNone/>
            </a:pP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700" spc="-1" strike="noStrike">
                <a:solidFill>
                  <a:srgbClr val="1b0532"/>
                </a:solidFill>
                <a:latin typeface="Arial"/>
                <a:ea typeface="DejaVu Sans"/>
              </a:rPr>
              <a:t>HITL + AL — człowiek w pętli uczenia aktywnego</a:t>
            </a:r>
            <a:endParaRPr b="0" lang="pl-PL" sz="1700" spc="-1" strike="noStrike">
              <a:latin typeface="Arial"/>
            </a:endParaRPr>
          </a:p>
        </p:txBody>
      </p:sp>
      <p:sp>
        <p:nvSpPr>
          <p:cNvPr id="89" name="Rounded Rectangle 8"/>
          <p:cNvSpPr/>
          <p:nvPr/>
        </p:nvSpPr>
        <p:spPr>
          <a:xfrm>
            <a:off x="6583680" y="2423160"/>
            <a:ext cx="4843800" cy="23749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0" name="Rectangle 9"/>
          <p:cNvSpPr/>
          <p:nvPr/>
        </p:nvSpPr>
        <p:spPr>
          <a:xfrm>
            <a:off x="6583680" y="2423160"/>
            <a:ext cx="48240" cy="237492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1" name="TextBox 10"/>
          <p:cNvSpPr/>
          <p:nvPr/>
        </p:nvSpPr>
        <p:spPr>
          <a:xfrm>
            <a:off x="6839640" y="3206160"/>
            <a:ext cx="4386600" cy="84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◆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Cel i korzyść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Skrócenie czasu wytwarzania modeli klasyfikacyjnych oraz wsparcie w sytuacjach, gdy trudno zorganizować reprezentatywny zespół anotatorów.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92" name="TextBox 11"/>
          <p:cNvSpPr/>
          <p:nvPr/>
        </p:nvSpPr>
        <p:spPr>
          <a:xfrm>
            <a:off x="6583680" y="4983480"/>
            <a:ext cx="4843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W trakcie: 5-minutowa sesja anotacyjna z udziałem uczestników.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Box 1"/>
          <p:cNvSpPr/>
          <p:nvPr/>
        </p:nvSpPr>
        <p:spPr>
          <a:xfrm>
            <a:off x="768240" y="2240280"/>
            <a:ext cx="1826280" cy="9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6400" spc="-1" strike="noStrike">
                <a:solidFill>
                  <a:srgbClr val="8b19fe"/>
                </a:solidFill>
                <a:latin typeface="Play"/>
                <a:ea typeface="DejaVu Sans"/>
              </a:rPr>
              <a:t>01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94" name="Rectangle 2"/>
          <p:cNvSpPr/>
          <p:nvPr/>
        </p:nvSpPr>
        <p:spPr>
          <a:xfrm>
            <a:off x="768240" y="3246120"/>
            <a:ext cx="1826280" cy="482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5" name="TextBox 3"/>
          <p:cNvSpPr/>
          <p:nvPr/>
        </p:nvSpPr>
        <p:spPr>
          <a:xfrm>
            <a:off x="768240" y="3429000"/>
            <a:ext cx="104216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4000" spc="-1" strike="noStrike">
                <a:solidFill>
                  <a:srgbClr val="ffffff"/>
                </a:solidFill>
                <a:latin typeface="Play"/>
                <a:ea typeface="DejaVu Sans"/>
              </a:rPr>
              <a:t>Część teoretyczno-praktyczna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96" name="TextBox 4"/>
          <p:cNvSpPr/>
          <p:nvPr/>
        </p:nvSpPr>
        <p:spPr>
          <a:xfrm>
            <a:off x="768240" y="4754880"/>
            <a:ext cx="73126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~25 min · podstawy pojęciowe i metoda</a:t>
            </a:r>
            <a:endParaRPr b="0" lang="pl-PL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Box 1"/>
          <p:cNvSpPr/>
          <p:nvPr/>
        </p:nvSpPr>
        <p:spPr>
          <a:xfrm>
            <a:off x="768240" y="420480"/>
            <a:ext cx="1060452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Klasyfikacja vs generowanie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98" name="Rectangle 2"/>
          <p:cNvSpPr/>
          <p:nvPr/>
        </p:nvSpPr>
        <p:spPr>
          <a:xfrm>
            <a:off x="768240" y="1170360"/>
            <a:ext cx="1369080" cy="41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9" name="Rectangle 3"/>
          <p:cNvSpPr/>
          <p:nvPr/>
        </p:nvSpPr>
        <p:spPr>
          <a:xfrm>
            <a:off x="0" y="6437520"/>
            <a:ext cx="12189240" cy="126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0" name="TextBox 4"/>
          <p:cNvSpPr/>
          <p:nvPr/>
        </p:nvSpPr>
        <p:spPr>
          <a:xfrm>
            <a:off x="768240" y="6473880"/>
            <a:ext cx="82270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Modele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01" name="TextBox 5"/>
          <p:cNvSpPr/>
          <p:nvPr/>
        </p:nvSpPr>
        <p:spPr>
          <a:xfrm>
            <a:off x="10607040" y="6473880"/>
            <a:ext cx="820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7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02" name="Rounded Rectangle 6"/>
          <p:cNvSpPr/>
          <p:nvPr/>
        </p:nvSpPr>
        <p:spPr>
          <a:xfrm>
            <a:off x="768240" y="1417320"/>
            <a:ext cx="5255280" cy="3563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bef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3" name="Rounded Rectangle 7"/>
          <p:cNvSpPr/>
          <p:nvPr/>
        </p:nvSpPr>
        <p:spPr>
          <a:xfrm>
            <a:off x="768240" y="1417320"/>
            <a:ext cx="5255280" cy="54612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4" name="TextBox 8"/>
          <p:cNvSpPr/>
          <p:nvPr/>
        </p:nvSpPr>
        <p:spPr>
          <a:xfrm>
            <a:off x="768240" y="1472040"/>
            <a:ext cx="5255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MODEL KLASYFIKACYJNY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996840" y="2148840"/>
            <a:ext cx="1414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Wejście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2368440" y="2148840"/>
            <a:ext cx="34722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„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Nie mogę zalogować się do konta”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07" name="TextBox 11"/>
          <p:cNvSpPr/>
          <p:nvPr/>
        </p:nvSpPr>
        <p:spPr>
          <a:xfrm>
            <a:off x="996840" y="2679120"/>
            <a:ext cx="1414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Wyjście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08" name="TextBox 12"/>
          <p:cNvSpPr/>
          <p:nvPr/>
        </p:nvSpPr>
        <p:spPr>
          <a:xfrm>
            <a:off x="2368440" y="2679120"/>
            <a:ext cx="34722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klasa: problem_logowania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09" name="TextBox 13"/>
          <p:cNvSpPr/>
          <p:nvPr/>
        </p:nvSpPr>
        <p:spPr>
          <a:xfrm>
            <a:off x="996840" y="3209400"/>
            <a:ext cx="1414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Dodatkowo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10" name="TextBox 14"/>
          <p:cNvSpPr/>
          <p:nvPr/>
        </p:nvSpPr>
        <p:spPr>
          <a:xfrm>
            <a:off x="2368440" y="3209400"/>
            <a:ext cx="34722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prawdopodobieństwa klas + thresholdy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11" name="TextBox 15"/>
          <p:cNvSpPr/>
          <p:nvPr/>
        </p:nvSpPr>
        <p:spPr>
          <a:xfrm>
            <a:off x="996840" y="3740040"/>
            <a:ext cx="1414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Pytanie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12" name="TextBox 16"/>
          <p:cNvSpPr/>
          <p:nvPr/>
        </p:nvSpPr>
        <p:spPr>
          <a:xfrm>
            <a:off x="2368440" y="3740040"/>
            <a:ext cx="34722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Do której kategorii należy przykład?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13" name="TextBox 17"/>
          <p:cNvSpPr/>
          <p:nvPr/>
        </p:nvSpPr>
        <p:spPr>
          <a:xfrm>
            <a:off x="996840" y="4270320"/>
            <a:ext cx="1414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Zalety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14" name="TextBox 18"/>
          <p:cNvSpPr/>
          <p:nvPr/>
        </p:nvSpPr>
        <p:spPr>
          <a:xfrm>
            <a:off x="2368440" y="4270320"/>
            <a:ext cx="34722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szybki, tani, łatwy do wdrożenia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15" name="Rounded Rectangle 19"/>
          <p:cNvSpPr/>
          <p:nvPr/>
        </p:nvSpPr>
        <p:spPr>
          <a:xfrm>
            <a:off x="6400800" y="1417320"/>
            <a:ext cx="5255280" cy="3563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8b19f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6" name="Rounded Rectangle 20"/>
          <p:cNvSpPr/>
          <p:nvPr/>
        </p:nvSpPr>
        <p:spPr>
          <a:xfrm>
            <a:off x="6400800" y="1417320"/>
            <a:ext cx="5255280" cy="54612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7" name="TextBox 21"/>
          <p:cNvSpPr/>
          <p:nvPr/>
        </p:nvSpPr>
        <p:spPr>
          <a:xfrm>
            <a:off x="6400800" y="1472040"/>
            <a:ext cx="5255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MODEL GENERATYWNY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18" name="TextBox 22"/>
          <p:cNvSpPr/>
          <p:nvPr/>
        </p:nvSpPr>
        <p:spPr>
          <a:xfrm>
            <a:off x="6629400" y="2148840"/>
            <a:ext cx="1414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Wejście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19" name="TextBox 23"/>
          <p:cNvSpPr/>
          <p:nvPr/>
        </p:nvSpPr>
        <p:spPr>
          <a:xfrm>
            <a:off x="8001000" y="2148840"/>
            <a:ext cx="34722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prompt: „Wygeneruj alternatywy zdania”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20" name="TextBox 24"/>
          <p:cNvSpPr/>
          <p:nvPr/>
        </p:nvSpPr>
        <p:spPr>
          <a:xfrm>
            <a:off x="6629400" y="2679120"/>
            <a:ext cx="1414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Wyjście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21" name="TextBox 25"/>
          <p:cNvSpPr/>
          <p:nvPr/>
        </p:nvSpPr>
        <p:spPr>
          <a:xfrm>
            <a:off x="8001000" y="2679120"/>
            <a:ext cx="34722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nowe teksty (warianty)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22" name="TextBox 26"/>
          <p:cNvSpPr/>
          <p:nvPr/>
        </p:nvSpPr>
        <p:spPr>
          <a:xfrm>
            <a:off x="6629400" y="3209400"/>
            <a:ext cx="1414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Rola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23" name="TextBox 27"/>
          <p:cNvSpPr/>
          <p:nvPr/>
        </p:nvSpPr>
        <p:spPr>
          <a:xfrm>
            <a:off x="8001000" y="3209400"/>
            <a:ext cx="34722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pomocnicza — przygotowuje dane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24" name="TextBox 28"/>
          <p:cNvSpPr/>
          <p:nvPr/>
        </p:nvSpPr>
        <p:spPr>
          <a:xfrm>
            <a:off x="6629400" y="3740040"/>
            <a:ext cx="1414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Pytanie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25" name="TextBox 29"/>
          <p:cNvSpPr/>
          <p:nvPr/>
        </p:nvSpPr>
        <p:spPr>
          <a:xfrm>
            <a:off x="8001000" y="3740040"/>
            <a:ext cx="34722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Co można wygenerować z kontekstu?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26" name="TextBox 30"/>
          <p:cNvSpPr/>
          <p:nvPr/>
        </p:nvSpPr>
        <p:spPr>
          <a:xfrm>
            <a:off x="6629400" y="4270320"/>
            <a:ext cx="1414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8b19fe"/>
                </a:solidFill>
                <a:latin typeface="Arial"/>
                <a:ea typeface="DejaVu Sans"/>
              </a:rPr>
              <a:t>Uwaga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127" name="TextBox 31"/>
          <p:cNvSpPr/>
          <p:nvPr/>
        </p:nvSpPr>
        <p:spPr>
          <a:xfrm>
            <a:off x="8001000" y="4270320"/>
            <a:ext cx="34722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nie jest modelem docelowym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28" name="Rounded Rectangle 32"/>
          <p:cNvSpPr/>
          <p:nvPr/>
        </p:nvSpPr>
        <p:spPr>
          <a:xfrm>
            <a:off x="768240" y="5120640"/>
            <a:ext cx="10650240" cy="5918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9" name="Rectangle 33"/>
          <p:cNvSpPr/>
          <p:nvPr/>
        </p:nvSpPr>
        <p:spPr>
          <a:xfrm>
            <a:off x="768240" y="5120640"/>
            <a:ext cx="48240" cy="591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0" name="TextBox 34"/>
          <p:cNvSpPr/>
          <p:nvPr/>
        </p:nvSpPr>
        <p:spPr>
          <a:xfrm>
            <a:off x="1024200" y="5331600"/>
            <a:ext cx="1019304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LLM generatywny przygotowuje dane → model klasyfikacyjny uczy się na nich podejmować decyzje.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Box 1"/>
          <p:cNvSpPr/>
          <p:nvPr/>
        </p:nvSpPr>
        <p:spPr>
          <a:xfrm>
            <a:off x="768240" y="420480"/>
            <a:ext cx="1060452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Labelowanie danych z wykorzystaniem LLM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32" name="Rectangle 2"/>
          <p:cNvSpPr/>
          <p:nvPr/>
        </p:nvSpPr>
        <p:spPr>
          <a:xfrm>
            <a:off x="768240" y="1170360"/>
            <a:ext cx="1369080" cy="41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3" name="TextBox 3"/>
          <p:cNvSpPr/>
          <p:nvPr/>
        </p:nvSpPr>
        <p:spPr>
          <a:xfrm>
            <a:off x="768240" y="1298520"/>
            <a:ext cx="10604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Przypisywanie etykiet przykładom — klasyczne (człowiek) vs wspierane LLM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34" name="Rectangle 4"/>
          <p:cNvSpPr/>
          <p:nvPr/>
        </p:nvSpPr>
        <p:spPr>
          <a:xfrm>
            <a:off x="0" y="6437520"/>
            <a:ext cx="12189240" cy="126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5" name="TextBox 5"/>
          <p:cNvSpPr/>
          <p:nvPr/>
        </p:nvSpPr>
        <p:spPr>
          <a:xfrm>
            <a:off x="768240" y="6473880"/>
            <a:ext cx="82270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Labelowanie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36" name="TextBox 6"/>
          <p:cNvSpPr/>
          <p:nvPr/>
        </p:nvSpPr>
        <p:spPr>
          <a:xfrm>
            <a:off x="10607040" y="6473880"/>
            <a:ext cx="820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6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37" name="TextBox 7"/>
          <p:cNvSpPr/>
          <p:nvPr/>
        </p:nvSpPr>
        <p:spPr>
          <a:xfrm>
            <a:off x="768240" y="1828800"/>
            <a:ext cx="53010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Szczególnie przydatne, gdy: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38" name="TextBox 8"/>
          <p:cNvSpPr/>
          <p:nvPr/>
        </p:nvSpPr>
        <p:spPr>
          <a:xfrm>
            <a:off x="768240" y="2286000"/>
            <a:ext cx="5392440" cy="16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mamy dużo nieoznaczonych danych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chcemy szybko pierwszy zbiór treningowy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potrzebne wstępne etykiety do eksperymentów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chcemy ograniczyć koszt ręcznej anotacji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klasy da się jasno zdefiniować w promptach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39" name="Rounded Rectangle 9"/>
          <p:cNvSpPr/>
          <p:nvPr/>
        </p:nvSpPr>
        <p:spPr>
          <a:xfrm>
            <a:off x="6400800" y="1828800"/>
            <a:ext cx="5026680" cy="15519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0" name="Rectangle 10"/>
          <p:cNvSpPr/>
          <p:nvPr/>
        </p:nvSpPr>
        <p:spPr>
          <a:xfrm>
            <a:off x="6400800" y="1828800"/>
            <a:ext cx="48240" cy="1551960"/>
          </a:xfrm>
          <a:prstGeom prst="rect">
            <a:avLst/>
          </a:prstGeom>
          <a:solidFill>
            <a:srgbClr val="c97a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1" name="TextBox 11"/>
          <p:cNvSpPr/>
          <p:nvPr/>
        </p:nvSpPr>
        <p:spPr>
          <a:xfrm>
            <a:off x="6656760" y="2304360"/>
            <a:ext cx="4569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⚠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Uwaga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Etykiety LLM to tylko propozycje. Model myli się przy ironii, niejednoznaczności, braku kontekstu i slangu.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142" name="Rounded Rectangle 12"/>
          <p:cNvSpPr/>
          <p:nvPr/>
        </p:nvSpPr>
        <p:spPr>
          <a:xfrm>
            <a:off x="6400800" y="3566160"/>
            <a:ext cx="5026680" cy="15062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3" name="Rectangle 13"/>
          <p:cNvSpPr/>
          <p:nvPr/>
        </p:nvSpPr>
        <p:spPr>
          <a:xfrm>
            <a:off x="6400800" y="3566160"/>
            <a:ext cx="48240" cy="1506240"/>
          </a:xfrm>
          <a:prstGeom prst="rect">
            <a:avLst/>
          </a:prstGeom>
          <a:solidFill>
            <a:srgbClr val="1f9e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4" name="TextBox 14"/>
          <p:cNvSpPr/>
          <p:nvPr/>
        </p:nvSpPr>
        <p:spPr>
          <a:xfrm>
            <a:off x="6656760" y="3915000"/>
            <a:ext cx="4569480" cy="84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✓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Zasada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LLM nie zastępuje człowieka — przyspiesza etykietowanie. Człowiek kontroluje jakość, poprawia błędy i rozstrzyga trudne przypadki.</a:t>
            </a:r>
            <a:endParaRPr b="0" lang="pl-PL" sz="1300" spc="-1" strike="noStrike">
              <a:latin typeface="Arial"/>
            </a:endParaRPr>
          </a:p>
        </p:txBody>
      </p:sp>
      <p:pic>
        <p:nvPicPr>
          <p:cNvPr id="145" name="" descr=""/>
          <p:cNvPicPr/>
          <p:nvPr/>
        </p:nvPicPr>
        <p:blipFill>
          <a:blip r:embed="rId1"/>
          <a:stretch/>
        </p:blipFill>
        <p:spPr>
          <a:xfrm>
            <a:off x="144000" y="4077720"/>
            <a:ext cx="3036240" cy="1896840"/>
          </a:xfrm>
          <a:prstGeom prst="rect">
            <a:avLst/>
          </a:prstGeom>
          <a:ln w="0">
            <a:noFill/>
          </a:ln>
        </p:spPr>
      </p:pic>
      <p:pic>
        <p:nvPicPr>
          <p:cNvPr id="146" name="" descr=""/>
          <p:cNvPicPr/>
          <p:nvPr/>
        </p:nvPicPr>
        <p:blipFill>
          <a:blip r:embed="rId2"/>
          <a:stretch/>
        </p:blipFill>
        <p:spPr>
          <a:xfrm>
            <a:off x="3384000" y="4176000"/>
            <a:ext cx="2921760" cy="1825200"/>
          </a:xfrm>
          <a:prstGeom prst="rect">
            <a:avLst/>
          </a:prstGeom>
          <a:ln w="0">
            <a:noFill/>
          </a:ln>
        </p:spPr>
      </p:pic>
      <p:sp>
        <p:nvSpPr>
          <p:cNvPr id="147" name="TextBox 37"/>
          <p:cNvSpPr/>
          <p:nvPr/>
        </p:nvSpPr>
        <p:spPr>
          <a:xfrm>
            <a:off x="864000" y="5976000"/>
            <a:ext cx="17265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Rozkład klas – ręczna anotacja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48" name="TextBox 40"/>
          <p:cNvSpPr/>
          <p:nvPr/>
        </p:nvSpPr>
        <p:spPr>
          <a:xfrm>
            <a:off x="3816000" y="6002640"/>
            <a:ext cx="1726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Rozkład klas – automatyczne labelowanie</a:t>
            </a:r>
            <a:endParaRPr b="0" lang="pl-PL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Box 1"/>
          <p:cNvSpPr/>
          <p:nvPr/>
        </p:nvSpPr>
        <p:spPr>
          <a:xfrm>
            <a:off x="768240" y="420480"/>
            <a:ext cx="1060452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Augmentacja danych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50" name="Rectangle 2"/>
          <p:cNvSpPr/>
          <p:nvPr/>
        </p:nvSpPr>
        <p:spPr>
          <a:xfrm>
            <a:off x="768240" y="1170360"/>
            <a:ext cx="1369080" cy="41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1" name="TextBox 3"/>
          <p:cNvSpPr/>
          <p:nvPr/>
        </p:nvSpPr>
        <p:spPr>
          <a:xfrm>
            <a:off x="768240" y="1298520"/>
            <a:ext cx="10604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Tworzenie nowych przykładów treningowych na bazie istniejącego zbioru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52" name="Rectangle 4"/>
          <p:cNvSpPr/>
          <p:nvPr/>
        </p:nvSpPr>
        <p:spPr>
          <a:xfrm>
            <a:off x="0" y="6437520"/>
            <a:ext cx="12189240" cy="126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3" name="TextBox 5"/>
          <p:cNvSpPr/>
          <p:nvPr/>
        </p:nvSpPr>
        <p:spPr>
          <a:xfrm>
            <a:off x="768240" y="6473880"/>
            <a:ext cx="82270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Augmentacja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54" name="TextBox 6"/>
          <p:cNvSpPr/>
          <p:nvPr/>
        </p:nvSpPr>
        <p:spPr>
          <a:xfrm>
            <a:off x="10607040" y="6473880"/>
            <a:ext cx="820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5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55" name="TextBox 7"/>
          <p:cNvSpPr/>
          <p:nvPr/>
        </p:nvSpPr>
        <p:spPr>
          <a:xfrm>
            <a:off x="768240" y="1828800"/>
            <a:ext cx="51181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Dobra augmentacja zapewnia, że przykłady: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56" name="TextBox 8"/>
          <p:cNvSpPr/>
          <p:nvPr/>
        </p:nvSpPr>
        <p:spPr>
          <a:xfrm>
            <a:off x="768240" y="2286000"/>
            <a:ext cx="5301000" cy="182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są zgodne z problemem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zachowują poprawną etykietę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zwiększają różnorodność zbioru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pomagają modelowi generalizować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uzupełniają klasy słabo reprezentowane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157" name="TextBox 9"/>
          <p:cNvSpPr/>
          <p:nvPr/>
        </p:nvSpPr>
        <p:spPr>
          <a:xfrm>
            <a:off x="6400800" y="1828800"/>
            <a:ext cx="50266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Metody dla tekstu: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58" name="TextBox 10"/>
          <p:cNvSpPr/>
          <p:nvPr/>
        </p:nvSpPr>
        <p:spPr>
          <a:xfrm>
            <a:off x="6400800" y="2286000"/>
            <a:ext cx="5026680" cy="182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parafrazowanie przykładów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zmiana stylu / długości wypowiedzi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warianty formalne i nieformalne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literówki, slang, język potoczny</a:t>
            </a:r>
            <a:endParaRPr b="0" lang="pl-PL" sz="16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przykłady rzadkie i graniczne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159" name="Rounded Rectangle 11"/>
          <p:cNvSpPr/>
          <p:nvPr/>
        </p:nvSpPr>
        <p:spPr>
          <a:xfrm>
            <a:off x="768240" y="5074920"/>
            <a:ext cx="10650240" cy="8661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0" name="Rectangle 12"/>
          <p:cNvSpPr/>
          <p:nvPr/>
        </p:nvSpPr>
        <p:spPr>
          <a:xfrm>
            <a:off x="768240" y="5074920"/>
            <a:ext cx="48240" cy="8661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1" name="TextBox 13"/>
          <p:cNvSpPr/>
          <p:nvPr/>
        </p:nvSpPr>
        <p:spPr>
          <a:xfrm>
            <a:off x="1024200" y="5311440"/>
            <a:ext cx="1019304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Przykład (etykieta zachowana)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„</a:t>
            </a: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Chcę zwrócić produkt…” [zwrot]  →  „Jak odesłać towar?” · „Czy da się zrobić zwrot?” — wszystkie warianty pozostają w tej samej klasie.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Box 1"/>
          <p:cNvSpPr/>
          <p:nvPr/>
        </p:nvSpPr>
        <p:spPr>
          <a:xfrm>
            <a:off x="768240" y="420480"/>
            <a:ext cx="1060452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Które dane warto augmentować?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63" name="Rectangle 2"/>
          <p:cNvSpPr/>
          <p:nvPr/>
        </p:nvSpPr>
        <p:spPr>
          <a:xfrm>
            <a:off x="768240" y="1170360"/>
            <a:ext cx="1369080" cy="41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4" name="TextBox 3"/>
          <p:cNvSpPr/>
          <p:nvPr/>
        </p:nvSpPr>
        <p:spPr>
          <a:xfrm>
            <a:off x="768240" y="1298520"/>
            <a:ext cx="10604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Nie zawsze cały zbiór po równo (przykład clarin-pl/twitteremo → sample 5k)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65" name="Rectangle 4"/>
          <p:cNvSpPr/>
          <p:nvPr/>
        </p:nvSpPr>
        <p:spPr>
          <a:xfrm>
            <a:off x="0" y="6437520"/>
            <a:ext cx="12189240" cy="126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6" name="TextBox 5"/>
          <p:cNvSpPr/>
          <p:nvPr/>
        </p:nvSpPr>
        <p:spPr>
          <a:xfrm>
            <a:off x="768240" y="6473880"/>
            <a:ext cx="82270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Active Learning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67" name="TextBox 6"/>
          <p:cNvSpPr/>
          <p:nvPr/>
        </p:nvSpPr>
        <p:spPr>
          <a:xfrm>
            <a:off x="10607040" y="6473880"/>
            <a:ext cx="820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9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68" name="TextBox 7"/>
          <p:cNvSpPr/>
          <p:nvPr/>
        </p:nvSpPr>
        <p:spPr>
          <a:xfrm>
            <a:off x="768240" y="1828800"/>
            <a:ext cx="5392440" cy="16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klasy o najgorszych wynikach modelu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przykłady z pogranicza kilku klas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przypadki ważne biznesowo (wskazane przez człowieka)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przykłady o niskiej pewności modelu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nietypowe warianty językowe, slang, błędy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69" name="TextBox 8"/>
          <p:cNvSpPr/>
          <p:nvPr/>
        </p:nvSpPr>
        <p:spPr>
          <a:xfrm>
            <a:off x="6400800" y="1737360"/>
            <a:ext cx="502668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Proces kontrolowany: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170" name="Rounded Rectangle 9"/>
          <p:cNvSpPr/>
          <p:nvPr/>
        </p:nvSpPr>
        <p:spPr>
          <a:xfrm>
            <a:off x="6400800" y="2076840"/>
            <a:ext cx="5026680" cy="179424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1" name="TextBox 10"/>
          <p:cNvSpPr/>
          <p:nvPr/>
        </p:nvSpPr>
        <p:spPr>
          <a:xfrm>
            <a:off x="7096320" y="2231280"/>
            <a:ext cx="3636000" cy="14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1. Trenuj prosty klasyfikator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2. Sprawdź, gdzie się myli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3. Zidentyfikuj klasy problematyczne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4. Wygeneruj przykłady (LLM)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5. Walidacja (człowiek / reguły)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6. Trenuj ponownie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7. Porównaj wyniki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5328000" y="5112720"/>
            <a:ext cx="1150560" cy="2145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5400"/>
                </a:moveTo>
                <a:lnTo>
                  <a:pt x="16200" y="5400"/>
                </a:ln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16200" y="16200"/>
                </a:lnTo>
                <a:lnTo>
                  <a:pt x="0" y="16200"/>
                </a:lnTo>
                <a:lnTo>
                  <a:pt x="2700" y="10800"/>
                </a:lnTo>
                <a:lnTo>
                  <a:pt x="0" y="540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pic>
        <p:nvPicPr>
          <p:cNvPr id="173" name="" descr=""/>
          <p:cNvPicPr/>
          <p:nvPr/>
        </p:nvPicPr>
        <p:blipFill>
          <a:blip r:embed="rId1"/>
          <a:stretch/>
        </p:blipFill>
        <p:spPr>
          <a:xfrm>
            <a:off x="1152000" y="4005000"/>
            <a:ext cx="3815280" cy="2383920"/>
          </a:xfrm>
          <a:prstGeom prst="rect">
            <a:avLst/>
          </a:prstGeom>
          <a:ln w="0">
            <a:noFill/>
          </a:ln>
        </p:spPr>
      </p:pic>
      <p:pic>
        <p:nvPicPr>
          <p:cNvPr id="174" name="" descr=""/>
          <p:cNvPicPr/>
          <p:nvPr/>
        </p:nvPicPr>
        <p:blipFill>
          <a:blip r:embed="rId2"/>
          <a:stretch/>
        </p:blipFill>
        <p:spPr>
          <a:xfrm>
            <a:off x="6984000" y="4023000"/>
            <a:ext cx="3815280" cy="2384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Box 1"/>
          <p:cNvSpPr/>
          <p:nvPr/>
        </p:nvSpPr>
        <p:spPr>
          <a:xfrm>
            <a:off x="768240" y="420480"/>
            <a:ext cx="1060452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Active Learning (AL)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76" name="Rectangle 2"/>
          <p:cNvSpPr/>
          <p:nvPr/>
        </p:nvSpPr>
        <p:spPr>
          <a:xfrm>
            <a:off x="768240" y="1170360"/>
            <a:ext cx="1369080" cy="41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7" name="TextBox 3"/>
          <p:cNvSpPr/>
          <p:nvPr/>
        </p:nvSpPr>
        <p:spPr>
          <a:xfrm>
            <a:off x="768240" y="1298520"/>
            <a:ext cx="10604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Pętla zwrotna: zamiast losowo, wybieramy najbardziej informacyjne przykłady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78" name="Rectangle 4"/>
          <p:cNvSpPr/>
          <p:nvPr/>
        </p:nvSpPr>
        <p:spPr>
          <a:xfrm>
            <a:off x="0" y="6437520"/>
            <a:ext cx="12189240" cy="126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9" name="TextBox 5"/>
          <p:cNvSpPr/>
          <p:nvPr/>
        </p:nvSpPr>
        <p:spPr>
          <a:xfrm>
            <a:off x="768240" y="6473880"/>
            <a:ext cx="82270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Active Learning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80" name="TextBox 6"/>
          <p:cNvSpPr/>
          <p:nvPr/>
        </p:nvSpPr>
        <p:spPr>
          <a:xfrm>
            <a:off x="10607040" y="6473880"/>
            <a:ext cx="820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8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81" name="TextBox 7"/>
          <p:cNvSpPr/>
          <p:nvPr/>
        </p:nvSpPr>
        <p:spPr>
          <a:xfrm>
            <a:off x="768240" y="1828800"/>
            <a:ext cx="53924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AL wybiera przykłady, dla których model: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82" name="TextBox 8"/>
          <p:cNvSpPr/>
          <p:nvPr/>
        </p:nvSpPr>
        <p:spPr>
          <a:xfrm>
            <a:off x="768240" y="2286000"/>
            <a:ext cx="5483880" cy="169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ma niską pewność predykcji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myli się między podobnymi klasami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daje wysokie p-stwo dla kilku klas jednocześnie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jest niezgodny z regułą / modelem biznesowym</a:t>
            </a:r>
            <a:endParaRPr b="0" lang="pl-PL" sz="150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500" spc="-1" strike="noStrike">
                <a:solidFill>
                  <a:srgbClr val="1b0532"/>
                </a:solidFill>
                <a:latin typeface="Arial"/>
                <a:ea typeface="DejaVu Sans"/>
              </a:rPr>
              <a:t>reprezentuje rzadką / problematyczną część danych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83" name="Rounded Rectangle 9"/>
          <p:cNvSpPr/>
          <p:nvPr/>
        </p:nvSpPr>
        <p:spPr>
          <a:xfrm>
            <a:off x="6446520" y="1828800"/>
            <a:ext cx="4980960" cy="21006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4" name="Rectangle 10"/>
          <p:cNvSpPr/>
          <p:nvPr/>
        </p:nvSpPr>
        <p:spPr>
          <a:xfrm>
            <a:off x="6446520" y="1828800"/>
            <a:ext cx="48240" cy="210060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5" name="TextBox 11"/>
          <p:cNvSpPr/>
          <p:nvPr/>
        </p:nvSpPr>
        <p:spPr>
          <a:xfrm>
            <a:off x="6702480" y="2267640"/>
            <a:ext cx="4523760" cy="12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◎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Przykład trudnego przypadku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„</a:t>
            </a: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Nie dostałem produktu i chcę pieniądze z powrotem”</a:t>
            </a:r>
            <a:endParaRPr b="0" lang="pl-PL" sz="13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zwrot 0.42 · reklamacja 0.39 · status_dostawy 0.15 · nieznany 0.04</a:t>
            </a:r>
            <a:endParaRPr b="0" lang="pl-PL" sz="13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Trudny przykład — poprawne oznaczenie uczy rozróżniania klas granicznych.</a:t>
            </a:r>
            <a:endParaRPr b="0" lang="pl-PL" sz="1300" spc="-1" strike="noStrike">
              <a:latin typeface="Arial"/>
            </a:endParaRPr>
          </a:p>
        </p:txBody>
      </p:sp>
      <p:pic>
        <p:nvPicPr>
          <p:cNvPr id="186" name="" descr=""/>
          <p:cNvPicPr/>
          <p:nvPr/>
        </p:nvPicPr>
        <p:blipFill>
          <a:blip r:embed="rId1"/>
          <a:stretch/>
        </p:blipFill>
        <p:spPr>
          <a:xfrm>
            <a:off x="1199520" y="3960360"/>
            <a:ext cx="3191400" cy="2462040"/>
          </a:xfrm>
          <a:prstGeom prst="rect">
            <a:avLst/>
          </a:prstGeom>
          <a:ln w="0">
            <a:noFill/>
          </a:ln>
        </p:spPr>
      </p:pic>
      <p:pic>
        <p:nvPicPr>
          <p:cNvPr id="187" name="" descr=""/>
          <p:cNvPicPr/>
          <p:nvPr/>
        </p:nvPicPr>
        <p:blipFill>
          <a:blip r:embed="rId2"/>
          <a:stretch/>
        </p:blipFill>
        <p:spPr>
          <a:xfrm>
            <a:off x="6050880" y="3972240"/>
            <a:ext cx="3164040" cy="2440800"/>
          </a:xfrm>
          <a:prstGeom prst="rect">
            <a:avLst/>
          </a:prstGeom>
          <a:ln w="0">
            <a:noFill/>
          </a:ln>
        </p:spPr>
      </p:pic>
      <p:sp>
        <p:nvSpPr>
          <p:cNvPr id="188" name=""/>
          <p:cNvSpPr/>
          <p:nvPr/>
        </p:nvSpPr>
        <p:spPr>
          <a:xfrm>
            <a:off x="4608360" y="5184360"/>
            <a:ext cx="1150560" cy="2145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5400"/>
                </a:moveTo>
                <a:lnTo>
                  <a:pt x="16200" y="5400"/>
                </a:lnTo>
                <a:lnTo>
                  <a:pt x="16200" y="0"/>
                </a:lnTo>
                <a:lnTo>
                  <a:pt x="21600" y="10800"/>
                </a:lnTo>
                <a:lnTo>
                  <a:pt x="16200" y="21600"/>
                </a:lnTo>
                <a:lnTo>
                  <a:pt x="16200" y="16200"/>
                </a:lnTo>
                <a:lnTo>
                  <a:pt x="0" y="16200"/>
                </a:lnTo>
                <a:lnTo>
                  <a:pt x="2700" y="10800"/>
                </a:lnTo>
                <a:lnTo>
                  <a:pt x="0" y="540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Box 1"/>
          <p:cNvSpPr/>
          <p:nvPr/>
        </p:nvSpPr>
        <p:spPr>
          <a:xfrm>
            <a:off x="768240" y="420480"/>
            <a:ext cx="1060452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Human In The Loop (HITL)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190" name="Rectangle 2"/>
          <p:cNvSpPr/>
          <p:nvPr/>
        </p:nvSpPr>
        <p:spPr>
          <a:xfrm>
            <a:off x="768240" y="1170360"/>
            <a:ext cx="1369080" cy="41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1" name="TextBox 3"/>
          <p:cNvSpPr/>
          <p:nvPr/>
        </p:nvSpPr>
        <p:spPr>
          <a:xfrm>
            <a:off x="768240" y="1298520"/>
            <a:ext cx="10604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Człowiek jako świadoma część procesu uczenia i walidacji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192" name="Rectangle 4"/>
          <p:cNvSpPr/>
          <p:nvPr/>
        </p:nvSpPr>
        <p:spPr>
          <a:xfrm>
            <a:off x="0" y="6437520"/>
            <a:ext cx="12189240" cy="126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3" name="TextBox 5"/>
          <p:cNvSpPr/>
          <p:nvPr/>
        </p:nvSpPr>
        <p:spPr>
          <a:xfrm>
            <a:off x="768240" y="6473880"/>
            <a:ext cx="82270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HITL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94" name="TextBox 6"/>
          <p:cNvSpPr/>
          <p:nvPr/>
        </p:nvSpPr>
        <p:spPr>
          <a:xfrm>
            <a:off x="10607040" y="6473880"/>
            <a:ext cx="820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10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195" name="Rounded Rectangle 7"/>
          <p:cNvSpPr/>
          <p:nvPr/>
        </p:nvSpPr>
        <p:spPr>
          <a:xfrm>
            <a:off x="768240" y="1828800"/>
            <a:ext cx="5026680" cy="14605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6" name="Rectangle 8"/>
          <p:cNvSpPr/>
          <p:nvPr/>
        </p:nvSpPr>
        <p:spPr>
          <a:xfrm>
            <a:off x="768240" y="1828800"/>
            <a:ext cx="48240" cy="14605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7" name="TextBox 9"/>
          <p:cNvSpPr/>
          <p:nvPr/>
        </p:nvSpPr>
        <p:spPr>
          <a:xfrm>
            <a:off x="1042560" y="1993320"/>
            <a:ext cx="45694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Definiuje reguły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198" name="TextBox 10"/>
          <p:cNvSpPr/>
          <p:nvPr/>
        </p:nvSpPr>
        <p:spPr>
          <a:xfrm>
            <a:off x="1042560" y="2423160"/>
            <a:ext cx="45694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jakie klasy istnieją, co oznaczają, gdzie biegnie granica między nimi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199" name="Rounded Rectangle 11"/>
          <p:cNvSpPr/>
          <p:nvPr/>
        </p:nvSpPr>
        <p:spPr>
          <a:xfrm>
            <a:off x="6400800" y="1828800"/>
            <a:ext cx="5026680" cy="14605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0" name="Rectangle 12"/>
          <p:cNvSpPr/>
          <p:nvPr/>
        </p:nvSpPr>
        <p:spPr>
          <a:xfrm>
            <a:off x="6400800" y="1828800"/>
            <a:ext cx="48240" cy="14605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1" name="TextBox 13"/>
          <p:cNvSpPr/>
          <p:nvPr/>
        </p:nvSpPr>
        <p:spPr>
          <a:xfrm>
            <a:off x="6675120" y="1993320"/>
            <a:ext cx="45694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Sprawdza jakość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02" name="TextBox 14"/>
          <p:cNvSpPr/>
          <p:nvPr/>
        </p:nvSpPr>
        <p:spPr>
          <a:xfrm>
            <a:off x="6675120" y="2423160"/>
            <a:ext cx="45694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czy przykład pasuje do etykiety, jest realistyczny, nie powiela oryginału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03" name="Rounded Rectangle 15"/>
          <p:cNvSpPr/>
          <p:nvPr/>
        </p:nvSpPr>
        <p:spPr>
          <a:xfrm>
            <a:off x="768240" y="3566160"/>
            <a:ext cx="5026680" cy="14605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4" name="Rectangle 16"/>
          <p:cNvSpPr/>
          <p:nvPr/>
        </p:nvSpPr>
        <p:spPr>
          <a:xfrm>
            <a:off x="768240" y="3566160"/>
            <a:ext cx="48240" cy="14605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5" name="TextBox 17"/>
          <p:cNvSpPr/>
          <p:nvPr/>
        </p:nvSpPr>
        <p:spPr>
          <a:xfrm>
            <a:off x="1042560" y="3730680"/>
            <a:ext cx="45694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Rozstrzyga niejasne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06" name="TextBox 18"/>
          <p:cNvSpPr/>
          <p:nvPr/>
        </p:nvSpPr>
        <p:spPr>
          <a:xfrm>
            <a:off x="1042560" y="4160520"/>
            <a:ext cx="456948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spójne decyzje dla przypadków granicznych („koordynator”)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07" name="Rounded Rectangle 19"/>
          <p:cNvSpPr/>
          <p:nvPr/>
        </p:nvSpPr>
        <p:spPr>
          <a:xfrm>
            <a:off x="6400800" y="3566160"/>
            <a:ext cx="5026680" cy="14605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8" name="Rectangle 20"/>
          <p:cNvSpPr/>
          <p:nvPr/>
        </p:nvSpPr>
        <p:spPr>
          <a:xfrm>
            <a:off x="6400800" y="3566160"/>
            <a:ext cx="48240" cy="146052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9" name="TextBox 21"/>
          <p:cNvSpPr/>
          <p:nvPr/>
        </p:nvSpPr>
        <p:spPr>
          <a:xfrm>
            <a:off x="6675120" y="3730680"/>
            <a:ext cx="45694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1b0532"/>
                </a:solidFill>
                <a:latin typeface="Arial"/>
                <a:ea typeface="DejaVu Sans"/>
              </a:rPr>
              <a:t>Kontroluje uczenie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10" name="TextBox 22"/>
          <p:cNvSpPr/>
          <p:nvPr/>
        </p:nvSpPr>
        <p:spPr>
          <a:xfrm>
            <a:off x="6675120" y="4160520"/>
            <a:ext cx="456948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1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metryki, confusion matrix, klasy rzadkie, jakość języka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TextBox 1"/>
          <p:cNvSpPr/>
          <p:nvPr/>
        </p:nvSpPr>
        <p:spPr>
          <a:xfrm>
            <a:off x="768240" y="420480"/>
            <a:ext cx="1060452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Pętla HITL z wykorzystaniem AL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212" name="Rectangle 2"/>
          <p:cNvSpPr/>
          <p:nvPr/>
        </p:nvSpPr>
        <p:spPr>
          <a:xfrm>
            <a:off x="768240" y="1170360"/>
            <a:ext cx="1369080" cy="41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3" name="Rectangle 3"/>
          <p:cNvSpPr/>
          <p:nvPr/>
        </p:nvSpPr>
        <p:spPr>
          <a:xfrm>
            <a:off x="0" y="6437520"/>
            <a:ext cx="12189240" cy="126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4" name="TextBox 4"/>
          <p:cNvSpPr/>
          <p:nvPr/>
        </p:nvSpPr>
        <p:spPr>
          <a:xfrm>
            <a:off x="768240" y="6473880"/>
            <a:ext cx="82270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Teoria · Pętla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15" name="TextBox 5"/>
          <p:cNvSpPr/>
          <p:nvPr/>
        </p:nvSpPr>
        <p:spPr>
          <a:xfrm>
            <a:off x="10607040" y="6473880"/>
            <a:ext cx="820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11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16" name="Rounded Rectangle 6"/>
          <p:cNvSpPr/>
          <p:nvPr/>
        </p:nvSpPr>
        <p:spPr>
          <a:xfrm>
            <a:off x="768240" y="1417320"/>
            <a:ext cx="3380760" cy="11862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7" name="Rounded Rectangle 7"/>
          <p:cNvSpPr/>
          <p:nvPr/>
        </p:nvSpPr>
        <p:spPr>
          <a:xfrm>
            <a:off x="768240" y="1417320"/>
            <a:ext cx="3380760" cy="45468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8" name="TextBox 8"/>
          <p:cNvSpPr/>
          <p:nvPr/>
        </p:nvSpPr>
        <p:spPr>
          <a:xfrm>
            <a:off x="768240" y="1481400"/>
            <a:ext cx="338076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Augmentacja i labelowanie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219" name="TextBox 9"/>
          <p:cNvSpPr/>
          <p:nvPr/>
        </p:nvSpPr>
        <p:spPr>
          <a:xfrm>
            <a:off x="951120" y="2011680"/>
            <a:ext cx="30150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Jak zwiększyć i urozmaicić zbiór?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20" name="Rounded Rectangle 10"/>
          <p:cNvSpPr/>
          <p:nvPr/>
        </p:nvSpPr>
        <p:spPr>
          <a:xfrm>
            <a:off x="4380120" y="1417320"/>
            <a:ext cx="3380760" cy="11862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1" name="Rounded Rectangle 11"/>
          <p:cNvSpPr/>
          <p:nvPr/>
        </p:nvSpPr>
        <p:spPr>
          <a:xfrm>
            <a:off x="4380120" y="1417320"/>
            <a:ext cx="3380760" cy="454680"/>
          </a:xfrm>
          <a:prstGeom prst="roundRect">
            <a:avLst>
              <a:gd name="adj" fmla="val 16667"/>
            </a:avLst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2" name="TextBox 12"/>
          <p:cNvSpPr/>
          <p:nvPr/>
        </p:nvSpPr>
        <p:spPr>
          <a:xfrm>
            <a:off x="4380120" y="1481400"/>
            <a:ext cx="338076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Active Learning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223" name="TextBox 13"/>
          <p:cNvSpPr/>
          <p:nvPr/>
        </p:nvSpPr>
        <p:spPr>
          <a:xfrm>
            <a:off x="4563000" y="2011680"/>
            <a:ext cx="30150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Które dane są warte uwagi?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24" name="Rounded Rectangle 14"/>
          <p:cNvSpPr/>
          <p:nvPr/>
        </p:nvSpPr>
        <p:spPr>
          <a:xfrm>
            <a:off x="7992000" y="1417320"/>
            <a:ext cx="3380760" cy="11862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5" name="Rounded Rectangle 15"/>
          <p:cNvSpPr/>
          <p:nvPr/>
        </p:nvSpPr>
        <p:spPr>
          <a:xfrm>
            <a:off x="7992000" y="1417320"/>
            <a:ext cx="3380760" cy="45468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6" name="TextBox 16"/>
          <p:cNvSpPr/>
          <p:nvPr/>
        </p:nvSpPr>
        <p:spPr>
          <a:xfrm>
            <a:off x="7992000" y="1481400"/>
            <a:ext cx="338076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Human in the Loop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227" name="TextBox 17"/>
          <p:cNvSpPr/>
          <p:nvPr/>
        </p:nvSpPr>
        <p:spPr>
          <a:xfrm>
            <a:off x="8174880" y="2011680"/>
            <a:ext cx="30150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Jak utrzymać jakość i kontrolę?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28" name="TextBox 18"/>
          <p:cNvSpPr/>
          <p:nvPr/>
        </p:nvSpPr>
        <p:spPr>
          <a:xfrm>
            <a:off x="768240" y="3017520"/>
            <a:ext cx="1060452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Przepływ: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229" name="Rounded Rectangle 19"/>
          <p:cNvSpPr/>
          <p:nvPr/>
        </p:nvSpPr>
        <p:spPr>
          <a:xfrm>
            <a:off x="768240" y="3474720"/>
            <a:ext cx="1204560" cy="63756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0" name="TextBox 20"/>
          <p:cNvSpPr/>
          <p:nvPr/>
        </p:nvSpPr>
        <p:spPr>
          <a:xfrm>
            <a:off x="804600" y="3721680"/>
            <a:ext cx="113148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Zbiór danych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31" name="TextBox 21"/>
          <p:cNvSpPr/>
          <p:nvPr/>
        </p:nvSpPr>
        <p:spPr>
          <a:xfrm>
            <a:off x="1956960" y="3672360"/>
            <a:ext cx="16200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32" name="Rounded Rectangle 22"/>
          <p:cNvSpPr/>
          <p:nvPr/>
        </p:nvSpPr>
        <p:spPr>
          <a:xfrm>
            <a:off x="2103120" y="3474720"/>
            <a:ext cx="1204560" cy="63756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3" name="TextBox 23"/>
          <p:cNvSpPr/>
          <p:nvPr/>
        </p:nvSpPr>
        <p:spPr>
          <a:xfrm>
            <a:off x="2139840" y="3721680"/>
            <a:ext cx="113148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Trening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34" name="TextBox 24"/>
          <p:cNvSpPr/>
          <p:nvPr/>
        </p:nvSpPr>
        <p:spPr>
          <a:xfrm>
            <a:off x="3291840" y="3672360"/>
            <a:ext cx="16200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35" name="Rounded Rectangle 25"/>
          <p:cNvSpPr/>
          <p:nvPr/>
        </p:nvSpPr>
        <p:spPr>
          <a:xfrm>
            <a:off x="3438000" y="3474720"/>
            <a:ext cx="1204560" cy="63756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6" name="TextBox 26"/>
          <p:cNvSpPr/>
          <p:nvPr/>
        </p:nvSpPr>
        <p:spPr>
          <a:xfrm>
            <a:off x="3474720" y="3721680"/>
            <a:ext cx="113148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Analiza błędów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37" name="TextBox 27"/>
          <p:cNvSpPr/>
          <p:nvPr/>
        </p:nvSpPr>
        <p:spPr>
          <a:xfrm>
            <a:off x="4626720" y="3672360"/>
            <a:ext cx="16200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38" name="Rounded Rectangle 28"/>
          <p:cNvSpPr/>
          <p:nvPr/>
        </p:nvSpPr>
        <p:spPr>
          <a:xfrm>
            <a:off x="4773240" y="3474720"/>
            <a:ext cx="1204560" cy="63756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9" name="TextBox 29"/>
          <p:cNvSpPr/>
          <p:nvPr/>
        </p:nvSpPr>
        <p:spPr>
          <a:xfrm>
            <a:off x="4809600" y="3649320"/>
            <a:ext cx="11314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Wybór do augmentacji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40" name="TextBox 30"/>
          <p:cNvSpPr/>
          <p:nvPr/>
        </p:nvSpPr>
        <p:spPr>
          <a:xfrm>
            <a:off x="5961960" y="3672360"/>
            <a:ext cx="16200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41" name="Rounded Rectangle 31"/>
          <p:cNvSpPr/>
          <p:nvPr/>
        </p:nvSpPr>
        <p:spPr>
          <a:xfrm>
            <a:off x="6108120" y="3474720"/>
            <a:ext cx="1204560" cy="63756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2" name="TextBox 32"/>
          <p:cNvSpPr/>
          <p:nvPr/>
        </p:nvSpPr>
        <p:spPr>
          <a:xfrm>
            <a:off x="6144840" y="3721680"/>
            <a:ext cx="113148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Generowanie (LLM)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43" name="TextBox 33"/>
          <p:cNvSpPr/>
          <p:nvPr/>
        </p:nvSpPr>
        <p:spPr>
          <a:xfrm>
            <a:off x="7296840" y="3672360"/>
            <a:ext cx="16200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44" name="Rounded Rectangle 34"/>
          <p:cNvSpPr/>
          <p:nvPr/>
        </p:nvSpPr>
        <p:spPr>
          <a:xfrm>
            <a:off x="7443360" y="3474720"/>
            <a:ext cx="1204560" cy="63756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5" name="TextBox 35"/>
          <p:cNvSpPr/>
          <p:nvPr/>
        </p:nvSpPr>
        <p:spPr>
          <a:xfrm>
            <a:off x="7479720" y="3721680"/>
            <a:ext cx="113148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Walidacja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46" name="TextBox 36"/>
          <p:cNvSpPr/>
          <p:nvPr/>
        </p:nvSpPr>
        <p:spPr>
          <a:xfrm>
            <a:off x="8632080" y="3672360"/>
            <a:ext cx="16200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47" name="Rounded Rectangle 37"/>
          <p:cNvSpPr/>
          <p:nvPr/>
        </p:nvSpPr>
        <p:spPr>
          <a:xfrm>
            <a:off x="8778240" y="3474720"/>
            <a:ext cx="1204560" cy="63756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8" name="TextBox 38"/>
          <p:cNvSpPr/>
          <p:nvPr/>
        </p:nvSpPr>
        <p:spPr>
          <a:xfrm>
            <a:off x="8814960" y="3721680"/>
            <a:ext cx="113148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Aktualizacja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49" name="TextBox 39"/>
          <p:cNvSpPr/>
          <p:nvPr/>
        </p:nvSpPr>
        <p:spPr>
          <a:xfrm>
            <a:off x="9966960" y="3672360"/>
            <a:ext cx="16200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›</a:t>
            </a:r>
            <a:endParaRPr b="0" lang="pl-PL" sz="1600" spc="-1" strike="noStrike">
              <a:latin typeface="Arial"/>
            </a:endParaRPr>
          </a:p>
        </p:txBody>
      </p:sp>
      <p:sp>
        <p:nvSpPr>
          <p:cNvPr id="250" name="Rounded Rectangle 40"/>
          <p:cNvSpPr/>
          <p:nvPr/>
        </p:nvSpPr>
        <p:spPr>
          <a:xfrm>
            <a:off x="10113120" y="3474720"/>
            <a:ext cx="1204560" cy="637560"/>
          </a:xfrm>
          <a:prstGeom prst="roundRect">
            <a:avLst>
              <a:gd name="adj" fmla="val 16667"/>
            </a:avLst>
          </a:prstGeom>
          <a:solidFill>
            <a:srgbClr val="04273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1" name="TextBox 41"/>
          <p:cNvSpPr/>
          <p:nvPr/>
        </p:nvSpPr>
        <p:spPr>
          <a:xfrm>
            <a:off x="10149840" y="3721680"/>
            <a:ext cx="113148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fffff"/>
                </a:solidFill>
                <a:latin typeface="Arial"/>
                <a:ea typeface="DejaVu Sans"/>
              </a:rPr>
              <a:t>Ponowny trening</a:t>
            </a:r>
            <a:endParaRPr b="0" lang="pl-PL" sz="950" spc="-1" strike="noStrike">
              <a:latin typeface="Arial"/>
            </a:endParaRPr>
          </a:p>
        </p:txBody>
      </p:sp>
      <p:sp>
        <p:nvSpPr>
          <p:cNvPr id="252" name="Rounded Rectangle 42"/>
          <p:cNvSpPr/>
          <p:nvPr/>
        </p:nvSpPr>
        <p:spPr>
          <a:xfrm>
            <a:off x="768240" y="4389120"/>
            <a:ext cx="10650240" cy="6832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3" name="Rectangle 43"/>
          <p:cNvSpPr/>
          <p:nvPr/>
        </p:nvSpPr>
        <p:spPr>
          <a:xfrm>
            <a:off x="768240" y="4389120"/>
            <a:ext cx="48240" cy="683280"/>
          </a:xfrm>
          <a:prstGeom prst="rect">
            <a:avLst/>
          </a:prstGeom>
          <a:solidFill>
            <a:srgbClr val="c97a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4" name="TextBox 44"/>
          <p:cNvSpPr/>
          <p:nvPr/>
        </p:nvSpPr>
        <p:spPr>
          <a:xfrm>
            <a:off x="1024200" y="4542120"/>
            <a:ext cx="1019304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Bezpieczniejsza niż „weź dane → wygeneruj 10× więcej → trenuj”. Samo zwiększenie liczby przykładów nie gwarantuje poprawy — może nawet pogorszyć wynik.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99;p2"/>
          <p:cNvSpPr/>
          <p:nvPr/>
        </p:nvSpPr>
        <p:spPr>
          <a:xfrm>
            <a:off x="683280" y="495000"/>
            <a:ext cx="11109600" cy="96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Google Shape;100;p2"/>
          <p:cNvSpPr/>
          <p:nvPr/>
        </p:nvSpPr>
        <p:spPr>
          <a:xfrm>
            <a:off x="4010760" y="2105280"/>
            <a:ext cx="8178840" cy="30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90000"/>
              </a:lnSpc>
              <a:buNone/>
            </a:pPr>
            <a:endParaRPr b="0" lang="pl-PL" sz="32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cel: </a:t>
            </a:r>
            <a:r>
              <a:rPr b="0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usprawnienie nawigacji beneficjentów w systemie bezpłatnej pomocy psychologicznej w Warszawie;</a:t>
            </a: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kryterium: </a:t>
            </a:r>
            <a:r>
              <a:rPr b="0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przedstawienie beneficjentowi danych teleadresowych adekwatnej placówki w szybkim czasie;</a:t>
            </a: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1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produkt końcowy: </a:t>
            </a:r>
            <a:r>
              <a:rPr b="0" lang="pl-PL" sz="2000" spc="-1" strike="noStrike">
                <a:solidFill>
                  <a:srgbClr val="1b0532"/>
                </a:solidFill>
                <a:latin typeface="Calibri"/>
                <a:ea typeface="DejaVu Sans"/>
              </a:rPr>
              <a:t>Chatbot Helpi</a:t>
            </a:r>
            <a:endParaRPr b="0" lang="pl-PL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endParaRPr b="0" lang="pl-PL" sz="2000" spc="-1" strike="noStrike">
              <a:latin typeface="Arial"/>
            </a:endParaRPr>
          </a:p>
        </p:txBody>
      </p:sp>
      <p:sp>
        <p:nvSpPr>
          <p:cNvPr id="257" name="Google Shape;101;p2"/>
          <p:cNvSpPr/>
          <p:nvPr/>
        </p:nvSpPr>
        <p:spPr>
          <a:xfrm>
            <a:off x="223200" y="6287400"/>
            <a:ext cx="5400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8" name="Google Shape;102;p2"/>
          <p:cNvSpPr/>
          <p:nvPr/>
        </p:nvSpPr>
        <p:spPr>
          <a:xfrm>
            <a:off x="765720" y="6287400"/>
            <a:ext cx="4617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9" name="pole tekstowe 2"/>
          <p:cNvSpPr/>
          <p:nvPr/>
        </p:nvSpPr>
        <p:spPr>
          <a:xfrm>
            <a:off x="3049200" y="3275280"/>
            <a:ext cx="6091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pl-PL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 </a:t>
            </a:r>
            <a:endParaRPr b="0" lang="pl-PL" sz="1800" spc="-1" strike="noStrike">
              <a:latin typeface="Arial"/>
            </a:endParaRPr>
          </a:p>
        </p:txBody>
      </p:sp>
      <p:pic>
        <p:nvPicPr>
          <p:cNvPr id="260" name="Obraz 3" descr=""/>
          <p:cNvPicPr/>
          <p:nvPr/>
        </p:nvPicPr>
        <p:blipFill>
          <a:blip r:embed="rId1"/>
          <a:stretch/>
        </p:blipFill>
        <p:spPr>
          <a:xfrm>
            <a:off x="6506640" y="426240"/>
            <a:ext cx="2633760" cy="1222200"/>
          </a:xfrm>
          <a:prstGeom prst="rect">
            <a:avLst/>
          </a:prstGeom>
          <a:ln w="0">
            <a:noFill/>
          </a:ln>
        </p:spPr>
      </p:pic>
      <p:pic>
        <p:nvPicPr>
          <p:cNvPr id="261" name="Obraz 5" descr=""/>
          <p:cNvPicPr/>
          <p:nvPr/>
        </p:nvPicPr>
        <p:blipFill>
          <a:blip r:embed="rId2"/>
          <a:srcRect l="4033" t="328" r="4700" b="0"/>
          <a:stretch/>
        </p:blipFill>
        <p:spPr>
          <a:xfrm>
            <a:off x="500040" y="495000"/>
            <a:ext cx="2940840" cy="5837040"/>
          </a:xfrm>
          <a:prstGeom prst="rect">
            <a:avLst/>
          </a:prstGeom>
          <a:ln w="0">
            <a:noFill/>
          </a:ln>
        </p:spPr>
      </p:pic>
      <p:sp>
        <p:nvSpPr>
          <p:cNvPr id="262" name="Rectangle 102"/>
          <p:cNvSpPr/>
          <p:nvPr/>
        </p:nvSpPr>
        <p:spPr>
          <a:xfrm>
            <a:off x="0" y="6437520"/>
            <a:ext cx="12189240" cy="126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3" name="TextBox 103"/>
          <p:cNvSpPr/>
          <p:nvPr/>
        </p:nvSpPr>
        <p:spPr>
          <a:xfrm>
            <a:off x="3514320" y="6473880"/>
            <a:ext cx="2735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Studium przypadku · Helpi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64" name="TextBox 104"/>
          <p:cNvSpPr/>
          <p:nvPr/>
        </p:nvSpPr>
        <p:spPr>
          <a:xfrm>
            <a:off x="10863720" y="6473880"/>
            <a:ext cx="3078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12</a:t>
            </a:r>
            <a:endParaRPr b="0" lang="pl-PL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62;p3"/>
          <p:cNvSpPr/>
          <p:nvPr/>
        </p:nvSpPr>
        <p:spPr>
          <a:xfrm>
            <a:off x="825480" y="419760"/>
            <a:ext cx="5634360" cy="9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108000"/>
              </a:lnSpc>
              <a:buNone/>
            </a:pPr>
            <a:r>
              <a:rPr b="1" lang="en-US" sz="3300" spc="-1" strike="noStrike">
                <a:solidFill>
                  <a:srgbClr val="1a1a1a"/>
                </a:solidFill>
                <a:latin typeface="Calibri"/>
                <a:ea typeface="DejaVu Sans"/>
              </a:rPr>
              <a:t>Budowa języka i pierwszego zbioru danych</a:t>
            </a:r>
            <a:endParaRPr b="0" lang="pl-PL" sz="3300" spc="-1" strike="noStrike">
              <a:latin typeface="Arial"/>
            </a:endParaRPr>
          </a:p>
        </p:txBody>
      </p:sp>
      <p:sp>
        <p:nvSpPr>
          <p:cNvPr id="266" name="Google Shape;63;p3"/>
          <p:cNvSpPr/>
          <p:nvPr/>
        </p:nvSpPr>
        <p:spPr>
          <a:xfrm>
            <a:off x="825480" y="1455840"/>
            <a:ext cx="5634360" cy="88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150000"/>
              </a:lnSpc>
              <a:buNone/>
            </a:pP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Narzędzie </a:t>
            </a: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DejaVu Sans"/>
              </a:rPr>
              <a:t>Helpi-Lab </a:t>
            </a: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— aplikacja badawcza, w której testerzy wcielali się w różne role (rodzic szukający pomocy dla dziecka, osoba w kryzysie, student) i pisali naturalne zapytania.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267" name="Google Shape;64;p3"/>
          <p:cNvSpPr/>
          <p:nvPr/>
        </p:nvSpPr>
        <p:spPr>
          <a:xfrm>
            <a:off x="825480" y="2445480"/>
            <a:ext cx="5470200" cy="1692000"/>
          </a:xfrm>
          <a:prstGeom prst="roundRect">
            <a:avLst>
              <a:gd name="adj" fmla="val 5996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8" name="Google Shape;65;p3"/>
          <p:cNvSpPr/>
          <p:nvPr/>
        </p:nvSpPr>
        <p:spPr>
          <a:xfrm>
            <a:off x="1074600" y="2777040"/>
            <a:ext cx="512100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90000"/>
              </a:lnSpc>
              <a:buNone/>
            </a:pPr>
            <a:r>
              <a:rPr b="1" lang="en-US" sz="6400" spc="-1" strike="noStrike">
                <a:solidFill>
                  <a:srgbClr val="b58827"/>
                </a:solidFill>
                <a:latin typeface="Calibri"/>
                <a:ea typeface="DejaVu Sans"/>
              </a:rPr>
              <a:t>680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269" name="Google Shape;66;p3"/>
          <p:cNvSpPr/>
          <p:nvPr/>
        </p:nvSpPr>
        <p:spPr>
          <a:xfrm>
            <a:off x="1074600" y="3597480"/>
            <a:ext cx="5121000" cy="4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ręcznie zaanotowanych oczekiwanych zakresów tematycznych i językowych użytkownika — „seed dataset”.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70" name="Google Shape;67;p3"/>
          <p:cNvSpPr/>
          <p:nvPr/>
        </p:nvSpPr>
        <p:spPr>
          <a:xfrm>
            <a:off x="825480" y="4417920"/>
            <a:ext cx="5470200" cy="1838160"/>
          </a:xfrm>
          <a:prstGeom prst="roundRect">
            <a:avLst>
              <a:gd name="adj" fmla="val 6548"/>
            </a:avLst>
          </a:prstGeom>
          <a:solidFill>
            <a:srgbClr val="ffffff">
              <a:alpha val="97000"/>
            </a:srgbClr>
          </a:solidFill>
          <a:ln w="11900">
            <a:solidFill>
              <a:srgbClr val="e8e2d4">
                <a:alpha val="97000"/>
              </a:srgbClr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71" name="Google Shape;68;p3"/>
          <p:cNvSpPr/>
          <p:nvPr/>
        </p:nvSpPr>
        <p:spPr>
          <a:xfrm>
            <a:off x="1074600" y="4592880"/>
            <a:ext cx="4971960" cy="257760"/>
          </a:xfrm>
          <a:prstGeom prst="roundRect">
            <a:avLst>
              <a:gd name="adj" fmla="val 19523"/>
            </a:avLst>
          </a:prstGeom>
          <a:solidFill>
            <a:srgbClr val="eaf1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2" name="Google Shape;69;p3"/>
          <p:cNvSpPr/>
          <p:nvPr/>
        </p:nvSpPr>
        <p:spPr>
          <a:xfrm>
            <a:off x="1176120" y="4607640"/>
            <a:ext cx="491796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1867aa"/>
                </a:solidFill>
                <a:latin typeface="Calibri"/>
                <a:ea typeface="DejaVu Sans"/>
              </a:rPr>
              <a:t>TAKSONOMIA + TŁUMACZONE ZBIORY</a:t>
            </a:r>
            <a:endParaRPr b="0" lang="pl-PL" sz="1000" spc="-1" strike="noStrike">
              <a:latin typeface="Arial"/>
            </a:endParaRPr>
          </a:p>
        </p:txBody>
      </p:sp>
      <p:sp>
        <p:nvSpPr>
          <p:cNvPr id="273" name="Google Shape;70;p3"/>
          <p:cNvSpPr/>
          <p:nvPr/>
        </p:nvSpPr>
        <p:spPr>
          <a:xfrm>
            <a:off x="1074600" y="4846680"/>
            <a:ext cx="5121000" cy="11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94000"/>
          </a:bodyPr>
          <a:p>
            <a:pPr>
              <a:lnSpc>
                <a:spcPct val="155000"/>
              </a:lnSpc>
              <a:buNone/>
            </a:pP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Zbiory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mental health 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z HuggingFace przetłumaczono na polski, a na podstawie przeszukiwania (crawling)  stron placówek zdefiniowano: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typy usług (T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ypes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 O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f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S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ervices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) 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i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grupy docelowe (T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arget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 G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roups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)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.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74" name="Google Shape;71;p3"/>
          <p:cNvSpPr/>
          <p:nvPr/>
        </p:nvSpPr>
        <p:spPr>
          <a:xfrm>
            <a:off x="6896160" y="784080"/>
            <a:ext cx="4275720" cy="4830120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266760" dir="5400000" dist="763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pic>
        <p:nvPicPr>
          <p:cNvPr id="275" name="Google Shape;72;p3" descr="preencoded.png"/>
          <p:cNvPicPr/>
          <p:nvPr/>
        </p:nvPicPr>
        <p:blipFill>
          <a:blip r:embed="rId1"/>
          <a:stretch/>
        </p:blipFill>
        <p:spPr>
          <a:xfrm>
            <a:off x="6904440" y="792000"/>
            <a:ext cx="4259880" cy="4814280"/>
          </a:xfrm>
          <a:prstGeom prst="rect">
            <a:avLst/>
          </a:prstGeom>
          <a:ln w="0">
            <a:noFill/>
          </a:ln>
        </p:spPr>
      </p:pic>
      <p:sp>
        <p:nvSpPr>
          <p:cNvPr id="276" name="Google Shape;73;p3"/>
          <p:cNvSpPr/>
          <p:nvPr/>
        </p:nvSpPr>
        <p:spPr>
          <a:xfrm>
            <a:off x="6634800" y="5730840"/>
            <a:ext cx="47991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8000"/>
          </a:bodyPr>
          <a:p>
            <a:pPr algn="ctr">
              <a:lnSpc>
                <a:spcPct val="150000"/>
              </a:lnSpc>
              <a:buNone/>
            </a:pPr>
            <a:r>
              <a:rPr b="0" lang="en-US" sz="1200" spc="-1" strike="noStrike">
                <a:solidFill>
                  <a:srgbClr val="888888"/>
                </a:solidFill>
                <a:latin typeface="Calibri"/>
                <a:ea typeface="DejaVu Sans"/>
              </a:rPr>
              <a:t>Helpi-Lab — interfejs asystenta badawczego z rundami scenariuszy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77" name="Rectangle 73"/>
          <p:cNvSpPr/>
          <p:nvPr/>
        </p:nvSpPr>
        <p:spPr>
          <a:xfrm>
            <a:off x="0" y="6437520"/>
            <a:ext cx="12189240" cy="126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8" name="TextBox 74"/>
          <p:cNvSpPr/>
          <p:nvPr/>
        </p:nvSpPr>
        <p:spPr>
          <a:xfrm>
            <a:off x="3514320" y="6473880"/>
            <a:ext cx="2735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Studium przypadku · Helpi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79" name="TextBox 75"/>
          <p:cNvSpPr/>
          <p:nvPr/>
        </p:nvSpPr>
        <p:spPr>
          <a:xfrm>
            <a:off x="10863720" y="6473880"/>
            <a:ext cx="3078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13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80" name="Rectangle 76"/>
          <p:cNvSpPr/>
          <p:nvPr/>
        </p:nvSpPr>
        <p:spPr>
          <a:xfrm>
            <a:off x="825480" y="1360080"/>
            <a:ext cx="1369080" cy="41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79;p4"/>
          <p:cNvSpPr/>
          <p:nvPr/>
        </p:nvSpPr>
        <p:spPr>
          <a:xfrm>
            <a:off x="1020240" y="571680"/>
            <a:ext cx="4067640" cy="5027040"/>
          </a:xfrm>
          <a:prstGeom prst="roundRect">
            <a:avLst>
              <a:gd name="adj" fmla="val 2496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266760" dir="5400000" dist="7632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pic>
        <p:nvPicPr>
          <p:cNvPr id="282" name="Google Shape;80;p4" descr="preencoded.png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1028160" y="579600"/>
            <a:ext cx="4051800" cy="5011200"/>
          </a:xfrm>
          <a:prstGeom prst="rect">
            <a:avLst/>
          </a:prstGeom>
          <a:ln w="0">
            <a:noFill/>
          </a:ln>
        </p:spPr>
      </p:pic>
      <p:sp>
        <p:nvSpPr>
          <p:cNvPr id="283" name="Google Shape;81;p4"/>
          <p:cNvSpPr/>
          <p:nvPr/>
        </p:nvSpPr>
        <p:spPr>
          <a:xfrm>
            <a:off x="758520" y="5715360"/>
            <a:ext cx="4590360" cy="47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 algn="ctr">
              <a:lnSpc>
                <a:spcPct val="150000"/>
              </a:lnSpc>
              <a:buNone/>
            </a:pPr>
            <a:r>
              <a:rPr b="0" lang="en-US" sz="1200" spc="-1" strike="noStrike">
                <a:solidFill>
                  <a:srgbClr val="888888"/>
                </a:solidFill>
                <a:latin typeface="Calibri"/>
                <a:ea typeface="DejaVu Sans"/>
              </a:rPr>
              <a:t>Helpi Inference (TOS, TG) — testowanie klasyfikatorów i rozkład prawdopodobieństw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84" name="Google Shape;83;p4"/>
          <p:cNvSpPr/>
          <p:nvPr/>
        </p:nvSpPr>
        <p:spPr>
          <a:xfrm>
            <a:off x="5691240" y="1323360"/>
            <a:ext cx="5843160" cy="9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108000"/>
              </a:lnSpc>
              <a:buNone/>
            </a:pPr>
            <a:r>
              <a:rPr b="1" lang="en-US" sz="3300" spc="-1" strike="noStrike">
                <a:solidFill>
                  <a:srgbClr val="1a1a1a"/>
                </a:solidFill>
                <a:latin typeface="Calibri"/>
                <a:ea typeface="DejaVu Sans"/>
              </a:rPr>
              <a:t>Anotacja i trening modeli klasyfikacyjnych</a:t>
            </a:r>
            <a:endParaRPr b="0" lang="pl-PL" sz="3300" spc="-1" strike="noStrike">
              <a:latin typeface="Arial"/>
            </a:endParaRPr>
          </a:p>
        </p:txBody>
      </p:sp>
      <p:sp>
        <p:nvSpPr>
          <p:cNvPr id="285" name="Google Shape;84;p4"/>
          <p:cNvSpPr/>
          <p:nvPr/>
        </p:nvSpPr>
        <p:spPr>
          <a:xfrm>
            <a:off x="5691240" y="2418840"/>
            <a:ext cx="5843160" cy="88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150000"/>
              </a:lnSpc>
              <a:buNone/>
            </a:pP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Model </a:t>
            </a: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DejaVu Sans"/>
              </a:rPr>
              <a:t>GPT-OSS:120b </a:t>
            </a: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generował wstępne klasyfikacje (typ usługi TOS + grupa docelowa TG), a ludzie weryfikowali i korygowali je w aplikacji </a:t>
            </a:r>
            <a:r>
              <a:rPr b="1" lang="en-US" sz="1500" spc="-1" strike="noStrike">
                <a:solidFill>
                  <a:srgbClr val="1a1a1a"/>
                </a:solidFill>
                <a:latin typeface="Calibri"/>
                <a:ea typeface="DejaVu Sans"/>
              </a:rPr>
              <a:t>Helpi-Lab-Chat-Anno</a:t>
            </a: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.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286" name="Google Shape;85;p4"/>
          <p:cNvSpPr/>
          <p:nvPr/>
        </p:nvSpPr>
        <p:spPr>
          <a:xfrm>
            <a:off x="5691240" y="3467880"/>
            <a:ext cx="2746440" cy="1682640"/>
          </a:xfrm>
          <a:prstGeom prst="roundRect">
            <a:avLst>
              <a:gd name="adj" fmla="val 6030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7" name="Google Shape;86;p4"/>
          <p:cNvSpPr/>
          <p:nvPr/>
        </p:nvSpPr>
        <p:spPr>
          <a:xfrm>
            <a:off x="5927400" y="3687120"/>
            <a:ext cx="234144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90000"/>
              </a:lnSpc>
              <a:buNone/>
            </a:pPr>
            <a:r>
              <a:rPr b="1" lang="en-US" sz="6400" spc="-1" strike="noStrike">
                <a:solidFill>
                  <a:srgbClr val="b58827"/>
                </a:solidFill>
                <a:latin typeface="Calibri"/>
                <a:ea typeface="DejaVu Sans"/>
              </a:rPr>
              <a:t>4933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288" name="Google Shape;87;p4"/>
          <p:cNvSpPr/>
          <p:nvPr/>
        </p:nvSpPr>
        <p:spPr>
          <a:xfrm>
            <a:off x="5791680" y="4507200"/>
            <a:ext cx="2645640" cy="4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sprawdzone anotacje (etykietowanie) — pierwszy „oficjalny” dataset.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89" name="Google Shape;88;p4"/>
          <p:cNvSpPr/>
          <p:nvPr/>
        </p:nvSpPr>
        <p:spPr>
          <a:xfrm>
            <a:off x="8617680" y="3467880"/>
            <a:ext cx="2746440" cy="1682640"/>
          </a:xfrm>
          <a:prstGeom prst="roundRect">
            <a:avLst>
              <a:gd name="adj" fmla="val 6030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0" name="Google Shape;89;p4"/>
          <p:cNvSpPr/>
          <p:nvPr/>
        </p:nvSpPr>
        <p:spPr>
          <a:xfrm>
            <a:off x="8854200" y="3678840"/>
            <a:ext cx="234144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90000"/>
              </a:lnSpc>
              <a:buNone/>
            </a:pPr>
            <a:r>
              <a:rPr b="1" lang="en-US" sz="6400" spc="-1" strike="noStrike">
                <a:solidFill>
                  <a:srgbClr val="1867aa"/>
                </a:solidFill>
                <a:latin typeface="Calibri"/>
                <a:ea typeface="DejaVu Sans"/>
              </a:rPr>
              <a:t>2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291" name="Google Shape;90;p4"/>
          <p:cNvSpPr/>
          <p:nvPr/>
        </p:nvSpPr>
        <p:spPr>
          <a:xfrm>
            <a:off x="8854200" y="4499280"/>
            <a:ext cx="234144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3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modele klasyfikacyjne: </a:t>
            </a:r>
            <a:r>
              <a:rPr b="1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TOS </a:t>
            </a: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(typy usług) i </a:t>
            </a:r>
            <a:r>
              <a:rPr b="1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TG </a:t>
            </a: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(grupy docelowe).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292" name="Google Shape;91;p4"/>
          <p:cNvSpPr/>
          <p:nvPr/>
        </p:nvSpPr>
        <p:spPr>
          <a:xfrm>
            <a:off x="5691240" y="5346720"/>
            <a:ext cx="5843160" cy="53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155000"/>
              </a:lnSpc>
              <a:buNone/>
            </a:pP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Te modele stały się </a:t>
            </a: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rdzeniem logiki Helpi </a:t>
            </a:r>
            <a:r>
              <a:rPr b="0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— one decydują, jakie placówki zaproponować użytkownikowi na podstawie opisu problemu.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293" name="Rectangle 91"/>
          <p:cNvSpPr/>
          <p:nvPr/>
        </p:nvSpPr>
        <p:spPr>
          <a:xfrm>
            <a:off x="0" y="6437520"/>
            <a:ext cx="12189240" cy="126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4" name="TextBox 92"/>
          <p:cNvSpPr/>
          <p:nvPr/>
        </p:nvSpPr>
        <p:spPr>
          <a:xfrm>
            <a:off x="3514320" y="6473880"/>
            <a:ext cx="2735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Studium przypadku · Helpi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95" name="TextBox 93"/>
          <p:cNvSpPr/>
          <p:nvPr/>
        </p:nvSpPr>
        <p:spPr>
          <a:xfrm>
            <a:off x="10863720" y="6473880"/>
            <a:ext cx="3078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14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296" name="Rectangle 94"/>
          <p:cNvSpPr/>
          <p:nvPr/>
        </p:nvSpPr>
        <p:spPr>
          <a:xfrm>
            <a:off x="5691240" y="2299320"/>
            <a:ext cx="1369080" cy="41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98;p5"/>
          <p:cNvSpPr/>
          <p:nvPr/>
        </p:nvSpPr>
        <p:spPr>
          <a:xfrm>
            <a:off x="825480" y="852480"/>
            <a:ext cx="1085472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108000"/>
              </a:lnSpc>
              <a:buNone/>
            </a:pPr>
            <a:r>
              <a:rPr b="1" lang="en-US" sz="3300" spc="-1" strike="noStrike">
                <a:solidFill>
                  <a:srgbClr val="1a1a1a"/>
                </a:solidFill>
                <a:latin typeface="Calibri"/>
                <a:ea typeface="DejaVu Sans"/>
              </a:rPr>
              <a:t> </a:t>
            </a:r>
            <a:r>
              <a:rPr b="1" lang="en-US" sz="3300" spc="-1" strike="noStrike">
                <a:solidFill>
                  <a:srgbClr val="1a1a1a"/>
                </a:solidFill>
                <a:latin typeface="Calibri"/>
                <a:ea typeface="DejaVu Sans"/>
              </a:rPr>
              <a:t>Balans - skalowanie danych i doskonalenie modeli</a:t>
            </a:r>
            <a:endParaRPr b="0" lang="pl-PL" sz="3300" spc="-1" strike="noStrike">
              <a:latin typeface="Arial"/>
            </a:endParaRPr>
          </a:p>
        </p:txBody>
      </p:sp>
      <p:sp>
        <p:nvSpPr>
          <p:cNvPr id="298" name="Google Shape;99;p5"/>
          <p:cNvSpPr/>
          <p:nvPr/>
        </p:nvSpPr>
        <p:spPr>
          <a:xfrm>
            <a:off x="825480" y="1548360"/>
            <a:ext cx="9154080" cy="59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2000"/>
          </a:bodyPr>
          <a:p>
            <a:pPr>
              <a:lnSpc>
                <a:spcPct val="150000"/>
              </a:lnSpc>
              <a:buNone/>
            </a:pPr>
            <a:r>
              <a:rPr b="0" lang="en-US" sz="1500" spc="-1" strike="noStrike">
                <a:solidFill>
                  <a:srgbClr val="555555"/>
                </a:solidFill>
                <a:latin typeface="Calibri"/>
                <a:ea typeface="DejaVu Sans"/>
              </a:rPr>
              <a:t>Wytrenowane klasyfikatory same anotowały nowo wygenerowane przypadki, a ludzie weryfikowali wyniki — pętla, która systematycznie podnosiła precyzję klasyfikacji.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299" name="Google Shape;100;p5"/>
          <p:cNvSpPr/>
          <p:nvPr/>
        </p:nvSpPr>
        <p:spPr>
          <a:xfrm>
            <a:off x="825480" y="2435040"/>
            <a:ext cx="4716720" cy="3887280"/>
          </a:xfrm>
          <a:prstGeom prst="roundRect">
            <a:avLst>
              <a:gd name="adj" fmla="val 2612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0" name="Google Shape;101;p5"/>
          <p:cNvSpPr/>
          <p:nvPr/>
        </p:nvSpPr>
        <p:spPr>
          <a:xfrm>
            <a:off x="1138320" y="3220920"/>
            <a:ext cx="4091400" cy="257760"/>
          </a:xfrm>
          <a:prstGeom prst="roundRect">
            <a:avLst>
              <a:gd name="adj" fmla="val 19523"/>
            </a:avLst>
          </a:prstGeom>
          <a:solidFill>
            <a:srgbClr val="eaf1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1" name="Google Shape;102;p5"/>
          <p:cNvSpPr/>
          <p:nvPr/>
        </p:nvSpPr>
        <p:spPr>
          <a:xfrm>
            <a:off x="1239840" y="3271680"/>
            <a:ext cx="40107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ctr">
            <a:normAutofit fontScale="98000"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1867aa"/>
                </a:solidFill>
                <a:latin typeface="Calibri"/>
                <a:ea typeface="DejaVu Sans"/>
              </a:rPr>
              <a:t>PĘTLA DOSKONALENIA MODELI</a:t>
            </a:r>
            <a:endParaRPr b="0" lang="pl-PL" sz="1000" spc="-1" strike="noStrike">
              <a:latin typeface="Arial"/>
            </a:endParaRPr>
          </a:p>
        </p:txBody>
      </p:sp>
      <p:sp>
        <p:nvSpPr>
          <p:cNvPr id="302" name="Google Shape;103;p5"/>
          <p:cNvSpPr/>
          <p:nvPr/>
        </p:nvSpPr>
        <p:spPr>
          <a:xfrm>
            <a:off x="1138320" y="3620880"/>
            <a:ext cx="21096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>
              <a:lnSpc>
                <a:spcPct val="90000"/>
              </a:lnSpc>
              <a:buNone/>
            </a:pPr>
            <a:r>
              <a:rPr b="1" lang="en-US" sz="2300" spc="-1" strike="noStrike">
                <a:solidFill>
                  <a:srgbClr val="b58827"/>
                </a:solidFill>
                <a:latin typeface="Calibri"/>
                <a:ea typeface="DejaVu Sans"/>
              </a:rPr>
              <a:t>1</a:t>
            </a:r>
            <a:endParaRPr b="0" lang="pl-PL" sz="2300" spc="-1" strike="noStrike">
              <a:latin typeface="Arial"/>
            </a:endParaRPr>
          </a:p>
        </p:txBody>
      </p:sp>
      <p:sp>
        <p:nvSpPr>
          <p:cNvPr id="303" name="Google Shape;104;p5"/>
          <p:cNvSpPr/>
          <p:nvPr/>
        </p:nvSpPr>
        <p:spPr>
          <a:xfrm>
            <a:off x="1415160" y="3624120"/>
            <a:ext cx="116028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>
              <a:lnSpc>
                <a:spcPct val="155000"/>
              </a:lnSpc>
              <a:buNone/>
            </a:pP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Model trenuje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04" name="Google Shape;105;p5"/>
          <p:cNvSpPr/>
          <p:nvPr/>
        </p:nvSpPr>
        <p:spPr>
          <a:xfrm>
            <a:off x="1886040" y="3972240"/>
            <a:ext cx="39024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>
              <a:lnSpc>
                <a:spcPct val="150000"/>
              </a:lnSpc>
              <a:buNone/>
            </a:pPr>
            <a:r>
              <a:rPr b="1" lang="en-US" sz="1200" spc="-1" strike="noStrike">
                <a:solidFill>
                  <a:srgbClr val="b58827"/>
                </a:solidFill>
                <a:latin typeface="Calibri"/>
                <a:ea typeface="DejaVu Sans"/>
              </a:rPr>
              <a:t>↓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05" name="Google Shape;106;p5"/>
          <p:cNvSpPr/>
          <p:nvPr/>
        </p:nvSpPr>
        <p:spPr>
          <a:xfrm>
            <a:off x="1138320" y="4289760"/>
            <a:ext cx="21096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>
              <a:lnSpc>
                <a:spcPct val="90000"/>
              </a:lnSpc>
              <a:buNone/>
            </a:pPr>
            <a:r>
              <a:rPr b="1" lang="en-US" sz="2300" spc="-1" strike="noStrike">
                <a:solidFill>
                  <a:srgbClr val="b58827"/>
                </a:solidFill>
                <a:latin typeface="Calibri"/>
                <a:ea typeface="DejaVu Sans"/>
              </a:rPr>
              <a:t>2</a:t>
            </a:r>
            <a:endParaRPr b="0" lang="pl-PL" sz="2300" spc="-1" strike="noStrike">
              <a:latin typeface="Arial"/>
            </a:endParaRPr>
          </a:p>
        </p:txBody>
      </p:sp>
      <p:sp>
        <p:nvSpPr>
          <p:cNvPr id="306" name="Google Shape;107;p5"/>
          <p:cNvSpPr/>
          <p:nvPr/>
        </p:nvSpPr>
        <p:spPr>
          <a:xfrm>
            <a:off x="1415160" y="4293360"/>
            <a:ext cx="159948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>
              <a:lnSpc>
                <a:spcPct val="155000"/>
              </a:lnSpc>
              <a:buNone/>
            </a:pP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Anotuje nowe dane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07" name="Google Shape;108;p5"/>
          <p:cNvSpPr/>
          <p:nvPr/>
        </p:nvSpPr>
        <p:spPr>
          <a:xfrm>
            <a:off x="1886040" y="4641480"/>
            <a:ext cx="39024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>
              <a:lnSpc>
                <a:spcPct val="150000"/>
              </a:lnSpc>
              <a:buNone/>
            </a:pPr>
            <a:r>
              <a:rPr b="1" lang="en-US" sz="1200" spc="-1" strike="noStrike">
                <a:solidFill>
                  <a:srgbClr val="b58827"/>
                </a:solidFill>
                <a:latin typeface="Calibri"/>
                <a:ea typeface="DejaVu Sans"/>
              </a:rPr>
              <a:t>↓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08" name="Google Shape;109;p5"/>
          <p:cNvSpPr/>
          <p:nvPr/>
        </p:nvSpPr>
        <p:spPr>
          <a:xfrm>
            <a:off x="1138320" y="4958640"/>
            <a:ext cx="21096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>
              <a:lnSpc>
                <a:spcPct val="90000"/>
              </a:lnSpc>
              <a:buNone/>
            </a:pPr>
            <a:r>
              <a:rPr b="1" lang="en-US" sz="2300" spc="-1" strike="noStrike">
                <a:solidFill>
                  <a:srgbClr val="b58827"/>
                </a:solidFill>
                <a:latin typeface="Calibri"/>
                <a:ea typeface="DejaVu Sans"/>
              </a:rPr>
              <a:t>3</a:t>
            </a:r>
            <a:endParaRPr b="0" lang="pl-PL" sz="2300" spc="-1" strike="noStrike">
              <a:latin typeface="Arial"/>
            </a:endParaRPr>
          </a:p>
        </p:txBody>
      </p:sp>
      <p:sp>
        <p:nvSpPr>
          <p:cNvPr id="309" name="Google Shape;110;p5"/>
          <p:cNvSpPr/>
          <p:nvPr/>
        </p:nvSpPr>
        <p:spPr>
          <a:xfrm>
            <a:off x="1415160" y="4962240"/>
            <a:ext cx="133272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>
              <a:lnSpc>
                <a:spcPct val="155000"/>
              </a:lnSpc>
              <a:buNone/>
            </a:pPr>
            <a:r>
              <a:rPr b="1" lang="en-US" sz="1300" spc="-1" strike="noStrike">
                <a:solidFill>
                  <a:srgbClr val="1a1a1a"/>
                </a:solidFill>
                <a:latin typeface="Calibri"/>
                <a:ea typeface="DejaVu Sans"/>
              </a:rPr>
              <a:t>Ludzie korygują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10" name="Google Shape;111;p5"/>
          <p:cNvSpPr/>
          <p:nvPr/>
        </p:nvSpPr>
        <p:spPr>
          <a:xfrm>
            <a:off x="1290600" y="5310360"/>
            <a:ext cx="406152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9000"/>
          </a:bodyPr>
          <a:p>
            <a:pPr>
              <a:lnSpc>
                <a:spcPct val="150000"/>
              </a:lnSpc>
              <a:buNone/>
            </a:pPr>
            <a:r>
              <a:rPr b="1" lang="en-US" sz="1200" spc="-1" strike="noStrike">
                <a:solidFill>
                  <a:srgbClr val="b58827"/>
                </a:solidFill>
                <a:latin typeface="Calibri"/>
                <a:ea typeface="DejaVu Sans"/>
              </a:rPr>
              <a:t>↺ </a:t>
            </a:r>
            <a:r>
              <a:rPr b="1" lang="en-US" sz="1200" spc="-1" strike="noStrike">
                <a:solidFill>
                  <a:srgbClr val="b58827"/>
                </a:solidFill>
                <a:latin typeface="Calibri"/>
                <a:ea typeface="DejaVu Sans"/>
              </a:rPr>
              <a:t>model trenuje ponownie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11" name="Google Shape;112;p5"/>
          <p:cNvSpPr/>
          <p:nvPr/>
        </p:nvSpPr>
        <p:spPr>
          <a:xfrm>
            <a:off x="5849280" y="2435040"/>
            <a:ext cx="2679840" cy="1654920"/>
          </a:xfrm>
          <a:prstGeom prst="roundRect">
            <a:avLst>
              <a:gd name="adj" fmla="val 6129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2" name="Google Shape;113;p5"/>
          <p:cNvSpPr/>
          <p:nvPr/>
        </p:nvSpPr>
        <p:spPr>
          <a:xfrm>
            <a:off x="6073200" y="2777400"/>
            <a:ext cx="2299320" cy="47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90000"/>
              </a:lnSpc>
              <a:buNone/>
            </a:pPr>
            <a:r>
              <a:rPr b="1" lang="en-US" sz="4000" spc="-1" strike="noStrike">
                <a:solidFill>
                  <a:srgbClr val="b58827"/>
                </a:solidFill>
                <a:latin typeface="Calibri"/>
                <a:ea typeface="DejaVu Sans"/>
              </a:rPr>
              <a:t>~700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313" name="Google Shape;114;p5"/>
          <p:cNvSpPr/>
          <p:nvPr/>
        </p:nvSpPr>
        <p:spPr>
          <a:xfrm>
            <a:off x="6073200" y="3323520"/>
            <a:ext cx="2299320" cy="4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3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podtura A — przypadki typów usług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14" name="Google Shape;115;p5"/>
          <p:cNvSpPr/>
          <p:nvPr/>
        </p:nvSpPr>
        <p:spPr>
          <a:xfrm>
            <a:off x="8683920" y="2435040"/>
            <a:ext cx="2679840" cy="1654920"/>
          </a:xfrm>
          <a:prstGeom prst="roundRect">
            <a:avLst>
              <a:gd name="adj" fmla="val 6129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5" name="Google Shape;116;p5"/>
          <p:cNvSpPr/>
          <p:nvPr/>
        </p:nvSpPr>
        <p:spPr>
          <a:xfrm>
            <a:off x="8907840" y="2777400"/>
            <a:ext cx="2299680" cy="47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90000"/>
              </a:lnSpc>
              <a:buNone/>
            </a:pPr>
            <a:r>
              <a:rPr b="1" lang="en-US" sz="4000" spc="-1" strike="noStrike">
                <a:solidFill>
                  <a:srgbClr val="b58827"/>
                </a:solidFill>
                <a:latin typeface="Calibri"/>
                <a:ea typeface="DejaVu Sans"/>
              </a:rPr>
              <a:t>4354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316" name="Google Shape;117;p5"/>
          <p:cNvSpPr/>
          <p:nvPr/>
        </p:nvSpPr>
        <p:spPr>
          <a:xfrm>
            <a:off x="8907840" y="3323520"/>
            <a:ext cx="2299680" cy="4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1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podtura B — przypadki łącznie dla TOS i TG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17" name="Google Shape;118;p5"/>
          <p:cNvSpPr/>
          <p:nvPr/>
        </p:nvSpPr>
        <p:spPr>
          <a:xfrm>
            <a:off x="5849280" y="4245120"/>
            <a:ext cx="5514840" cy="2077200"/>
          </a:xfrm>
          <a:prstGeom prst="roundRect">
            <a:avLst>
              <a:gd name="adj" fmla="val 4885"/>
            </a:avLst>
          </a:prstGeom>
          <a:solidFill>
            <a:srgbClr val="ffffff"/>
          </a:solidFill>
          <a:ln w="11900">
            <a:solidFill>
              <a:srgbClr val="e8e2d4"/>
            </a:solidFill>
            <a:round/>
          </a:ln>
          <a:effectLst>
            <a:outerShdw algn="bl" blurRad="152280" dir="5400000" dist="19080" rotWithShape="0">
              <a:srgbClr val="000000">
                <a:alpha val="6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8" name="Google Shape;119;p5"/>
          <p:cNvSpPr/>
          <p:nvPr/>
        </p:nvSpPr>
        <p:spPr>
          <a:xfrm>
            <a:off x="6085800" y="4581360"/>
            <a:ext cx="1508760" cy="47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0000"/>
          </a:bodyPr>
          <a:p>
            <a:pPr>
              <a:lnSpc>
                <a:spcPct val="90000"/>
              </a:lnSpc>
              <a:buNone/>
            </a:pPr>
            <a:r>
              <a:rPr b="1" lang="en-US" sz="4000" spc="-1" strike="noStrike">
                <a:solidFill>
                  <a:srgbClr val="1867aa"/>
                </a:solidFill>
                <a:latin typeface="Calibri"/>
                <a:ea typeface="DejaVu Sans"/>
              </a:rPr>
              <a:t>~5400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319" name="Google Shape;120;p5"/>
          <p:cNvSpPr/>
          <p:nvPr/>
        </p:nvSpPr>
        <p:spPr>
          <a:xfrm>
            <a:off x="7673400" y="4755960"/>
            <a:ext cx="668160" cy="27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77000"/>
          </a:bodyPr>
          <a:p>
            <a:pPr>
              <a:lnSpc>
                <a:spcPct val="90000"/>
              </a:lnSpc>
              <a:buNone/>
            </a:pPr>
            <a:r>
              <a:rPr b="1" lang="en-US" sz="2200" spc="-1" strike="noStrike">
                <a:solidFill>
                  <a:srgbClr val="b58827"/>
                </a:solidFill>
                <a:latin typeface="Calibri"/>
                <a:ea typeface="DejaVu Sans"/>
              </a:rPr>
              <a:t>+940</a:t>
            </a:r>
            <a:endParaRPr b="0" lang="pl-PL" sz="2200" spc="-1" strike="noStrike">
              <a:latin typeface="Arial"/>
            </a:endParaRPr>
          </a:p>
        </p:txBody>
      </p:sp>
      <p:sp>
        <p:nvSpPr>
          <p:cNvPr id="320" name="Google Shape;121;p5"/>
          <p:cNvSpPr/>
          <p:nvPr/>
        </p:nvSpPr>
        <p:spPr>
          <a:xfrm>
            <a:off x="6085800" y="5127120"/>
            <a:ext cx="5193000" cy="88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rmAutofit fontScale="86000"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Dataset grup docelowych był niezbalansowany (nadreprezentacja „dorosłych”, niedobór „seniorów” i „osób niebinarnych”), więc dogenerowano ok. </a:t>
            </a:r>
            <a:r>
              <a:rPr b="1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940 </a:t>
            </a: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przypadków — uzyskując </a:t>
            </a:r>
            <a:r>
              <a:rPr b="1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~5400 </a:t>
            </a:r>
            <a:r>
              <a:rPr b="0" lang="en-US" sz="1200" spc="-1" strike="noStrike">
                <a:solidFill>
                  <a:srgbClr val="555555"/>
                </a:solidFill>
                <a:latin typeface="Calibri"/>
                <a:ea typeface="DejaVu Sans"/>
              </a:rPr>
              <a:t>zbalansowanych przykładów dla TG.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21" name="Rectangle 121"/>
          <p:cNvSpPr/>
          <p:nvPr/>
        </p:nvSpPr>
        <p:spPr>
          <a:xfrm>
            <a:off x="0" y="6437520"/>
            <a:ext cx="12189240" cy="126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2" name="TextBox 122"/>
          <p:cNvSpPr/>
          <p:nvPr/>
        </p:nvSpPr>
        <p:spPr>
          <a:xfrm>
            <a:off x="3514320" y="6473880"/>
            <a:ext cx="2735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Studium przypadku · Helpi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23" name="TextBox 123"/>
          <p:cNvSpPr/>
          <p:nvPr/>
        </p:nvSpPr>
        <p:spPr>
          <a:xfrm>
            <a:off x="10863720" y="6473880"/>
            <a:ext cx="3078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15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24" name="Rectangle 124"/>
          <p:cNvSpPr/>
          <p:nvPr/>
        </p:nvSpPr>
        <p:spPr>
          <a:xfrm>
            <a:off x="825480" y="1375920"/>
            <a:ext cx="1369080" cy="41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Rectangle 1"/>
          <p:cNvSpPr/>
          <p:nvPr/>
        </p:nvSpPr>
        <p:spPr>
          <a:xfrm>
            <a:off x="768240" y="1554480"/>
            <a:ext cx="1826280" cy="482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6" name="TextBox 2"/>
          <p:cNvSpPr/>
          <p:nvPr/>
        </p:nvSpPr>
        <p:spPr>
          <a:xfrm>
            <a:off x="768240" y="1737360"/>
            <a:ext cx="10421640" cy="57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3800" spc="-1" strike="noStrike">
                <a:solidFill>
                  <a:srgbClr val="ffffff"/>
                </a:solidFill>
                <a:latin typeface="Play"/>
                <a:ea typeface="DejaVu Sans"/>
              </a:rPr>
              <a:t>Interaktywna sesja anotacyjna</a:t>
            </a:r>
            <a:endParaRPr b="0" lang="pl-PL" sz="3800" spc="-1" strike="noStrike">
              <a:latin typeface="Arial"/>
            </a:endParaRPr>
          </a:p>
        </p:txBody>
      </p:sp>
      <p:sp>
        <p:nvSpPr>
          <p:cNvPr id="327" name="TextBox 3"/>
          <p:cNvSpPr/>
          <p:nvPr/>
        </p:nvSpPr>
        <p:spPr>
          <a:xfrm>
            <a:off x="768240" y="2697480"/>
            <a:ext cx="10055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c9e9f5"/>
                </a:solidFill>
                <a:latin typeface="Arial"/>
                <a:ea typeface="DejaVu Sans"/>
              </a:rPr>
              <a:t>Spróbuj sam — przekonaj się, jak trudno dokładnie oznaczać tekst bez kontekstu biznesowego.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328" name="Rounded Rectangle 4"/>
          <p:cNvSpPr/>
          <p:nvPr/>
        </p:nvSpPr>
        <p:spPr>
          <a:xfrm>
            <a:off x="768240" y="3566160"/>
            <a:ext cx="6398280" cy="100332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9" name="TextBox 5"/>
          <p:cNvSpPr/>
          <p:nvPr/>
        </p:nvSpPr>
        <p:spPr>
          <a:xfrm>
            <a:off x="768240" y="3703320"/>
            <a:ext cx="63982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42733"/>
                </a:solidFill>
                <a:latin typeface="Arial"/>
                <a:ea typeface="DejaVu Sans"/>
              </a:rPr>
              <a:t>Link do sesji (~5 min):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30" name="TextBox 6"/>
          <p:cNvSpPr/>
          <p:nvPr/>
        </p:nvSpPr>
        <p:spPr>
          <a:xfrm>
            <a:off x="768240" y="4041720"/>
            <a:ext cx="639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042733"/>
                </a:solidFill>
                <a:latin typeface="Play"/>
                <a:ea typeface="DejaVu Sans"/>
              </a:rPr>
              <a:t>https://dss2026.radlab.dev/</a:t>
            </a:r>
            <a:endParaRPr b="0" lang="pl-PL" sz="2400" spc="-1" strike="noStrike">
              <a:latin typeface="Arial"/>
            </a:endParaRPr>
          </a:p>
        </p:txBody>
      </p:sp>
      <p:sp>
        <p:nvSpPr>
          <p:cNvPr id="331" name="TextBox 7"/>
          <p:cNvSpPr/>
          <p:nvPr/>
        </p:nvSpPr>
        <p:spPr>
          <a:xfrm>
            <a:off x="768240" y="5120640"/>
            <a:ext cx="2557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Przeczytaj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32" name="TextBox 8"/>
          <p:cNvSpPr/>
          <p:nvPr/>
        </p:nvSpPr>
        <p:spPr>
          <a:xfrm>
            <a:off x="768240" y="5486400"/>
            <a:ext cx="2557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c9e9f5"/>
                </a:solidFill>
                <a:latin typeface="Arial"/>
                <a:ea typeface="DejaVu Sans"/>
              </a:rPr>
              <a:t>każdy tweet uważnie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33" name="TextBox 9"/>
          <p:cNvSpPr/>
          <p:nvPr/>
        </p:nvSpPr>
        <p:spPr>
          <a:xfrm>
            <a:off x="3465720" y="5120640"/>
            <a:ext cx="2557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Zastanów się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34" name="TextBox 10"/>
          <p:cNvSpPr/>
          <p:nvPr/>
        </p:nvSpPr>
        <p:spPr>
          <a:xfrm>
            <a:off x="3465720" y="5486400"/>
            <a:ext cx="255780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c9e9f5"/>
                </a:solidFill>
                <a:latin typeface="Arial"/>
                <a:ea typeface="DejaVu Sans"/>
              </a:rPr>
              <a:t>jaka jest intencja I dominująca emocja z jaką polaryzacją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35" name="TextBox 11"/>
          <p:cNvSpPr/>
          <p:nvPr/>
        </p:nvSpPr>
        <p:spPr>
          <a:xfrm>
            <a:off x="6163200" y="5120640"/>
            <a:ext cx="2557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Wybierz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36" name="TextBox 12"/>
          <p:cNvSpPr/>
          <p:nvPr/>
        </p:nvSpPr>
        <p:spPr>
          <a:xfrm>
            <a:off x="6163200" y="5486400"/>
            <a:ext cx="2557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c9e9f5"/>
                </a:solidFill>
                <a:latin typeface="Arial"/>
                <a:ea typeface="DejaVu Sans"/>
              </a:rPr>
              <a:t>najlepiej dopasowaną klasę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337" name="TextBox 13"/>
          <p:cNvSpPr/>
          <p:nvPr/>
        </p:nvSpPr>
        <p:spPr>
          <a:xfrm>
            <a:off x="8860680" y="5120640"/>
            <a:ext cx="2557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00befe"/>
                </a:solidFill>
                <a:latin typeface="Arial"/>
                <a:ea typeface="DejaVu Sans"/>
              </a:rPr>
              <a:t>Zwróć uwagę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38" name="TextBox 14"/>
          <p:cNvSpPr/>
          <p:nvPr/>
        </p:nvSpPr>
        <p:spPr>
          <a:xfrm>
            <a:off x="8860680" y="5486400"/>
            <a:ext cx="2557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c9e9f5"/>
                </a:solidFill>
                <a:latin typeface="Arial"/>
                <a:ea typeface="DejaVu Sans"/>
              </a:rPr>
              <a:t>na niuanse i kontekst (jeżeli jest)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TextBox 1"/>
          <p:cNvSpPr/>
          <p:nvPr/>
        </p:nvSpPr>
        <p:spPr>
          <a:xfrm>
            <a:off x="768240" y="2240280"/>
            <a:ext cx="1826280" cy="9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6400" spc="-1" strike="noStrike">
                <a:solidFill>
                  <a:srgbClr val="8b19fe"/>
                </a:solidFill>
                <a:latin typeface="Play"/>
                <a:ea typeface="DejaVu Sans"/>
              </a:rPr>
              <a:t>03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340" name="Rectangle 2"/>
          <p:cNvSpPr/>
          <p:nvPr/>
        </p:nvSpPr>
        <p:spPr>
          <a:xfrm>
            <a:off x="768240" y="3246120"/>
            <a:ext cx="1826280" cy="482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1" name="TextBox 3"/>
          <p:cNvSpPr/>
          <p:nvPr/>
        </p:nvSpPr>
        <p:spPr>
          <a:xfrm>
            <a:off x="768240" y="3429000"/>
            <a:ext cx="104216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4000" spc="-1" strike="noStrike">
                <a:solidFill>
                  <a:srgbClr val="ffffff"/>
                </a:solidFill>
                <a:latin typeface="Play"/>
                <a:ea typeface="DejaVu Sans"/>
              </a:rPr>
              <a:t>Część techniczna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342" name="TextBox 4"/>
          <p:cNvSpPr/>
          <p:nvPr/>
        </p:nvSpPr>
        <p:spPr>
          <a:xfrm>
            <a:off x="768240" y="4754880"/>
            <a:ext cx="73126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~22 min · od sprzętu po trening klasyfikatora</a:t>
            </a:r>
            <a:endParaRPr b="0" lang="pl-PL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TextBox 1"/>
          <p:cNvSpPr/>
          <p:nvPr/>
        </p:nvSpPr>
        <p:spPr>
          <a:xfrm>
            <a:off x="768240" y="420480"/>
            <a:ext cx="1060452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Wymagania sprzętowe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44" name="Rectangle 2"/>
          <p:cNvSpPr/>
          <p:nvPr/>
        </p:nvSpPr>
        <p:spPr>
          <a:xfrm>
            <a:off x="768240" y="1170360"/>
            <a:ext cx="1369080" cy="41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5" name="Rectangle 3"/>
          <p:cNvSpPr/>
          <p:nvPr/>
        </p:nvSpPr>
        <p:spPr>
          <a:xfrm>
            <a:off x="0" y="6437520"/>
            <a:ext cx="12189240" cy="126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6" name="TextBox 4"/>
          <p:cNvSpPr/>
          <p:nvPr/>
        </p:nvSpPr>
        <p:spPr>
          <a:xfrm>
            <a:off x="768240" y="6473880"/>
            <a:ext cx="82270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Sprzęt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47" name="TextBox 5"/>
          <p:cNvSpPr/>
          <p:nvPr/>
        </p:nvSpPr>
        <p:spPr>
          <a:xfrm>
            <a:off x="10607040" y="6473880"/>
            <a:ext cx="820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18</a:t>
            </a:r>
            <a:endParaRPr b="0" lang="pl-PL" sz="900" spc="-1" strike="noStrike">
              <a:latin typeface="Arial"/>
            </a:endParaRPr>
          </a:p>
        </p:txBody>
      </p:sp>
      <p:graphicFrame>
        <p:nvGraphicFramePr>
          <p:cNvPr id="348" name="Table 6"/>
          <p:cNvGraphicFramePr/>
          <p:nvPr/>
        </p:nvGraphicFramePr>
        <p:xfrm>
          <a:off x="768240" y="1417320"/>
          <a:ext cx="10652400" cy="2742840"/>
        </p:xfrm>
        <a:graphic>
          <a:graphicData uri="http://schemas.openxmlformats.org/drawingml/2006/table">
            <a:tbl>
              <a:tblPr/>
              <a:tblGrid>
                <a:gridCol w="1554480"/>
                <a:gridCol w="2011680"/>
                <a:gridCol w="2194560"/>
                <a:gridCol w="4892040"/>
              </a:tblGrid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Komponent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Minimalne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Zalecane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Uwagi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</a:tr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CPU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4 rdzenie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8+ rdzeni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batch wielowątkowy: więcej rdzeni = szybciej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RAM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16 GB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32–128 GB+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7B: 16GB · 70B: 64GB+ · 120B: 96GB+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Dysk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50 GB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250 GB+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Bielik ~5GB · PLLuM ~40GB · gpt-oss ~65GB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GPU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opcjonalne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24–80 GB VRAM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Bielik 8GB · PLLuM 48GB+ · gpt-oss 80GB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4572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System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Linux / macOS 13+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Ubuntu 22.04+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2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Linux docelowy; vLLM tylko Linux+NVIDIA</a:t>
                      </a:r>
                      <a:endParaRPr b="0" lang="pl-PL" sz="12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9" name="Rounded Rectangle 7"/>
          <p:cNvSpPr/>
          <p:nvPr/>
        </p:nvSpPr>
        <p:spPr>
          <a:xfrm>
            <a:off x="768240" y="4480560"/>
            <a:ext cx="10650240" cy="6832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0" name="Rectangle 8"/>
          <p:cNvSpPr/>
          <p:nvPr/>
        </p:nvSpPr>
        <p:spPr>
          <a:xfrm>
            <a:off x="768240" y="4480560"/>
            <a:ext cx="48240" cy="68328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1" name="TextBox 9"/>
          <p:cNvSpPr/>
          <p:nvPr/>
        </p:nvSpPr>
        <p:spPr>
          <a:xfrm>
            <a:off x="1024200" y="4633560"/>
            <a:ext cx="1019304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Wymagania zależą od modelu i vendora. Bez GPU używaj Ollama / llama.cpp (CPU-only). Python 3.10+ (zalecane 3.12+), izolowany venv, zależności z requirements.txt.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TextBox 1"/>
          <p:cNvSpPr/>
          <p:nvPr/>
        </p:nvSpPr>
        <p:spPr>
          <a:xfrm>
            <a:off x="768240" y="420480"/>
            <a:ext cx="1060452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Lokalne silniki (vendorzy)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53" name="Rectangle 2"/>
          <p:cNvSpPr/>
          <p:nvPr/>
        </p:nvSpPr>
        <p:spPr>
          <a:xfrm>
            <a:off x="768240" y="1170360"/>
            <a:ext cx="1369080" cy="41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4" name="TextBox 3"/>
          <p:cNvSpPr/>
          <p:nvPr/>
        </p:nvSpPr>
        <p:spPr>
          <a:xfrm>
            <a:off x="768240" y="1298520"/>
            <a:ext cx="10604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Trzy sposoby serwowania modeli lokalnie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55" name="Rectangle 4"/>
          <p:cNvSpPr/>
          <p:nvPr/>
        </p:nvSpPr>
        <p:spPr>
          <a:xfrm>
            <a:off x="0" y="6437520"/>
            <a:ext cx="12189240" cy="126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6" name="TextBox 5"/>
          <p:cNvSpPr/>
          <p:nvPr/>
        </p:nvSpPr>
        <p:spPr>
          <a:xfrm>
            <a:off x="768240" y="6473880"/>
            <a:ext cx="82270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Vendorzy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57" name="TextBox 6"/>
          <p:cNvSpPr/>
          <p:nvPr/>
        </p:nvSpPr>
        <p:spPr>
          <a:xfrm>
            <a:off x="10607040" y="6473880"/>
            <a:ext cx="820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19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58" name="Rounded Rectangle 7"/>
          <p:cNvSpPr/>
          <p:nvPr/>
        </p:nvSpPr>
        <p:spPr>
          <a:xfrm>
            <a:off x="768240" y="1828800"/>
            <a:ext cx="10650240" cy="6008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9" name="Rounded Rectangle 8"/>
          <p:cNvSpPr/>
          <p:nvPr/>
        </p:nvSpPr>
        <p:spPr>
          <a:xfrm>
            <a:off x="768240" y="1828800"/>
            <a:ext cx="1551960" cy="60084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0" name="TextBox 9"/>
          <p:cNvSpPr/>
          <p:nvPr/>
        </p:nvSpPr>
        <p:spPr>
          <a:xfrm>
            <a:off x="768240" y="1938600"/>
            <a:ext cx="15519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vLLM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61" name="TextBox 10"/>
          <p:cNvSpPr/>
          <p:nvPr/>
        </p:nvSpPr>
        <p:spPr>
          <a:xfrm>
            <a:off x="2551320" y="2027160"/>
            <a:ext cx="8592840" cy="20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wysokowydajny, GPU NVIDIA, tensor parallelism, multi-GPU</a:t>
            </a:r>
            <a:endParaRPr b="0" lang="pl-PL" sz="1350" spc="-1" strike="noStrike">
              <a:latin typeface="Arial"/>
            </a:endParaRPr>
          </a:p>
        </p:txBody>
      </p:sp>
      <p:sp>
        <p:nvSpPr>
          <p:cNvPr id="362" name="Rounded Rectangle 11"/>
          <p:cNvSpPr/>
          <p:nvPr/>
        </p:nvSpPr>
        <p:spPr>
          <a:xfrm>
            <a:off x="768240" y="2541960"/>
            <a:ext cx="10650240" cy="6008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3" name="Rounded Rectangle 12"/>
          <p:cNvSpPr/>
          <p:nvPr/>
        </p:nvSpPr>
        <p:spPr>
          <a:xfrm>
            <a:off x="768240" y="2541960"/>
            <a:ext cx="1551960" cy="600840"/>
          </a:xfrm>
          <a:prstGeom prst="roundRect">
            <a:avLst>
              <a:gd name="adj" fmla="val 16667"/>
            </a:avLst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4" name="TextBox 13"/>
          <p:cNvSpPr/>
          <p:nvPr/>
        </p:nvSpPr>
        <p:spPr>
          <a:xfrm>
            <a:off x="768240" y="2651760"/>
            <a:ext cx="15519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Ollama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65" name="TextBox 14"/>
          <p:cNvSpPr/>
          <p:nvPr/>
        </p:nvSpPr>
        <p:spPr>
          <a:xfrm>
            <a:off x="2551320" y="2740320"/>
            <a:ext cx="8592840" cy="20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najprostszy, GGUF, NVIDIA/AMD/Apple/CPU, API :11434</a:t>
            </a:r>
            <a:endParaRPr b="0" lang="pl-PL" sz="1350" spc="-1" strike="noStrike">
              <a:latin typeface="Arial"/>
            </a:endParaRPr>
          </a:p>
        </p:txBody>
      </p:sp>
      <p:sp>
        <p:nvSpPr>
          <p:cNvPr id="366" name="Rounded Rectangle 15"/>
          <p:cNvSpPr/>
          <p:nvPr/>
        </p:nvSpPr>
        <p:spPr>
          <a:xfrm>
            <a:off x="768240" y="3255120"/>
            <a:ext cx="10650240" cy="6008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7" name="Rounded Rectangle 16"/>
          <p:cNvSpPr/>
          <p:nvPr/>
        </p:nvSpPr>
        <p:spPr>
          <a:xfrm>
            <a:off x="768240" y="3255120"/>
            <a:ext cx="1551960" cy="600840"/>
          </a:xfrm>
          <a:prstGeom prst="roundRect">
            <a:avLst>
              <a:gd name="adj" fmla="val 16667"/>
            </a:avLst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8" name="TextBox 17"/>
          <p:cNvSpPr/>
          <p:nvPr/>
        </p:nvSpPr>
        <p:spPr>
          <a:xfrm>
            <a:off x="768240" y="3364920"/>
            <a:ext cx="15519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llama.cpp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69" name="TextBox 18"/>
          <p:cNvSpPr/>
          <p:nvPr/>
        </p:nvSpPr>
        <p:spPr>
          <a:xfrm>
            <a:off x="2551320" y="3453480"/>
            <a:ext cx="8592840" cy="20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lekki C/C++, GGUF, największa kontrola, najwięcej konfiguracji</a:t>
            </a:r>
            <a:endParaRPr b="0" lang="pl-PL" sz="1350" spc="-1" strike="noStrike">
              <a:latin typeface="Arial"/>
            </a:endParaRPr>
          </a:p>
        </p:txBody>
      </p:sp>
      <p:graphicFrame>
        <p:nvGraphicFramePr>
          <p:cNvPr id="370" name="Table 19"/>
          <p:cNvGraphicFramePr/>
          <p:nvPr/>
        </p:nvGraphicFramePr>
        <p:xfrm>
          <a:off x="768240" y="4206240"/>
          <a:ext cx="10652400" cy="1974240"/>
        </p:xfrm>
        <a:graphic>
          <a:graphicData uri="http://schemas.openxmlformats.org/drawingml/2006/table">
            <a:tbl>
              <a:tblPr/>
              <a:tblGrid>
                <a:gridCol w="3063240"/>
                <a:gridCol w="2468880"/>
                <a:gridCol w="2560320"/>
                <a:gridCol w="2560320"/>
              </a:tblGrid>
              <a:tr h="32904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Cecha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vLLM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Ollama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llama.cpp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</a:tr>
              <a:tr h="32904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GPU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NVIDIA (CUDA)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ROCm/Metal/CUDA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CUDA/Metal/Vulkan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CPU-only / macOS / Win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✗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/ ✗ / ✗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/ ✓ / WSL2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/ ✓ / ✓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2904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Łatwość konfiguracji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średnia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łatwa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trudna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04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Wydajność GPU / CPU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b. wysoka / brak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wysoka / dobra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wysoka / b. dobra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2940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Modele 120B+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multi-GPU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⚠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GGUF/RAM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⚠ </a:t>
                      </a: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GGUF/RAM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TextBox 1"/>
          <p:cNvSpPr/>
          <p:nvPr/>
        </p:nvSpPr>
        <p:spPr>
          <a:xfrm>
            <a:off x="768240" y="420480"/>
            <a:ext cx="1060452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vLLM — uruchomienie serwera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72" name="Rectangle 2"/>
          <p:cNvSpPr/>
          <p:nvPr/>
        </p:nvSpPr>
        <p:spPr>
          <a:xfrm>
            <a:off x="768240" y="1170360"/>
            <a:ext cx="1369080" cy="41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3" name="TextBox 3"/>
          <p:cNvSpPr/>
          <p:nvPr/>
        </p:nvSpPr>
        <p:spPr>
          <a:xfrm>
            <a:off x="768240" y="1298520"/>
            <a:ext cx="10604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GPU NVIDIA (VRAM ≥ 24 GB), Linux, CUDA 12.x; format HF Safetensors / GGUF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74" name="Rectangle 4"/>
          <p:cNvSpPr/>
          <p:nvPr/>
        </p:nvSpPr>
        <p:spPr>
          <a:xfrm>
            <a:off x="0" y="6437520"/>
            <a:ext cx="12189240" cy="126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5" name="TextBox 5"/>
          <p:cNvSpPr/>
          <p:nvPr/>
        </p:nvSpPr>
        <p:spPr>
          <a:xfrm>
            <a:off x="768240" y="6473880"/>
            <a:ext cx="82270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Vendorzy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76" name="TextBox 6"/>
          <p:cNvSpPr/>
          <p:nvPr/>
        </p:nvSpPr>
        <p:spPr>
          <a:xfrm>
            <a:off x="10607040" y="6473880"/>
            <a:ext cx="820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20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77" name="TextBox 7"/>
          <p:cNvSpPr/>
          <p:nvPr/>
        </p:nvSpPr>
        <p:spPr>
          <a:xfrm>
            <a:off x="768240" y="1828800"/>
            <a:ext cx="502668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Instalacja: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378" name="Rounded Rectangle 8"/>
          <p:cNvSpPr/>
          <p:nvPr/>
        </p:nvSpPr>
        <p:spPr>
          <a:xfrm>
            <a:off x="768240" y="2194560"/>
            <a:ext cx="5118120" cy="86148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9" name="TextBox 9"/>
          <p:cNvSpPr/>
          <p:nvPr/>
        </p:nvSpPr>
        <p:spPr>
          <a:xfrm>
            <a:off x="1989720" y="2277000"/>
            <a:ext cx="2675880" cy="6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pip install vllm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python3 -c "import vllm;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print(vllm.__version__)"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380" name="TextBox 10"/>
          <p:cNvSpPr/>
          <p:nvPr/>
        </p:nvSpPr>
        <p:spPr>
          <a:xfrm>
            <a:off x="6400800" y="1828800"/>
            <a:ext cx="502668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Serwowanie (PLLuM-70B):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381" name="Rounded Rectangle 11"/>
          <p:cNvSpPr/>
          <p:nvPr/>
        </p:nvSpPr>
        <p:spPr>
          <a:xfrm>
            <a:off x="6400800" y="2194560"/>
            <a:ext cx="5026680" cy="132804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2" name="TextBox 12"/>
          <p:cNvSpPr/>
          <p:nvPr/>
        </p:nvSpPr>
        <p:spPr>
          <a:xfrm>
            <a:off x="6904440" y="2277000"/>
            <a:ext cx="4020120" cy="10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vllm serve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CYFRAGOVPL/Llama-PLLuM-70B-chat-2512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--tensor-parallel-size 2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--max-model-len 8192 \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50" spc="-1" strike="noStrike">
                <a:solidFill>
                  <a:srgbClr val="e8e6f0"/>
                </a:solidFill>
                <a:latin typeface="Consolas"/>
                <a:ea typeface="DejaVu Sans"/>
              </a:rPr>
              <a:t>--port 8080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383" name="Rounded Rectangle 13"/>
          <p:cNvSpPr/>
          <p:nvPr/>
        </p:nvSpPr>
        <p:spPr>
          <a:xfrm>
            <a:off x="768240" y="4206240"/>
            <a:ext cx="10650240" cy="7290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4" name="Rectangle 14"/>
          <p:cNvSpPr/>
          <p:nvPr/>
        </p:nvSpPr>
        <p:spPr>
          <a:xfrm>
            <a:off x="768240" y="4206240"/>
            <a:ext cx="48240" cy="72900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5" name="TextBox 15"/>
          <p:cNvSpPr/>
          <p:nvPr/>
        </p:nvSpPr>
        <p:spPr>
          <a:xfrm>
            <a:off x="1024200" y="4271040"/>
            <a:ext cx="10193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Pozostali vendorzy w skrócie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Po starcie serwer dostępny pod http://localhost:8080. Ollama: `ollama run SpeakLeash/bielik-…` lub `ollama run gpt-oss:120b`; llama.cpp: `cmake -B build -DGGML_CUDA=ON` → `llama-server --model model.gguf`.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TextBox 1"/>
          <p:cNvSpPr/>
          <p:nvPr/>
        </p:nvSpPr>
        <p:spPr>
          <a:xfrm>
            <a:off x="768240" y="420480"/>
            <a:ext cx="1060452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LLM Router — AI Gateway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387" name="Rectangle 2"/>
          <p:cNvSpPr/>
          <p:nvPr/>
        </p:nvSpPr>
        <p:spPr>
          <a:xfrm>
            <a:off x="768240" y="1170360"/>
            <a:ext cx="1369080" cy="41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8" name="TextBox 3"/>
          <p:cNvSpPr/>
          <p:nvPr/>
        </p:nvSpPr>
        <p:spPr>
          <a:xfrm>
            <a:off x="768240" y="1298520"/>
            <a:ext cx="10604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Open-source (Apache 2.0) warstwa pośrednicząca: aplikacja ↔ dostawca LLM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389" name="Rectangle 4"/>
          <p:cNvSpPr/>
          <p:nvPr/>
        </p:nvSpPr>
        <p:spPr>
          <a:xfrm>
            <a:off x="0" y="6437520"/>
            <a:ext cx="12189240" cy="126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0" name="TextBox 5"/>
          <p:cNvSpPr/>
          <p:nvPr/>
        </p:nvSpPr>
        <p:spPr>
          <a:xfrm>
            <a:off x="768240" y="6473880"/>
            <a:ext cx="82270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LLM Router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91" name="TextBox 6"/>
          <p:cNvSpPr/>
          <p:nvPr/>
        </p:nvSpPr>
        <p:spPr>
          <a:xfrm>
            <a:off x="10607040" y="6473880"/>
            <a:ext cx="820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21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392" name="TextBox 7"/>
          <p:cNvSpPr/>
          <p:nvPr/>
        </p:nvSpPr>
        <p:spPr>
          <a:xfrm>
            <a:off x="768240" y="1828800"/>
            <a:ext cx="5392440" cy="12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jeden endpoint dla wielu providerów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load balancing + health checks + streaming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maskowanie / anonimizacja PII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guardrails (treści zabronione)</a:t>
            </a:r>
            <a:endParaRPr b="0" lang="pl-PL" sz="1450" spc="-1" strike="noStrike">
              <a:latin typeface="Arial"/>
            </a:endParaRPr>
          </a:p>
        </p:txBody>
      </p:sp>
      <p:sp>
        <p:nvSpPr>
          <p:cNvPr id="393" name="TextBox 8"/>
          <p:cNvSpPr/>
          <p:nvPr/>
        </p:nvSpPr>
        <p:spPr>
          <a:xfrm>
            <a:off x="6400800" y="1783080"/>
            <a:ext cx="502668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Ekosystem (repozytoria):</a:t>
            </a:r>
            <a:endParaRPr b="0" lang="pl-PL" sz="1400" spc="-1" strike="noStrike">
              <a:latin typeface="Arial"/>
            </a:endParaRPr>
          </a:p>
        </p:txBody>
      </p:sp>
      <p:graphicFrame>
        <p:nvGraphicFramePr>
          <p:cNvPr id="394" name="Table 9"/>
          <p:cNvGraphicFramePr/>
          <p:nvPr/>
        </p:nvGraphicFramePr>
        <p:xfrm>
          <a:off x="6400800" y="2148840"/>
          <a:ext cx="5028840" cy="2687760"/>
        </p:xfrm>
        <a:graphic>
          <a:graphicData uri="http://schemas.openxmlformats.org/drawingml/2006/table">
            <a:tbl>
              <a:tblPr/>
              <a:tblGrid>
                <a:gridCol w="2103120"/>
                <a:gridCol w="2926080"/>
              </a:tblGrid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Repo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Rola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</a:tr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llm-router-api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REST proxy do backendów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llm-router-lib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Python SDK (typowane)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llm-router-web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Flask UI: config + anonymizer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llm-router-plugins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maskery, guardrails, routing, RAG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83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llm-router-services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guardrails + PII masker (HTTP)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55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llm-router-utils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0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CLI: genai-classifier, augmentation</a:t>
                      </a:r>
                      <a:endParaRPr b="0" lang="pl-PL" sz="110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</a:tbl>
          </a:graphicData>
        </a:graphic>
      </p:graphicFrame>
      <p:sp>
        <p:nvSpPr>
          <p:cNvPr id="395" name="Rounded Rectangle 10"/>
          <p:cNvSpPr/>
          <p:nvPr/>
        </p:nvSpPr>
        <p:spPr>
          <a:xfrm>
            <a:off x="768240" y="3931920"/>
            <a:ext cx="5392440" cy="86148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6" name="TextBox 11"/>
          <p:cNvSpPr/>
          <p:nvPr/>
        </p:nvSpPr>
        <p:spPr>
          <a:xfrm>
            <a:off x="1911960" y="4014360"/>
            <a:ext cx="310572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8e6f0"/>
                </a:solidFill>
                <a:latin typeface="Consolas"/>
                <a:ea typeface="DejaVu Sans"/>
              </a:rPr>
              <a:t>Request → MaskerPipeline →</a:t>
            </a:r>
            <a:endParaRPr b="0" lang="pl-PL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00" spc="-1" strike="noStrike">
                <a:solidFill>
                  <a:srgbClr val="e8e6f0"/>
                </a:solidFill>
                <a:latin typeface="Consolas"/>
                <a:ea typeface="DejaVu Sans"/>
              </a:rPr>
              <a:t>GuardrailPipeline →</a:t>
            </a:r>
            <a:endParaRPr b="0" lang="pl-PL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200" spc="-1" strike="noStrike">
                <a:solidFill>
                  <a:srgbClr val="e8e6f0"/>
                </a:solidFill>
                <a:latin typeface="Consolas"/>
                <a:ea typeface="DejaVu Sans"/>
              </a:rPr>
              <a:t>UtilsPipeline → Model Provider</a:t>
            </a:r>
            <a:endParaRPr b="0" lang="pl-PL" sz="1200" spc="-1" strike="noStrike">
              <a:latin typeface="Arial"/>
            </a:endParaRPr>
          </a:p>
        </p:txBody>
      </p:sp>
      <p:sp>
        <p:nvSpPr>
          <p:cNvPr id="397" name="Rounded Rectangle 12"/>
          <p:cNvSpPr/>
          <p:nvPr/>
        </p:nvSpPr>
        <p:spPr>
          <a:xfrm>
            <a:off x="768240" y="5074920"/>
            <a:ext cx="5392440" cy="7290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8" name="Rectangle 13"/>
          <p:cNvSpPr/>
          <p:nvPr/>
        </p:nvSpPr>
        <p:spPr>
          <a:xfrm>
            <a:off x="768240" y="5074920"/>
            <a:ext cx="48240" cy="7290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9" name="TextBox 14"/>
          <p:cNvSpPr/>
          <p:nvPr/>
        </p:nvSpPr>
        <p:spPr>
          <a:xfrm>
            <a:off x="1024200" y="5139720"/>
            <a:ext cx="4935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Pluginy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fast_masker (regex, 30+ typów PII) · pii_masker (transformer) · nask_guard / sojka_guard · RAG, semantic routing.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1"/>
          <p:cNvSpPr/>
          <p:nvPr/>
        </p:nvSpPr>
        <p:spPr>
          <a:xfrm>
            <a:off x="768240" y="420480"/>
            <a:ext cx="1060452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Automatyczne labelowanie — genai-classifier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01" name="Rectangle 2"/>
          <p:cNvSpPr/>
          <p:nvPr/>
        </p:nvSpPr>
        <p:spPr>
          <a:xfrm>
            <a:off x="768240" y="1170360"/>
            <a:ext cx="1369080" cy="41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2" name="TextBox 3"/>
          <p:cNvSpPr/>
          <p:nvPr/>
        </p:nvSpPr>
        <p:spPr>
          <a:xfrm>
            <a:off x="768240" y="1298520"/>
            <a:ext cx="10604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CLI z llm-router-utils: JSONL bez etykiet → JSONL z polem labels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03" name="Rectangle 4"/>
          <p:cNvSpPr/>
          <p:nvPr/>
        </p:nvSpPr>
        <p:spPr>
          <a:xfrm>
            <a:off x="0" y="6437520"/>
            <a:ext cx="12189240" cy="126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4" name="TextBox 5"/>
          <p:cNvSpPr/>
          <p:nvPr/>
        </p:nvSpPr>
        <p:spPr>
          <a:xfrm>
            <a:off x="768240" y="6473880"/>
            <a:ext cx="82270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Labelowanie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05" name="TextBox 6"/>
          <p:cNvSpPr/>
          <p:nvPr/>
        </p:nvSpPr>
        <p:spPr>
          <a:xfrm>
            <a:off x="10607040" y="6473880"/>
            <a:ext cx="820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22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06" name="Rounded Rectangle 7"/>
          <p:cNvSpPr/>
          <p:nvPr/>
        </p:nvSpPr>
        <p:spPr>
          <a:xfrm>
            <a:off x="768240" y="1828800"/>
            <a:ext cx="5849640" cy="202752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7" name="TextBox 8"/>
          <p:cNvSpPr/>
          <p:nvPr/>
        </p:nvSpPr>
        <p:spPr>
          <a:xfrm>
            <a:off x="1703160" y="1911240"/>
            <a:ext cx="3980520" cy="14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genai-classifier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--dataset-dir=resources/.../twitteremo/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--prompts-dir=.../classifier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--output-dir=.../genailabelled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--llm-router-url=http://localhost:8080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--model-name=gpt-oss:120b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--temperature=0.0 --num-workers=2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--n-sample=0 --text-column-name=tekst</a:t>
            </a:r>
            <a:endParaRPr b="0" lang="pl-PL" sz="1150" spc="-1" strike="noStrike">
              <a:latin typeface="Arial"/>
            </a:endParaRPr>
          </a:p>
        </p:txBody>
      </p:sp>
      <p:sp>
        <p:nvSpPr>
          <p:cNvPr id="408" name="TextBox 9"/>
          <p:cNvSpPr/>
          <p:nvPr/>
        </p:nvSpPr>
        <p:spPr>
          <a:xfrm>
            <a:off x="6446520" y="1783080"/>
            <a:ext cx="49352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Jak działa: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409" name="TextBox 10"/>
          <p:cNvSpPr/>
          <p:nvPr/>
        </p:nvSpPr>
        <p:spPr>
          <a:xfrm>
            <a:off x="6446520" y="2148840"/>
            <a:ext cx="4935240" cy="12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buduje prompt dla każdego przykładu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wysyła do LLM przez router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parsuje wynik (klasa + confidence + reason)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batch processing, wielowątkowość, retry</a:t>
            </a:r>
            <a:endParaRPr b="0" lang="pl-PL" sz="1350" spc="-1" strike="noStrike">
              <a:latin typeface="Arial"/>
            </a:endParaRPr>
          </a:p>
        </p:txBody>
      </p:sp>
      <p:sp>
        <p:nvSpPr>
          <p:cNvPr id="410" name="Rounded Rectangle 11"/>
          <p:cNvSpPr/>
          <p:nvPr/>
        </p:nvSpPr>
        <p:spPr>
          <a:xfrm>
            <a:off x="768240" y="4343400"/>
            <a:ext cx="10650240" cy="10947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1" name="Rectangle 12"/>
          <p:cNvSpPr/>
          <p:nvPr/>
        </p:nvSpPr>
        <p:spPr>
          <a:xfrm>
            <a:off x="768240" y="4343400"/>
            <a:ext cx="48240" cy="109476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2" name="TextBox 13"/>
          <p:cNvSpPr/>
          <p:nvPr/>
        </p:nvSpPr>
        <p:spPr>
          <a:xfrm>
            <a:off x="1024200" y="4590360"/>
            <a:ext cx="10193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◆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Koszt / czas i dobre praktyki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temperature=0.0 → determinizm i spójność etykiet · n-sample=0 → wszystkie (5k = 5k wywołań), n-sample=N do testów · num-workers ↑ = szybciej, ale większe obciążenie. Następnie konwersja do formatu treningowego (convert_genai_to_training.py).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TextBox 1"/>
          <p:cNvSpPr/>
          <p:nvPr/>
        </p:nvSpPr>
        <p:spPr>
          <a:xfrm>
            <a:off x="768240" y="420480"/>
            <a:ext cx="1060452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Automatyczna augmentacja — genai-data-augmentation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14" name="Rectangle 2"/>
          <p:cNvSpPr/>
          <p:nvPr/>
        </p:nvSpPr>
        <p:spPr>
          <a:xfrm>
            <a:off x="768240" y="1170360"/>
            <a:ext cx="1369080" cy="41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5" name="TextBox 3"/>
          <p:cNvSpPr/>
          <p:nvPr/>
        </p:nvSpPr>
        <p:spPr>
          <a:xfrm>
            <a:off x="768240" y="1298520"/>
            <a:ext cx="10604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CLI z llm-router-utils: wybór klasy → nowe warianty zachowujące etykietę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16" name="Rectangle 4"/>
          <p:cNvSpPr/>
          <p:nvPr/>
        </p:nvSpPr>
        <p:spPr>
          <a:xfrm>
            <a:off x="0" y="6437520"/>
            <a:ext cx="12189240" cy="126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7" name="TextBox 5"/>
          <p:cNvSpPr/>
          <p:nvPr/>
        </p:nvSpPr>
        <p:spPr>
          <a:xfrm>
            <a:off x="768240" y="6473880"/>
            <a:ext cx="82270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Augmentacja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18" name="TextBox 6"/>
          <p:cNvSpPr/>
          <p:nvPr/>
        </p:nvSpPr>
        <p:spPr>
          <a:xfrm>
            <a:off x="10607040" y="6473880"/>
            <a:ext cx="820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23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19" name="Rounded Rectangle 7"/>
          <p:cNvSpPr/>
          <p:nvPr/>
        </p:nvSpPr>
        <p:spPr>
          <a:xfrm>
            <a:off x="768240" y="1828800"/>
            <a:ext cx="5849640" cy="202752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0" name="TextBox 8"/>
          <p:cNvSpPr/>
          <p:nvPr/>
        </p:nvSpPr>
        <p:spPr>
          <a:xfrm>
            <a:off x="1835640" y="1911240"/>
            <a:ext cx="3715200" cy="14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genai-data-augmentation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--dataset-path=..._labels.jsonl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--labels=pozytywny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--prompt-file=.../augmentator.prompt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--model-name=gpt-oss:120b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--n-sample=350 --n-examples=5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--samples-as-examples=2 \</a:t>
            </a:r>
            <a:endParaRPr b="0" lang="pl-PL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50" spc="-1" strike="noStrike">
                <a:solidFill>
                  <a:srgbClr val="e8e6f0"/>
                </a:solidFill>
                <a:latin typeface="Consolas"/>
                <a:ea typeface="DejaVu Sans"/>
              </a:rPr>
              <a:t>--temperature=0.0</a:t>
            </a:r>
            <a:endParaRPr b="0" lang="pl-PL" sz="1150" spc="-1" strike="noStrike">
              <a:latin typeface="Arial"/>
            </a:endParaRPr>
          </a:p>
        </p:txBody>
      </p:sp>
      <p:sp>
        <p:nvSpPr>
          <p:cNvPr id="421" name="TextBox 9"/>
          <p:cNvSpPr/>
          <p:nvPr/>
        </p:nvSpPr>
        <p:spPr>
          <a:xfrm>
            <a:off x="6446520" y="1783080"/>
            <a:ext cx="4935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Przykład wyniku (1 input → 5 wariantów):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422" name="Rounded Rectangle 10"/>
          <p:cNvSpPr/>
          <p:nvPr/>
        </p:nvSpPr>
        <p:spPr>
          <a:xfrm>
            <a:off x="6446520" y="2194560"/>
            <a:ext cx="4935240" cy="1328040"/>
          </a:xfrm>
          <a:prstGeom prst="roundRect">
            <a:avLst>
              <a:gd name="adj" fmla="val 16667"/>
            </a:avLst>
          </a:prstGeom>
          <a:solidFill>
            <a:srgbClr val="110a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3" name="TextBox 11"/>
          <p:cNvSpPr/>
          <p:nvPr/>
        </p:nvSpPr>
        <p:spPr>
          <a:xfrm>
            <a:off x="7734960" y="2277000"/>
            <a:ext cx="2359080" cy="92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"tekst": "Super sprawa!",</a:t>
            </a:r>
            <a:endParaRPr b="0" lang="pl-PL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"labels": ["pozytywny"],</a:t>
            </a:r>
            <a:endParaRPr b="0" lang="pl-PL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"augmented": [</a:t>
            </a:r>
            <a:endParaRPr b="0" lang="pl-PL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"Rzeczywiście świetne!",</a:t>
            </a:r>
            <a:endParaRPr b="0" lang="pl-PL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  </a:t>
            </a:r>
            <a:r>
              <a:rPr b="0" lang="en-US" sz="1100" spc="-1" strike="noStrike">
                <a:solidFill>
                  <a:srgbClr val="e8e6f0"/>
                </a:solidFill>
                <a:latin typeface="Consolas"/>
                <a:ea typeface="DejaVu Sans"/>
              </a:rPr>
              <a:t>"Podoba mi się!", ... ]</a:t>
            </a:r>
            <a:endParaRPr b="0" lang="pl-PL" sz="1100" spc="-1" strike="noStrike">
              <a:latin typeface="Arial"/>
            </a:endParaRPr>
          </a:p>
        </p:txBody>
      </p:sp>
      <p:sp>
        <p:nvSpPr>
          <p:cNvPr id="424" name="Rounded Rectangle 12"/>
          <p:cNvSpPr/>
          <p:nvPr/>
        </p:nvSpPr>
        <p:spPr>
          <a:xfrm>
            <a:off x="768240" y="4343400"/>
            <a:ext cx="10650240" cy="10947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5" name="Rectangle 13"/>
          <p:cNvSpPr/>
          <p:nvPr/>
        </p:nvSpPr>
        <p:spPr>
          <a:xfrm>
            <a:off x="768240" y="4343400"/>
            <a:ext cx="48240" cy="1094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6" name="TextBox 14"/>
          <p:cNvSpPr/>
          <p:nvPr/>
        </p:nvSpPr>
        <p:spPr>
          <a:xfrm>
            <a:off x="1024200" y="4590360"/>
            <a:ext cx="10193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◆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Merge i strojenie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Merge: 5000 ręcznych + ~1750 (350×5) augmentowanych ≈ 6750 przykładów. n-examples=5 to dobry balans; samples-as-examples=2–3 (in-context); temperature 0.0 dla spójności, 0.3–0.7 dla różnorodności (ryzyko poprawności).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TextBox 1"/>
          <p:cNvSpPr/>
          <p:nvPr/>
        </p:nvSpPr>
        <p:spPr>
          <a:xfrm>
            <a:off x="768240" y="420480"/>
            <a:ext cx="1060452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Trening klasyfikatora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28" name="Rectangle 2"/>
          <p:cNvSpPr/>
          <p:nvPr/>
        </p:nvSpPr>
        <p:spPr>
          <a:xfrm>
            <a:off x="768240" y="1170360"/>
            <a:ext cx="1369080" cy="41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9" name="TextBox 3"/>
          <p:cNvSpPr/>
          <p:nvPr/>
        </p:nvSpPr>
        <p:spPr>
          <a:xfrm>
            <a:off x="768240" y="1298520"/>
            <a:ext cx="1060452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500" spc="-1" strike="noStrike">
                <a:solidFill>
                  <a:srgbClr val="6b6478"/>
                </a:solidFill>
                <a:latin typeface="Arial"/>
                <a:ea typeface="DejaVu Sans"/>
              </a:rPr>
              <a:t>clarin-pl/twitteremo · 5k train / 500 valid · fine-tuning allegro/herbert-base-cased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30" name="Rectangle 4"/>
          <p:cNvSpPr/>
          <p:nvPr/>
        </p:nvSpPr>
        <p:spPr>
          <a:xfrm>
            <a:off x="0" y="6437520"/>
            <a:ext cx="12189240" cy="126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1" name="TextBox 5"/>
          <p:cNvSpPr/>
          <p:nvPr/>
        </p:nvSpPr>
        <p:spPr>
          <a:xfrm>
            <a:off x="768240" y="6473880"/>
            <a:ext cx="82270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Technika · Uczenie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32" name="TextBox 6"/>
          <p:cNvSpPr/>
          <p:nvPr/>
        </p:nvSpPr>
        <p:spPr>
          <a:xfrm>
            <a:off x="10607040" y="6473880"/>
            <a:ext cx="820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24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33" name="TextBox 7"/>
          <p:cNvSpPr/>
          <p:nvPr/>
        </p:nvSpPr>
        <p:spPr>
          <a:xfrm>
            <a:off x="768240" y="1828800"/>
            <a:ext cx="53924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3 warianty (postęp pipeline'u):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434" name="Rounded Rectangle 8"/>
          <p:cNvSpPr/>
          <p:nvPr/>
        </p:nvSpPr>
        <p:spPr>
          <a:xfrm>
            <a:off x="768240" y="2240280"/>
            <a:ext cx="5392440" cy="4730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5" name="Rectangle 9"/>
          <p:cNvSpPr/>
          <p:nvPr/>
        </p:nvSpPr>
        <p:spPr>
          <a:xfrm>
            <a:off x="768240" y="2240280"/>
            <a:ext cx="48240" cy="4730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6" name="TextBox 10"/>
          <p:cNvSpPr/>
          <p:nvPr/>
        </p:nvSpPr>
        <p:spPr>
          <a:xfrm>
            <a:off x="996840" y="2383200"/>
            <a:ext cx="146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Wariant 1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437" name="TextBox 11"/>
          <p:cNvSpPr/>
          <p:nvPr/>
        </p:nvSpPr>
        <p:spPr>
          <a:xfrm>
            <a:off x="2368440" y="2389680"/>
            <a:ext cx="370080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6b6478"/>
                </a:solidFill>
                <a:latin typeface="Arial"/>
                <a:ea typeface="DejaVu Sans"/>
              </a:rPr>
              <a:t>tylko dane manualne (5k) — baseline</a:t>
            </a:r>
            <a:endParaRPr b="0" lang="pl-PL" sz="1150" spc="-1" strike="noStrike">
              <a:latin typeface="Arial"/>
            </a:endParaRPr>
          </a:p>
        </p:txBody>
      </p:sp>
      <p:sp>
        <p:nvSpPr>
          <p:cNvPr id="438" name="Rounded Rectangle 12"/>
          <p:cNvSpPr/>
          <p:nvPr/>
        </p:nvSpPr>
        <p:spPr>
          <a:xfrm>
            <a:off x="768240" y="2807280"/>
            <a:ext cx="5392440" cy="4730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9" name="Rectangle 13"/>
          <p:cNvSpPr/>
          <p:nvPr/>
        </p:nvSpPr>
        <p:spPr>
          <a:xfrm>
            <a:off x="768240" y="2807280"/>
            <a:ext cx="48240" cy="473040"/>
          </a:xfrm>
          <a:prstGeom prst="rect">
            <a:avLst/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0" name="TextBox 14"/>
          <p:cNvSpPr/>
          <p:nvPr/>
        </p:nvSpPr>
        <p:spPr>
          <a:xfrm>
            <a:off x="996840" y="2949840"/>
            <a:ext cx="146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Wariant 2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441" name="TextBox 15"/>
          <p:cNvSpPr/>
          <p:nvPr/>
        </p:nvSpPr>
        <p:spPr>
          <a:xfrm>
            <a:off x="2368440" y="2956680"/>
            <a:ext cx="370080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6b6478"/>
                </a:solidFill>
                <a:latin typeface="Arial"/>
                <a:ea typeface="DejaVu Sans"/>
              </a:rPr>
              <a:t>manual + augmentacja (~1.7k, klasa pozytywny)</a:t>
            </a:r>
            <a:endParaRPr b="0" lang="pl-PL" sz="1150" spc="-1" strike="noStrike">
              <a:latin typeface="Arial"/>
            </a:endParaRPr>
          </a:p>
        </p:txBody>
      </p:sp>
      <p:sp>
        <p:nvSpPr>
          <p:cNvPr id="442" name="Rounded Rectangle 16"/>
          <p:cNvSpPr/>
          <p:nvPr/>
        </p:nvSpPr>
        <p:spPr>
          <a:xfrm>
            <a:off x="768240" y="3374280"/>
            <a:ext cx="5392440" cy="47304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3" name="Rectangle 17"/>
          <p:cNvSpPr/>
          <p:nvPr/>
        </p:nvSpPr>
        <p:spPr>
          <a:xfrm>
            <a:off x="768240" y="3374280"/>
            <a:ext cx="48240" cy="473040"/>
          </a:xfrm>
          <a:prstGeom prst="rect">
            <a:avLst/>
          </a:prstGeom>
          <a:solidFill>
            <a:srgbClr val="1f9e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4" name="TextBox 18"/>
          <p:cNvSpPr/>
          <p:nvPr/>
        </p:nvSpPr>
        <p:spPr>
          <a:xfrm>
            <a:off x="996840" y="3516840"/>
            <a:ext cx="146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b0532"/>
                </a:solidFill>
                <a:latin typeface="Arial"/>
                <a:ea typeface="DejaVu Sans"/>
              </a:rPr>
              <a:t>Wariant 3</a:t>
            </a:r>
            <a:endParaRPr b="0" lang="pl-PL" sz="1300" spc="-1" strike="noStrike">
              <a:latin typeface="Arial"/>
            </a:endParaRPr>
          </a:p>
        </p:txBody>
      </p:sp>
      <p:sp>
        <p:nvSpPr>
          <p:cNvPr id="445" name="TextBox 19"/>
          <p:cNvSpPr/>
          <p:nvPr/>
        </p:nvSpPr>
        <p:spPr>
          <a:xfrm>
            <a:off x="2368440" y="3523680"/>
            <a:ext cx="370080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50" spc="-1" strike="noStrike">
                <a:solidFill>
                  <a:srgbClr val="6b6478"/>
                </a:solidFill>
                <a:latin typeface="Arial"/>
                <a:ea typeface="DejaVu Sans"/>
              </a:rPr>
              <a:t>manual + augmentacja + HIL/AL (dump z Web App)</a:t>
            </a:r>
            <a:endParaRPr b="0" lang="pl-PL" sz="1150" spc="-1" strike="noStrike">
              <a:latin typeface="Arial"/>
            </a:endParaRPr>
          </a:p>
        </p:txBody>
      </p:sp>
      <p:graphicFrame>
        <p:nvGraphicFramePr>
          <p:cNvPr id="446" name="Table 20"/>
          <p:cNvGraphicFramePr/>
          <p:nvPr/>
        </p:nvGraphicFramePr>
        <p:xfrm>
          <a:off x="6446520" y="1828800"/>
          <a:ext cx="4937400" cy="292572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</a:tblGrid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Parametr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50" spc="-1" strike="noStrike">
                          <a:solidFill>
                            <a:srgbClr val="00befe"/>
                          </a:solidFill>
                          <a:latin typeface="Arial"/>
                        </a:rPr>
                        <a:t>Wartość</a:t>
                      </a:r>
                      <a:endParaRPr b="0" lang="pl-PL" sz="12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42733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Epoki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5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Batch size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32 (eff. 64, grad-accum 2)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Learning rate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3e-6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Max length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128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Scheduler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cosine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Seed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42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2f1f6"/>
                    </a:solidFill>
                  </a:tcPr>
                </a:tc>
              </a:tr>
              <a:tr h="365760"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Logowanie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5960" rIns="759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150" spc="-1" strike="noStrike">
                          <a:solidFill>
                            <a:srgbClr val="1b0532"/>
                          </a:solidFill>
                          <a:latin typeface="Arial"/>
                        </a:rPr>
                        <a:t>W&amp;B (acc, F1, conf. matrix)</a:t>
                      </a:r>
                      <a:endParaRPr b="0" lang="pl-PL" sz="1150" spc="-1" strike="noStrike">
                        <a:latin typeface="Arial"/>
                      </a:endParaRPr>
                    </a:p>
                  </a:txBody>
                  <a:tcPr anchor="ctr" marL="75960" marR="7596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7" name="Rounded Rectangle 21"/>
          <p:cNvSpPr/>
          <p:nvPr/>
        </p:nvSpPr>
        <p:spPr>
          <a:xfrm>
            <a:off x="768240" y="4434840"/>
            <a:ext cx="5392440" cy="100332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8" name="Rectangle 22"/>
          <p:cNvSpPr/>
          <p:nvPr/>
        </p:nvSpPr>
        <p:spPr>
          <a:xfrm>
            <a:off x="768240" y="4434840"/>
            <a:ext cx="48240" cy="1003320"/>
          </a:xfrm>
          <a:prstGeom prst="rect">
            <a:avLst/>
          </a:prstGeom>
          <a:solidFill>
            <a:srgbClr val="1f9e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9" name="TextBox 23"/>
          <p:cNvSpPr/>
          <p:nvPr/>
        </p:nvSpPr>
        <p:spPr>
          <a:xfrm>
            <a:off x="1024200" y="4636080"/>
            <a:ext cx="4935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✓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HIL/AL — wybór etykiety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Dump z Web App: brak anotacji → predykcja modelu; 1 ręczna → użyta; &gt;1 → majority voting; remis → tie-breaker predykcją modelu.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TextBox 1"/>
          <p:cNvSpPr/>
          <p:nvPr/>
        </p:nvSpPr>
        <p:spPr>
          <a:xfrm>
            <a:off x="768240" y="2240280"/>
            <a:ext cx="1826280" cy="9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6400" spc="-1" strike="noStrike">
                <a:solidFill>
                  <a:srgbClr val="8b19fe"/>
                </a:solidFill>
                <a:latin typeface="Play"/>
                <a:ea typeface="DejaVu Sans"/>
              </a:rPr>
              <a:t>04</a:t>
            </a:r>
            <a:endParaRPr b="0" lang="pl-PL" sz="6400" spc="-1" strike="noStrike">
              <a:latin typeface="Arial"/>
            </a:endParaRPr>
          </a:p>
        </p:txBody>
      </p:sp>
      <p:sp>
        <p:nvSpPr>
          <p:cNvPr id="451" name="Rectangle 2"/>
          <p:cNvSpPr/>
          <p:nvPr/>
        </p:nvSpPr>
        <p:spPr>
          <a:xfrm>
            <a:off x="768240" y="3246120"/>
            <a:ext cx="1826280" cy="482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2" name="TextBox 3"/>
          <p:cNvSpPr/>
          <p:nvPr/>
        </p:nvSpPr>
        <p:spPr>
          <a:xfrm>
            <a:off x="768240" y="3429000"/>
            <a:ext cx="104216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4000" spc="-1" strike="noStrike">
                <a:solidFill>
                  <a:srgbClr val="ffffff"/>
                </a:solidFill>
                <a:latin typeface="Play"/>
                <a:ea typeface="DejaVu Sans"/>
              </a:rPr>
              <a:t>Podsumowanie i wnioski</a:t>
            </a:r>
            <a:endParaRPr b="0" lang="pl-PL" sz="4000" spc="-1" strike="noStrike">
              <a:latin typeface="Arial"/>
            </a:endParaRPr>
          </a:p>
        </p:txBody>
      </p:sp>
      <p:sp>
        <p:nvSpPr>
          <p:cNvPr id="453" name="TextBox 4"/>
          <p:cNvSpPr/>
          <p:nvPr/>
        </p:nvSpPr>
        <p:spPr>
          <a:xfrm>
            <a:off x="768240" y="4754880"/>
            <a:ext cx="73126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00befe"/>
                </a:solidFill>
                <a:latin typeface="Arial"/>
                <a:ea typeface="DejaVu Sans"/>
              </a:rPr>
              <a:t>~6 min · ocena modelu i kierunki dalsze</a:t>
            </a:r>
            <a:endParaRPr b="0" lang="pl-PL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TextBox 1"/>
          <p:cNvSpPr/>
          <p:nvPr/>
        </p:nvSpPr>
        <p:spPr>
          <a:xfrm>
            <a:off x="768240" y="420480"/>
            <a:ext cx="1060452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Co zbudowaliśmy — kompletny pipeline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55" name="Rectangle 2"/>
          <p:cNvSpPr/>
          <p:nvPr/>
        </p:nvSpPr>
        <p:spPr>
          <a:xfrm>
            <a:off x="768240" y="1170360"/>
            <a:ext cx="1369080" cy="41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6" name="Rectangle 3"/>
          <p:cNvSpPr/>
          <p:nvPr/>
        </p:nvSpPr>
        <p:spPr>
          <a:xfrm>
            <a:off x="0" y="6437520"/>
            <a:ext cx="12189240" cy="126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7" name="TextBox 4"/>
          <p:cNvSpPr/>
          <p:nvPr/>
        </p:nvSpPr>
        <p:spPr>
          <a:xfrm>
            <a:off x="768240" y="6473880"/>
            <a:ext cx="82270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Podsumowanie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58" name="TextBox 5"/>
          <p:cNvSpPr/>
          <p:nvPr/>
        </p:nvSpPr>
        <p:spPr>
          <a:xfrm>
            <a:off x="10607040" y="6473880"/>
            <a:ext cx="820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26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59" name="TextBox 6"/>
          <p:cNvSpPr/>
          <p:nvPr/>
        </p:nvSpPr>
        <p:spPr>
          <a:xfrm>
            <a:off x="768240" y="1417320"/>
            <a:ext cx="5575320" cy="23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Przygotowanie datasetu (twitteremo 5k/500)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Labelowanie LLM (genai-classifier)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Augmentacja danych (~1.7k, klasa pozytywny)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Merge: 5k manual + ~1.7k augment ≈ 6.7k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Trening 3 wariantów (allegro/herbert-base-cased)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Web App: ocena + anotacja (Flask + SQLite)</a:t>
            </a:r>
            <a:endParaRPr b="0" lang="pl-PL" sz="14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99"/>
              </a:spcAft>
              <a:buNone/>
            </a:pP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450" spc="-1" strike="noStrike">
                <a:solidFill>
                  <a:srgbClr val="1b0532"/>
                </a:solidFill>
                <a:latin typeface="Arial"/>
                <a:ea typeface="DejaVu Sans"/>
              </a:rPr>
              <a:t>HITL/AL: poprawki wracają do treningu</a:t>
            </a:r>
            <a:endParaRPr b="0" lang="pl-PL" sz="1450" spc="-1" strike="noStrike">
              <a:latin typeface="Arial"/>
            </a:endParaRPr>
          </a:p>
        </p:txBody>
      </p:sp>
      <p:sp>
        <p:nvSpPr>
          <p:cNvPr id="460" name="TextBox 7"/>
          <p:cNvSpPr/>
          <p:nvPr/>
        </p:nvSpPr>
        <p:spPr>
          <a:xfrm>
            <a:off x="6583680" y="1371600"/>
            <a:ext cx="484380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Ocena po HIL/AL — Weights &amp; Biases:</a:t>
            </a:r>
            <a:endParaRPr b="0" lang="pl-PL" sz="1400" spc="-1" strike="noStrike">
              <a:latin typeface="Arial"/>
            </a:endParaRPr>
          </a:p>
        </p:txBody>
      </p:sp>
      <p:sp>
        <p:nvSpPr>
          <p:cNvPr id="461" name="TextBox 8"/>
          <p:cNvSpPr/>
          <p:nvPr/>
        </p:nvSpPr>
        <p:spPr>
          <a:xfrm>
            <a:off x="6583680" y="1783080"/>
            <a:ext cx="4843800" cy="12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Accuracy i Macro F1 (czułe na imbalance)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Confusion matrix — które klasy są mylone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porównanie 3 wariantów </a:t>
            </a:r>
            <a:endParaRPr b="0" lang="pl-PL" sz="13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700"/>
              </a:spcAft>
              <a:buNone/>
            </a:pP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350" spc="-1" strike="noStrike">
                <a:solidFill>
                  <a:srgbClr val="1b0532"/>
                </a:solidFill>
                <a:latin typeface="Arial"/>
                <a:ea typeface="DejaVu Sans"/>
              </a:rPr>
              <a:t>dane z Web App: czy jest poprawa?</a:t>
            </a:r>
            <a:endParaRPr b="0" lang="pl-PL" sz="1350" spc="-1" strike="noStrike">
              <a:latin typeface="Arial"/>
            </a:endParaRPr>
          </a:p>
        </p:txBody>
      </p:sp>
      <p:sp>
        <p:nvSpPr>
          <p:cNvPr id="462" name="Rounded Rectangle 9"/>
          <p:cNvSpPr/>
          <p:nvPr/>
        </p:nvSpPr>
        <p:spPr>
          <a:xfrm>
            <a:off x="6583680" y="4069080"/>
            <a:ext cx="4843800" cy="86616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3" name="Rectangle 10"/>
          <p:cNvSpPr/>
          <p:nvPr/>
        </p:nvSpPr>
        <p:spPr>
          <a:xfrm>
            <a:off x="6583680" y="4069080"/>
            <a:ext cx="48240" cy="8661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4" name="TextBox 11"/>
          <p:cNvSpPr/>
          <p:nvPr/>
        </p:nvSpPr>
        <p:spPr>
          <a:xfrm>
            <a:off x="6839640" y="4305600"/>
            <a:ext cx="4386600" cy="43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◎  </a:t>
            </a:r>
            <a:r>
              <a:rPr b="1" lang="en-US" sz="1400" spc="-1" strike="noStrike">
                <a:solidFill>
                  <a:srgbClr val="1b0532"/>
                </a:solidFill>
                <a:latin typeface="Arial"/>
                <a:ea typeface="DejaVu Sans"/>
              </a:rPr>
              <a:t>Anotacja w real-time</a:t>
            </a:r>
            <a:endParaRPr b="0" lang="pl-PL" sz="1400" spc="-1" strike="noStrike">
              <a:latin typeface="Arial"/>
            </a:endParaRPr>
          </a:p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Anotacja na żywo: dss2026.radlab.dev + Weights &amp; Biases.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TextBox 1"/>
          <p:cNvSpPr/>
          <p:nvPr/>
        </p:nvSpPr>
        <p:spPr>
          <a:xfrm>
            <a:off x="768240" y="420480"/>
            <a:ext cx="1060452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900" spc="-1" strike="noStrike">
                <a:solidFill>
                  <a:srgbClr val="1b0532"/>
                </a:solidFill>
                <a:latin typeface="Play"/>
                <a:ea typeface="DejaVu Sans"/>
              </a:rPr>
              <a:t>Wnioski</a:t>
            </a:r>
            <a:endParaRPr b="0" lang="pl-PL" sz="2900" spc="-1" strike="noStrike">
              <a:latin typeface="Arial"/>
            </a:endParaRPr>
          </a:p>
        </p:txBody>
      </p:sp>
      <p:sp>
        <p:nvSpPr>
          <p:cNvPr id="466" name="Rectangle 2"/>
          <p:cNvSpPr/>
          <p:nvPr/>
        </p:nvSpPr>
        <p:spPr>
          <a:xfrm>
            <a:off x="768240" y="1170360"/>
            <a:ext cx="1369080" cy="4176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7" name="Rectangle 3"/>
          <p:cNvSpPr/>
          <p:nvPr/>
        </p:nvSpPr>
        <p:spPr>
          <a:xfrm>
            <a:off x="0" y="6437520"/>
            <a:ext cx="12189240" cy="12600"/>
          </a:xfrm>
          <a:prstGeom prst="rect">
            <a:avLst/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8" name="TextBox 4"/>
          <p:cNvSpPr/>
          <p:nvPr/>
        </p:nvSpPr>
        <p:spPr>
          <a:xfrm>
            <a:off x="768240" y="6473880"/>
            <a:ext cx="82270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DSS 2026 AI Edition  ·  Podsumowanie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69" name="TextBox 5"/>
          <p:cNvSpPr/>
          <p:nvPr/>
        </p:nvSpPr>
        <p:spPr>
          <a:xfrm>
            <a:off x="10607040" y="6473880"/>
            <a:ext cx="820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b6478"/>
                </a:solidFill>
                <a:latin typeface="Arial"/>
                <a:ea typeface="DejaVu Sans"/>
              </a:rPr>
              <a:t>27</a:t>
            </a:r>
            <a:endParaRPr b="0" lang="pl-PL" sz="900" spc="-1" strike="noStrike">
              <a:latin typeface="Arial"/>
            </a:endParaRPr>
          </a:p>
        </p:txBody>
      </p:sp>
      <p:sp>
        <p:nvSpPr>
          <p:cNvPr id="470" name="Rounded Rectangle 6"/>
          <p:cNvSpPr/>
          <p:nvPr/>
        </p:nvSpPr>
        <p:spPr>
          <a:xfrm>
            <a:off x="768240" y="1417320"/>
            <a:ext cx="3426480" cy="36550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1" name="Rounded Rectangle 7"/>
          <p:cNvSpPr/>
          <p:nvPr/>
        </p:nvSpPr>
        <p:spPr>
          <a:xfrm>
            <a:off x="768240" y="1417320"/>
            <a:ext cx="3426480" cy="500400"/>
          </a:xfrm>
          <a:prstGeom prst="roundRect">
            <a:avLst>
              <a:gd name="adj" fmla="val 16667"/>
            </a:avLst>
          </a:prstGeom>
          <a:solidFill>
            <a:srgbClr val="1f9e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2" name="TextBox 8"/>
          <p:cNvSpPr/>
          <p:nvPr/>
        </p:nvSpPr>
        <p:spPr>
          <a:xfrm>
            <a:off x="768240" y="1490400"/>
            <a:ext cx="3426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Co zadziałało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73" name="TextBox 9"/>
          <p:cNvSpPr/>
          <p:nvPr/>
        </p:nvSpPr>
        <p:spPr>
          <a:xfrm>
            <a:off x="996840" y="2103120"/>
            <a:ext cx="301500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auto-labelowanie ~10×+ szybciej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augmentacja ↑ recall klasy pozytywny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Web App — szybki wgląd w błędy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HIL/AL — najtrudniejsze przykłady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474" name="Rounded Rectangle 10"/>
          <p:cNvSpPr/>
          <p:nvPr/>
        </p:nvSpPr>
        <p:spPr>
          <a:xfrm>
            <a:off x="4380120" y="1417320"/>
            <a:ext cx="3426480" cy="36550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5" name="Rounded Rectangle 11"/>
          <p:cNvSpPr/>
          <p:nvPr/>
        </p:nvSpPr>
        <p:spPr>
          <a:xfrm>
            <a:off x="4380120" y="1417320"/>
            <a:ext cx="3426480" cy="500400"/>
          </a:xfrm>
          <a:prstGeom prst="roundRect">
            <a:avLst>
              <a:gd name="adj" fmla="val 16667"/>
            </a:avLst>
          </a:prstGeom>
          <a:solidFill>
            <a:srgbClr val="c97a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6" name="TextBox 12"/>
          <p:cNvSpPr/>
          <p:nvPr/>
        </p:nvSpPr>
        <p:spPr>
          <a:xfrm>
            <a:off x="4380120" y="1490400"/>
            <a:ext cx="3426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Na co uważać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77" name="TextBox 13"/>
          <p:cNvSpPr/>
          <p:nvPr/>
        </p:nvSpPr>
        <p:spPr>
          <a:xfrm>
            <a:off x="4608720" y="2103120"/>
            <a:ext cx="301500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augmentacja bez HIL może szkodzić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temperatura &gt;0 ryzykuje poprawność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tylko jedna klasa augmentowana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LLM może powielać bias danych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478" name="Rounded Rectangle 14"/>
          <p:cNvSpPr/>
          <p:nvPr/>
        </p:nvSpPr>
        <p:spPr>
          <a:xfrm>
            <a:off x="7992000" y="1417320"/>
            <a:ext cx="3426480" cy="365508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9" name="Rounded Rectangle 15"/>
          <p:cNvSpPr/>
          <p:nvPr/>
        </p:nvSpPr>
        <p:spPr>
          <a:xfrm>
            <a:off x="7992000" y="1417320"/>
            <a:ext cx="3426480" cy="500400"/>
          </a:xfrm>
          <a:prstGeom prst="roundRect">
            <a:avLst>
              <a:gd name="adj" fmla="val 16667"/>
            </a:avLst>
          </a:prstGeom>
          <a:solidFill>
            <a:srgbClr val="8b19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0" name="TextBox 16"/>
          <p:cNvSpPr/>
          <p:nvPr/>
        </p:nvSpPr>
        <p:spPr>
          <a:xfrm>
            <a:off x="7992000" y="1490400"/>
            <a:ext cx="3426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Co dalej</a:t>
            </a:r>
            <a:endParaRPr b="0" lang="pl-PL" sz="1500" spc="-1" strike="noStrike">
              <a:latin typeface="Arial"/>
            </a:endParaRPr>
          </a:p>
        </p:txBody>
      </p:sp>
      <p:sp>
        <p:nvSpPr>
          <p:cNvPr id="481" name="TextBox 17"/>
          <p:cNvSpPr/>
          <p:nvPr/>
        </p:nvSpPr>
        <p:spPr>
          <a:xfrm>
            <a:off x="8220600" y="2103120"/>
            <a:ext cx="301500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augmentacja wszystkich klas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multi-model routing zadaniowy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pipeline CI/CD dla datasetów</a:t>
            </a:r>
            <a:endParaRPr b="0" lang="pl-PL" sz="1250" spc="-1" strike="noStrike">
              <a:latin typeface="Arial"/>
            </a:endParaRPr>
          </a:p>
          <a:p>
            <a:pPr>
              <a:lnSpc>
                <a:spcPct val="105000"/>
              </a:lnSpc>
              <a:spcAft>
                <a:spcPts val="901"/>
              </a:spcAft>
              <a:buNone/>
            </a:pP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▸  </a:t>
            </a:r>
            <a:r>
              <a:rPr b="0" lang="en-US" sz="1250" spc="-1" strike="noStrike">
                <a:solidFill>
                  <a:srgbClr val="1b0532"/>
                </a:solidFill>
                <a:latin typeface="Arial"/>
                <a:ea typeface="DejaVu Sans"/>
              </a:rPr>
              <a:t>HIL/AL na strumieniu (online)</a:t>
            </a:r>
            <a:endParaRPr b="0" lang="pl-PL" sz="1250" spc="-1" strike="noStrike">
              <a:latin typeface="Arial"/>
            </a:endParaRPr>
          </a:p>
        </p:txBody>
      </p:sp>
      <p:sp>
        <p:nvSpPr>
          <p:cNvPr id="482" name="Rounded Rectangle 18"/>
          <p:cNvSpPr/>
          <p:nvPr/>
        </p:nvSpPr>
        <p:spPr>
          <a:xfrm>
            <a:off x="768240" y="5212080"/>
            <a:ext cx="10650240" cy="500400"/>
          </a:xfrm>
          <a:prstGeom prst="roundRect">
            <a:avLst>
              <a:gd name="adj" fmla="val 16667"/>
            </a:avLst>
          </a:prstGeom>
          <a:solidFill>
            <a:srgbClr val="f2f1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3" name="Rectangle 19"/>
          <p:cNvSpPr/>
          <p:nvPr/>
        </p:nvSpPr>
        <p:spPr>
          <a:xfrm>
            <a:off x="768240" y="5212080"/>
            <a:ext cx="48240" cy="50040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4" name="TextBox 20"/>
          <p:cNvSpPr/>
          <p:nvPr/>
        </p:nvSpPr>
        <p:spPr>
          <a:xfrm>
            <a:off x="1024200" y="5377320"/>
            <a:ext cx="1019304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5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Kontrolowana augmentacja + Active Learning + Human in the Loop = bezpieczniejsza droga do lepszego modelu.</a:t>
            </a:r>
            <a:endParaRPr b="0" lang="pl-PL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4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Rectangle 1"/>
          <p:cNvSpPr/>
          <p:nvPr/>
        </p:nvSpPr>
        <p:spPr>
          <a:xfrm>
            <a:off x="0" y="2606040"/>
            <a:ext cx="1826280" cy="60840"/>
          </a:xfrm>
          <a:prstGeom prst="rect">
            <a:avLst/>
          </a:prstGeom>
          <a:solidFill>
            <a:srgbClr val="00bef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6" name="TextBox 2"/>
          <p:cNvSpPr/>
          <p:nvPr/>
        </p:nvSpPr>
        <p:spPr>
          <a:xfrm>
            <a:off x="768240" y="2788920"/>
            <a:ext cx="104216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Play"/>
                <a:ea typeface="DejaVu Sans"/>
              </a:rPr>
              <a:t>Dziękujemy za uwagę!</a:t>
            </a:r>
            <a:endParaRPr b="0" lang="pl-PL" sz="5400" spc="-1" strike="noStrike">
              <a:latin typeface="Arial"/>
            </a:endParaRPr>
          </a:p>
        </p:txBody>
      </p:sp>
      <p:sp>
        <p:nvSpPr>
          <p:cNvPr id="487" name="TextBox 3"/>
          <p:cNvSpPr/>
          <p:nvPr/>
        </p:nvSpPr>
        <p:spPr>
          <a:xfrm>
            <a:off x="768240" y="3977640"/>
            <a:ext cx="100558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c9e9f5"/>
                </a:solidFill>
                <a:latin typeface="Arial"/>
                <a:ea typeface="DejaVu Sans"/>
              </a:rPr>
              <a:t>Pytania i dyskusja.</a:t>
            </a:r>
            <a:endParaRPr b="0" lang="pl-PL" sz="2000" spc="-1" strike="noStrike">
              <a:latin typeface="Arial"/>
            </a:endParaRPr>
          </a:p>
        </p:txBody>
      </p:sp>
      <p:sp>
        <p:nvSpPr>
          <p:cNvPr id="488" name="TextBox 4"/>
          <p:cNvSpPr/>
          <p:nvPr/>
        </p:nvSpPr>
        <p:spPr>
          <a:xfrm>
            <a:off x="768240" y="4754880"/>
            <a:ext cx="10055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00befe"/>
                </a:solidFill>
                <a:latin typeface="Arial"/>
                <a:ea typeface="DejaVu Sans"/>
              </a:rPr>
              <a:t>https://dss2026.radlab.dev/</a:t>
            </a:r>
            <a:endParaRPr b="0" lang="pl-PL" sz="1800" spc="-1" strike="noStrike">
              <a:latin typeface="Arial"/>
            </a:endParaRPr>
          </a:p>
        </p:txBody>
      </p:sp>
      <p:sp>
        <p:nvSpPr>
          <p:cNvPr id="489" name="TextBox 5"/>
          <p:cNvSpPr/>
          <p:nvPr/>
        </p:nvSpPr>
        <p:spPr>
          <a:xfrm>
            <a:off x="768240" y="5852160"/>
            <a:ext cx="73126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6b6478"/>
                </a:solidFill>
                <a:latin typeface="Arial"/>
                <a:ea typeface="DejaVu Sans"/>
              </a:rPr>
              <a:t>radlab.dev · DSS 2026 AI Edition</a:t>
            </a:r>
            <a:endParaRPr b="0" lang="pl-PL" sz="1300" spc="-1" strike="noStrike">
              <a:latin typeface="Arial"/>
            </a:endParaRPr>
          </a:p>
        </p:txBody>
      </p:sp>
      <p:pic>
        <p:nvPicPr>
          <p:cNvPr id="490" name="" descr=""/>
          <p:cNvPicPr/>
          <p:nvPr/>
        </p:nvPicPr>
        <p:blipFill>
          <a:blip r:embed="rId1"/>
          <a:stretch/>
        </p:blipFill>
        <p:spPr>
          <a:xfrm>
            <a:off x="11016000" y="6170400"/>
            <a:ext cx="1060920" cy="596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pl-PL</dc:language>
  <cp:lastModifiedBy/>
  <dcterms:modified xsi:type="dcterms:W3CDTF">2026-06-18T07:51:43Z</dcterms:modified>
  <cp:revision>24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