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8.jpeg" ContentType="image/jpe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12.png" ContentType="image/png"/>
  <Override PartName="/ppt/media/image9.png" ContentType="image/png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8.xml" ContentType="application/vnd.openxmlformats-officedocument.presentationml.slide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20.xml.rels" ContentType="application/vnd.openxmlformats-package.relationships+xml"/>
  <Override PartName="/ppt/slides/_rels/slide2.xml.rels" ContentType="application/vnd.openxmlformats-package.relationships+xml"/>
  <Override PartName="/ppt/slides/_rels/slide19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22.xml.rels" ContentType="application/vnd.openxmlformats-package.relationships+xml"/>
  <Override PartName="/ppt/slides/_rels/slide23.xml.rels" ContentType="application/vnd.openxmlformats-package.relationships+xml"/>
  <Override PartName="/ppt/slides/_rels/slide16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24.xml.rels" ContentType="application/vnd.openxmlformats-package.relationships+xml"/>
  <Override PartName="/ppt/slides/_rels/slide27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28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slide16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101661E-8A09-47BA-9E81-75D277B10C2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l-PL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l-PL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9D70EB9-C825-4AB8-B998-D3F0F7B1617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l-PL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00121FF-1ABC-4CDD-9D01-9D9AE51F37C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l-PL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19B887E-7FB2-4AEB-A424-8EC260D2DC7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l-PL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A0760E4-DF0A-4AE5-BA1D-FC36945B7CA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l-PL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F9B9644-641C-4A68-A9CF-6631086A6BF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l-PL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50A76AF-FAE6-4EE4-B9DA-8F98EDB795F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l-PL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46DBDC5-3997-4A6E-B483-17A7CBB38D3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l-PL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4F04ECF-95B3-49BD-ABC3-D3396261ED3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l-PL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3CB9F84-D694-416D-9C7B-B324EDC68F5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l-PL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C06FBA8-F943-4CCB-B895-E45D74FAFA9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l-PL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l-PL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A2DAB03-4AD0-425A-915E-F234982B171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pl-PL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pl-PL" sz="1400" spc="-1" strike="noStrike">
                <a:latin typeface="Times New Roman"/>
              </a:rPr>
              <a:t>&lt;stopka&gt;</a:t>
            </a:r>
            <a:endParaRPr b="0" lang="pl-PL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D0C0C50-03B0-4C60-9EB1-D8E3A6B026FF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&lt;numer&gt;</a:t>
            </a:fld>
            <a:endParaRPr b="0" lang="pl-PL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pl-PL" sz="1400" spc="-1" strike="noStrike">
                <a:latin typeface="Times New Roman"/>
              </a:defRPr>
            </a:lvl1pPr>
          </a:lstStyle>
          <a:p>
            <a:r>
              <a:rPr b="0" lang="pl-PL" sz="1400" spc="-1" strike="noStrike">
                <a:latin typeface="Times New Roman"/>
              </a:rPr>
              <a:t>&lt;data/godzina&gt;</a:t>
            </a:r>
            <a:endParaRPr b="0" lang="pl-PL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pl-PL" sz="4400" spc="-1" strike="noStrike">
                <a:latin typeface="Arial"/>
              </a:rPr>
              <a:t>K</a:t>
            </a:r>
            <a:r>
              <a:rPr b="0" lang="pl-PL" sz="4400" spc="-1" strike="noStrike">
                <a:latin typeface="Arial"/>
              </a:rPr>
              <a:t>li</a:t>
            </a:r>
            <a:r>
              <a:rPr b="0" lang="pl-PL" sz="4400" spc="-1" strike="noStrike">
                <a:latin typeface="Arial"/>
              </a:rPr>
              <a:t>k</a:t>
            </a:r>
            <a:r>
              <a:rPr b="0" lang="pl-PL" sz="4400" spc="-1" strike="noStrike">
                <a:latin typeface="Arial"/>
              </a:rPr>
              <a:t>ni</a:t>
            </a:r>
            <a:r>
              <a:rPr b="0" lang="pl-PL" sz="4400" spc="-1" strike="noStrike">
                <a:latin typeface="Arial"/>
              </a:rPr>
              <a:t>j, </a:t>
            </a:r>
            <a:r>
              <a:rPr b="0" lang="pl-PL" sz="4400" spc="-1" strike="noStrike">
                <a:latin typeface="Arial"/>
              </a:rPr>
              <a:t>a</a:t>
            </a:r>
            <a:r>
              <a:rPr b="0" lang="pl-PL" sz="4400" spc="-1" strike="noStrike">
                <a:latin typeface="Arial"/>
              </a:rPr>
              <a:t>b</a:t>
            </a:r>
            <a:r>
              <a:rPr b="0" lang="pl-PL" sz="4400" spc="-1" strike="noStrike">
                <a:latin typeface="Arial"/>
              </a:rPr>
              <a:t>y </a:t>
            </a:r>
            <a:r>
              <a:rPr b="0" lang="pl-PL" sz="4400" spc="-1" strike="noStrike">
                <a:latin typeface="Arial"/>
              </a:rPr>
              <a:t>e</a:t>
            </a:r>
            <a:r>
              <a:rPr b="0" lang="pl-PL" sz="4400" spc="-1" strike="noStrike">
                <a:latin typeface="Arial"/>
              </a:rPr>
              <a:t>d</a:t>
            </a:r>
            <a:r>
              <a:rPr b="0" lang="pl-PL" sz="4400" spc="-1" strike="noStrike">
                <a:latin typeface="Arial"/>
              </a:rPr>
              <a:t>yt</a:t>
            </a:r>
            <a:r>
              <a:rPr b="0" lang="pl-PL" sz="4400" spc="-1" strike="noStrike">
                <a:latin typeface="Arial"/>
              </a:rPr>
              <a:t>o</a:t>
            </a:r>
            <a:r>
              <a:rPr b="0" lang="pl-PL" sz="4400" spc="-1" strike="noStrike">
                <a:latin typeface="Arial"/>
              </a:rPr>
              <a:t>w</a:t>
            </a:r>
            <a:r>
              <a:rPr b="0" lang="pl-PL" sz="4400" spc="-1" strike="noStrike">
                <a:latin typeface="Arial"/>
              </a:rPr>
              <a:t>a</a:t>
            </a:r>
            <a:r>
              <a:rPr b="0" lang="pl-PL" sz="4400" spc="-1" strike="noStrike">
                <a:latin typeface="Arial"/>
              </a:rPr>
              <a:t>ć </a:t>
            </a:r>
            <a:r>
              <a:rPr b="0" lang="pl-PL" sz="4400" spc="-1" strike="noStrike">
                <a:latin typeface="Arial"/>
              </a:rPr>
              <a:t>f</a:t>
            </a:r>
            <a:r>
              <a:rPr b="0" lang="pl-PL" sz="4400" spc="-1" strike="noStrike">
                <a:latin typeface="Arial"/>
              </a:rPr>
              <a:t>o</a:t>
            </a:r>
            <a:r>
              <a:rPr b="0" lang="pl-PL" sz="4400" spc="-1" strike="noStrike">
                <a:latin typeface="Arial"/>
              </a:rPr>
              <a:t>r</a:t>
            </a:r>
            <a:r>
              <a:rPr b="0" lang="pl-PL" sz="4400" spc="-1" strike="noStrike">
                <a:latin typeface="Arial"/>
              </a:rPr>
              <a:t>m</a:t>
            </a:r>
            <a:r>
              <a:rPr b="0" lang="pl-PL" sz="4400" spc="-1" strike="noStrike">
                <a:latin typeface="Arial"/>
              </a:rPr>
              <a:t>a</a:t>
            </a:r>
            <a:r>
              <a:rPr b="0" lang="pl-PL" sz="4400" spc="-1" strike="noStrike">
                <a:latin typeface="Arial"/>
              </a:rPr>
              <a:t>t </a:t>
            </a:r>
            <a:r>
              <a:rPr b="0" lang="pl-PL" sz="4400" spc="-1" strike="noStrike">
                <a:latin typeface="Arial"/>
              </a:rPr>
              <a:t>t</a:t>
            </a:r>
            <a:r>
              <a:rPr b="0" lang="pl-PL" sz="4400" spc="-1" strike="noStrike">
                <a:latin typeface="Arial"/>
              </a:rPr>
              <a:t>e</a:t>
            </a:r>
            <a:r>
              <a:rPr b="0" lang="pl-PL" sz="4400" spc="-1" strike="noStrike">
                <a:latin typeface="Arial"/>
              </a:rPr>
              <a:t>k</a:t>
            </a:r>
            <a:r>
              <a:rPr b="0" lang="pl-PL" sz="4400" spc="-1" strike="noStrike">
                <a:latin typeface="Arial"/>
              </a:rPr>
              <a:t>st</a:t>
            </a:r>
            <a:r>
              <a:rPr b="0" lang="pl-PL" sz="4400" spc="-1" strike="noStrike">
                <a:latin typeface="Arial"/>
              </a:rPr>
              <a:t>u </a:t>
            </a:r>
            <a:r>
              <a:rPr b="0" lang="pl-PL" sz="4400" spc="-1" strike="noStrike">
                <a:latin typeface="Arial"/>
              </a:rPr>
              <a:t>ty</a:t>
            </a:r>
            <a:r>
              <a:rPr b="0" lang="pl-PL" sz="4400" spc="-1" strike="noStrike">
                <a:latin typeface="Arial"/>
              </a:rPr>
              <a:t>t</a:t>
            </a:r>
            <a:r>
              <a:rPr b="0" lang="pl-PL" sz="4400" spc="-1" strike="noStrike">
                <a:latin typeface="Arial"/>
              </a:rPr>
              <a:t>uł</a:t>
            </a:r>
            <a:r>
              <a:rPr b="0" lang="pl-PL" sz="4400" spc="-1" strike="noStrike">
                <a:latin typeface="Arial"/>
              </a:rPr>
              <a:t>u</a:t>
            </a:r>
            <a:endParaRPr b="0" lang="pl-PL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latin typeface="Arial"/>
              </a:rPr>
              <a:t>Kliknij, aby edytować format tekstu konspektu</a:t>
            </a:r>
            <a:endParaRPr b="0" lang="pl-PL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l-PL" sz="2800" spc="-1" strike="noStrike">
                <a:latin typeface="Arial"/>
              </a:rPr>
              <a:t>Drugi poziom konspektu</a:t>
            </a:r>
            <a:endParaRPr b="0" lang="pl-PL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400" spc="-1" strike="noStrike">
                <a:latin typeface="Arial"/>
              </a:rPr>
              <a:t>Trzeci poziom konspektu</a:t>
            </a:r>
            <a:endParaRPr b="0" lang="pl-PL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l-PL" sz="2000" spc="-1" strike="noStrike">
                <a:latin typeface="Arial"/>
              </a:rPr>
              <a:t>Czwarty poziom konspektu</a:t>
            </a:r>
            <a:endParaRPr b="0" lang="pl-PL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latin typeface="Arial"/>
              </a:rPr>
              <a:t>Piąty poziom konspektu</a:t>
            </a:r>
            <a:endParaRPr b="0" lang="pl-PL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latin typeface="Arial"/>
              </a:rPr>
              <a:t>Szósty poziom konspektu</a:t>
            </a:r>
            <a:endParaRPr b="0" lang="pl-PL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latin typeface="Arial"/>
              </a:rPr>
              <a:t>Siódmy poziom konspektu</a:t>
            </a:r>
            <a:endParaRPr b="0" lang="pl-PL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hyperlink" Target="https://helpi-tos.radlab.dev/" TargetMode="External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4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1"/>
          <p:cNvSpPr/>
          <p:nvPr/>
        </p:nvSpPr>
        <p:spPr>
          <a:xfrm>
            <a:off x="0" y="2331720"/>
            <a:ext cx="1827000" cy="61560"/>
          </a:xfrm>
          <a:prstGeom prst="rect">
            <a:avLst/>
          </a:prstGeom>
          <a:solidFill>
            <a:srgbClr val="00be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" name="TextBox 2"/>
          <p:cNvSpPr/>
          <p:nvPr/>
        </p:nvSpPr>
        <p:spPr>
          <a:xfrm>
            <a:off x="768240" y="868680"/>
            <a:ext cx="228420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befe"/>
                </a:solidFill>
                <a:latin typeface="Arial"/>
                <a:ea typeface="DejaVu Sans"/>
              </a:rPr>
              <a:t>DSS 2026  ·  AI EDITION</a:t>
            </a:r>
            <a:endParaRPr b="0" lang="pl-PL" sz="1400" spc="-1" strike="noStrike">
              <a:latin typeface="Arial"/>
            </a:endParaRPr>
          </a:p>
        </p:txBody>
      </p:sp>
      <p:sp>
        <p:nvSpPr>
          <p:cNvPr id="43" name="TextBox 3"/>
          <p:cNvSpPr/>
          <p:nvPr/>
        </p:nvSpPr>
        <p:spPr>
          <a:xfrm>
            <a:off x="768240" y="2514600"/>
            <a:ext cx="10422360" cy="14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buNone/>
            </a:pPr>
            <a:r>
              <a:rPr b="0" lang="en-US" sz="4600" spc="-1" strike="noStrike">
                <a:solidFill>
                  <a:srgbClr val="ffffff"/>
                </a:solidFill>
                <a:latin typeface="Play"/>
                <a:ea typeface="DejaVu Sans"/>
              </a:rPr>
              <a:t>Augmentacja danych z LLM,</a:t>
            </a:r>
            <a:endParaRPr b="0" lang="pl-PL" sz="46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US" sz="4600" spc="-1" strike="noStrike">
                <a:solidFill>
                  <a:srgbClr val="ffffff"/>
                </a:solidFill>
                <a:latin typeface="Play"/>
                <a:ea typeface="DejaVu Sans"/>
              </a:rPr>
              <a:t>HITL i Active Learning</a:t>
            </a:r>
            <a:endParaRPr b="0" lang="pl-PL" sz="4600" spc="-1" strike="noStrike">
              <a:latin typeface="Arial"/>
            </a:endParaRPr>
          </a:p>
        </p:txBody>
      </p:sp>
      <p:sp>
        <p:nvSpPr>
          <p:cNvPr id="44" name="TextBox 4"/>
          <p:cNvSpPr/>
          <p:nvPr/>
        </p:nvSpPr>
        <p:spPr>
          <a:xfrm>
            <a:off x="768240" y="4343400"/>
            <a:ext cx="10056600" cy="63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0" lang="en-US" sz="1800" spc="-1" strike="noStrike">
                <a:solidFill>
                  <a:srgbClr val="c9e9f5"/>
                </a:solidFill>
                <a:latin typeface="Arial"/>
                <a:ea typeface="DejaVu Sans"/>
              </a:rPr>
              <a:t>Od teorii do praktyki — kompletny proces wytwarzania modeli klasyfikacyjnych z wykorzystaniem lokalnych modeli generatywnych.</a:t>
            </a:r>
            <a:endParaRPr b="0" lang="pl-PL" sz="1800" spc="-1" strike="noStrike">
              <a:latin typeface="Arial"/>
            </a:endParaRPr>
          </a:p>
        </p:txBody>
      </p:sp>
      <p:sp>
        <p:nvSpPr>
          <p:cNvPr id="45" name="TextBox 5"/>
          <p:cNvSpPr/>
          <p:nvPr/>
        </p:nvSpPr>
        <p:spPr>
          <a:xfrm>
            <a:off x="768240" y="5623560"/>
            <a:ext cx="731340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00befe"/>
                </a:solidFill>
                <a:latin typeface="Arial"/>
                <a:ea typeface="DejaVu Sans"/>
              </a:rPr>
              <a:t>Paweł Kędzia - Research and Development Laboratory, radlab.dev</a:t>
            </a:r>
            <a:endParaRPr b="0" lang="pl-PL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00befe"/>
                </a:solidFill>
                <a:latin typeface="Arial"/>
                <a:ea typeface="DejaVu Sans"/>
              </a:rPr>
              <a:t>Marta Murzyn – Centrum Wspierania Rodzin “Rodzinna Warszawa”</a:t>
            </a:r>
            <a:endParaRPr b="0" lang="pl-PL" sz="1600" spc="-1" strike="noStrike">
              <a:latin typeface="Arial"/>
            </a:endParaRPr>
          </a:p>
        </p:txBody>
      </p:sp>
      <p:pic>
        <p:nvPicPr>
          <p:cNvPr id="46" name="" descr=""/>
          <p:cNvPicPr/>
          <p:nvPr/>
        </p:nvPicPr>
        <p:blipFill>
          <a:blip r:embed="rId1"/>
          <a:stretch/>
        </p:blipFill>
        <p:spPr>
          <a:xfrm>
            <a:off x="10983960" y="6336000"/>
            <a:ext cx="1061640" cy="596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1"/>
          <p:cNvSpPr/>
          <p:nvPr/>
        </p:nvSpPr>
        <p:spPr>
          <a:xfrm>
            <a:off x="768240" y="420480"/>
            <a:ext cx="1060524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900" spc="-1" strike="noStrike">
                <a:solidFill>
                  <a:srgbClr val="1b0532"/>
                </a:solidFill>
                <a:latin typeface="Play"/>
                <a:ea typeface="DejaVu Sans"/>
              </a:rPr>
              <a:t>Agenda tutorialu</a:t>
            </a:r>
            <a:endParaRPr b="0" lang="pl-PL" sz="2900" spc="-1" strike="noStrike">
              <a:latin typeface="Arial"/>
            </a:endParaRPr>
          </a:p>
        </p:txBody>
      </p:sp>
      <p:sp>
        <p:nvSpPr>
          <p:cNvPr id="48" name="Rectangle 2"/>
          <p:cNvSpPr/>
          <p:nvPr/>
        </p:nvSpPr>
        <p:spPr>
          <a:xfrm>
            <a:off x="768240" y="1170360"/>
            <a:ext cx="1369800" cy="42480"/>
          </a:xfrm>
          <a:prstGeom prst="rect">
            <a:avLst/>
          </a:prstGeom>
          <a:solidFill>
            <a:srgbClr val="00be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9" name="Rectangle 3"/>
          <p:cNvSpPr/>
          <p:nvPr/>
        </p:nvSpPr>
        <p:spPr>
          <a:xfrm>
            <a:off x="0" y="6437520"/>
            <a:ext cx="12189960" cy="13320"/>
          </a:xfrm>
          <a:prstGeom prst="rect">
            <a:avLst/>
          </a:prstGeom>
          <a:solidFill>
            <a:srgbClr val="f2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0" name="TextBox 4"/>
          <p:cNvSpPr/>
          <p:nvPr/>
        </p:nvSpPr>
        <p:spPr>
          <a:xfrm>
            <a:off x="768240" y="6473880"/>
            <a:ext cx="82278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b6478"/>
                </a:solidFill>
                <a:latin typeface="Arial"/>
                <a:ea typeface="DejaVu Sans"/>
              </a:rPr>
              <a:t>DSS 2026 AI Edition  ·  Agenda</a:t>
            </a:r>
            <a:endParaRPr b="0" lang="pl-PL" sz="900" spc="-1" strike="noStrike">
              <a:latin typeface="Arial"/>
            </a:endParaRPr>
          </a:p>
        </p:txBody>
      </p:sp>
      <p:sp>
        <p:nvSpPr>
          <p:cNvPr id="51" name="TextBox 5"/>
          <p:cNvSpPr/>
          <p:nvPr/>
        </p:nvSpPr>
        <p:spPr>
          <a:xfrm>
            <a:off x="10607040" y="6473880"/>
            <a:ext cx="8211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b6478"/>
                </a:solidFill>
                <a:latin typeface="Arial"/>
                <a:ea typeface="DejaVu Sans"/>
              </a:rPr>
              <a:t>2</a:t>
            </a:r>
            <a:endParaRPr b="0" lang="pl-PL" sz="900" spc="-1" strike="noStrike">
              <a:latin typeface="Arial"/>
            </a:endParaRPr>
          </a:p>
        </p:txBody>
      </p:sp>
      <p:sp>
        <p:nvSpPr>
          <p:cNvPr id="52" name="Rounded Rectangle 6"/>
          <p:cNvSpPr/>
          <p:nvPr/>
        </p:nvSpPr>
        <p:spPr>
          <a:xfrm>
            <a:off x="768240" y="1417320"/>
            <a:ext cx="10605240" cy="784440"/>
          </a:xfrm>
          <a:prstGeom prst="roundRect">
            <a:avLst>
              <a:gd name="adj" fmla="val 16667"/>
            </a:avLst>
          </a:prstGeom>
          <a:solidFill>
            <a:srgbClr val="f2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3" name="Oval 7"/>
          <p:cNvSpPr/>
          <p:nvPr/>
        </p:nvSpPr>
        <p:spPr>
          <a:xfrm>
            <a:off x="951120" y="1581840"/>
            <a:ext cx="455400" cy="455400"/>
          </a:xfrm>
          <a:prstGeom prst="ellipse">
            <a:avLst/>
          </a:prstGeom>
          <a:solidFill>
            <a:srgbClr val="8b19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4" name="TextBox 8"/>
          <p:cNvSpPr/>
          <p:nvPr/>
        </p:nvSpPr>
        <p:spPr>
          <a:xfrm>
            <a:off x="951120" y="1668240"/>
            <a:ext cx="455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Play"/>
                <a:ea typeface="DejaVu Sans"/>
              </a:rPr>
              <a:t>1</a:t>
            </a:r>
            <a:endParaRPr b="0" lang="pl-PL" sz="1800" spc="-1" strike="noStrike">
              <a:latin typeface="Arial"/>
            </a:endParaRPr>
          </a:p>
        </p:txBody>
      </p:sp>
      <p:sp>
        <p:nvSpPr>
          <p:cNvPr id="55" name="TextBox 9"/>
          <p:cNvSpPr/>
          <p:nvPr/>
        </p:nvSpPr>
        <p:spPr>
          <a:xfrm>
            <a:off x="1636920" y="1508760"/>
            <a:ext cx="63990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1b0532"/>
                </a:solidFill>
                <a:latin typeface="Arial"/>
                <a:ea typeface="DejaVu Sans"/>
              </a:rPr>
              <a:t>Wstęp</a:t>
            </a:r>
            <a:endParaRPr b="0" lang="pl-PL" sz="1600" spc="-1" strike="noStrike">
              <a:latin typeface="Arial"/>
            </a:endParaRPr>
          </a:p>
        </p:txBody>
      </p:sp>
      <p:sp>
        <p:nvSpPr>
          <p:cNvPr id="56" name="TextBox 10"/>
          <p:cNvSpPr/>
          <p:nvPr/>
        </p:nvSpPr>
        <p:spPr>
          <a:xfrm>
            <a:off x="1636920" y="1837800"/>
            <a:ext cx="77706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6b6478"/>
                </a:solidFill>
                <a:latin typeface="Arial"/>
                <a:ea typeface="DejaVu Sans"/>
              </a:rPr>
              <a:t>Czego dotyczy tutorial i jaka korzyść dla uczestników</a:t>
            </a:r>
            <a:endParaRPr b="0" lang="pl-PL" sz="1200" spc="-1" strike="noStrike">
              <a:latin typeface="Arial"/>
            </a:endParaRPr>
          </a:p>
        </p:txBody>
      </p:sp>
      <p:sp>
        <p:nvSpPr>
          <p:cNvPr id="57" name="TextBox 11"/>
          <p:cNvSpPr/>
          <p:nvPr/>
        </p:nvSpPr>
        <p:spPr>
          <a:xfrm>
            <a:off x="9546480" y="1703160"/>
            <a:ext cx="1735560" cy="2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8b19fe"/>
                </a:solidFill>
                <a:latin typeface="Arial"/>
                <a:ea typeface="DejaVu Sans"/>
              </a:rPr>
              <a:t>~2 min</a:t>
            </a:r>
            <a:endParaRPr b="0" lang="pl-PL" sz="1400" spc="-1" strike="noStrike">
              <a:latin typeface="Arial"/>
            </a:endParaRPr>
          </a:p>
        </p:txBody>
      </p:sp>
      <p:sp>
        <p:nvSpPr>
          <p:cNvPr id="58" name="Rounded Rectangle 12"/>
          <p:cNvSpPr/>
          <p:nvPr/>
        </p:nvSpPr>
        <p:spPr>
          <a:xfrm>
            <a:off x="768240" y="2350080"/>
            <a:ext cx="10605240" cy="784440"/>
          </a:xfrm>
          <a:prstGeom prst="roundRect">
            <a:avLst>
              <a:gd name="adj" fmla="val 16667"/>
            </a:avLst>
          </a:prstGeom>
          <a:solidFill>
            <a:srgbClr val="f2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9" name="Oval 13"/>
          <p:cNvSpPr/>
          <p:nvPr/>
        </p:nvSpPr>
        <p:spPr>
          <a:xfrm>
            <a:off x="951120" y="2514600"/>
            <a:ext cx="455400" cy="455400"/>
          </a:xfrm>
          <a:prstGeom prst="ellipse">
            <a:avLst/>
          </a:prstGeom>
          <a:solidFill>
            <a:srgbClr val="00be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0" name="TextBox 14"/>
          <p:cNvSpPr/>
          <p:nvPr/>
        </p:nvSpPr>
        <p:spPr>
          <a:xfrm>
            <a:off x="951120" y="2601000"/>
            <a:ext cx="455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Play"/>
                <a:ea typeface="DejaVu Sans"/>
              </a:rPr>
              <a:t>2</a:t>
            </a:r>
            <a:endParaRPr b="0" lang="pl-PL" sz="1800" spc="-1" strike="noStrike">
              <a:latin typeface="Arial"/>
            </a:endParaRPr>
          </a:p>
        </p:txBody>
      </p:sp>
      <p:sp>
        <p:nvSpPr>
          <p:cNvPr id="61" name="TextBox 15"/>
          <p:cNvSpPr/>
          <p:nvPr/>
        </p:nvSpPr>
        <p:spPr>
          <a:xfrm>
            <a:off x="1636920" y="2441520"/>
            <a:ext cx="63990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1b0532"/>
                </a:solidFill>
                <a:latin typeface="Arial"/>
                <a:ea typeface="DejaVu Sans"/>
              </a:rPr>
              <a:t>Część teoretyczno-praktyczna</a:t>
            </a:r>
            <a:endParaRPr b="0" lang="pl-PL" sz="1600" spc="-1" strike="noStrike">
              <a:latin typeface="Arial"/>
            </a:endParaRPr>
          </a:p>
        </p:txBody>
      </p:sp>
      <p:sp>
        <p:nvSpPr>
          <p:cNvPr id="62" name="TextBox 16"/>
          <p:cNvSpPr/>
          <p:nvPr/>
        </p:nvSpPr>
        <p:spPr>
          <a:xfrm>
            <a:off x="1636920" y="2770560"/>
            <a:ext cx="77706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6b6478"/>
                </a:solidFill>
                <a:latin typeface="Arial"/>
                <a:ea typeface="DejaVu Sans"/>
              </a:rPr>
              <a:t>Augmentacja, labelowanie, klasyfikacja vs generowanie, HITL + AL, pętla</a:t>
            </a:r>
            <a:endParaRPr b="0" lang="pl-PL" sz="1200" spc="-1" strike="noStrike">
              <a:latin typeface="Arial"/>
            </a:endParaRPr>
          </a:p>
        </p:txBody>
      </p:sp>
      <p:sp>
        <p:nvSpPr>
          <p:cNvPr id="63" name="TextBox 17"/>
          <p:cNvSpPr/>
          <p:nvPr/>
        </p:nvSpPr>
        <p:spPr>
          <a:xfrm>
            <a:off x="9546480" y="2635920"/>
            <a:ext cx="1735560" cy="2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befe"/>
                </a:solidFill>
                <a:latin typeface="Arial"/>
                <a:ea typeface="DejaVu Sans"/>
              </a:rPr>
              <a:t>~25 min</a:t>
            </a:r>
            <a:endParaRPr b="0" lang="pl-PL" sz="1400" spc="-1" strike="noStrike">
              <a:latin typeface="Arial"/>
            </a:endParaRPr>
          </a:p>
        </p:txBody>
      </p:sp>
      <p:sp>
        <p:nvSpPr>
          <p:cNvPr id="64" name="Rounded Rectangle 18"/>
          <p:cNvSpPr/>
          <p:nvPr/>
        </p:nvSpPr>
        <p:spPr>
          <a:xfrm>
            <a:off x="768240" y="3282840"/>
            <a:ext cx="10605240" cy="784440"/>
          </a:xfrm>
          <a:prstGeom prst="roundRect">
            <a:avLst>
              <a:gd name="adj" fmla="val 16667"/>
            </a:avLst>
          </a:prstGeom>
          <a:solidFill>
            <a:srgbClr val="f2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5" name="Oval 19"/>
          <p:cNvSpPr/>
          <p:nvPr/>
        </p:nvSpPr>
        <p:spPr>
          <a:xfrm>
            <a:off x="951120" y="3447360"/>
            <a:ext cx="455400" cy="455400"/>
          </a:xfrm>
          <a:prstGeom prst="ellipse">
            <a:avLst/>
          </a:prstGeom>
          <a:solidFill>
            <a:srgbClr val="8b19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6" name="TextBox 20"/>
          <p:cNvSpPr/>
          <p:nvPr/>
        </p:nvSpPr>
        <p:spPr>
          <a:xfrm>
            <a:off x="951120" y="3533760"/>
            <a:ext cx="455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Play"/>
                <a:ea typeface="DejaVu Sans"/>
              </a:rPr>
              <a:t>★</a:t>
            </a:r>
            <a:endParaRPr b="0" lang="pl-PL" sz="1800" spc="-1" strike="noStrike">
              <a:latin typeface="Arial"/>
            </a:endParaRPr>
          </a:p>
        </p:txBody>
      </p:sp>
      <p:sp>
        <p:nvSpPr>
          <p:cNvPr id="67" name="TextBox 21"/>
          <p:cNvSpPr/>
          <p:nvPr/>
        </p:nvSpPr>
        <p:spPr>
          <a:xfrm>
            <a:off x="1636920" y="3374280"/>
            <a:ext cx="63990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1b0532"/>
                </a:solidFill>
                <a:latin typeface="Arial"/>
                <a:ea typeface="DejaVu Sans"/>
              </a:rPr>
              <a:t>Anotacja na żywo</a:t>
            </a:r>
            <a:endParaRPr b="0" lang="pl-PL" sz="1600" spc="-1" strike="noStrike">
              <a:latin typeface="Arial"/>
            </a:endParaRPr>
          </a:p>
        </p:txBody>
      </p:sp>
      <p:sp>
        <p:nvSpPr>
          <p:cNvPr id="68" name="TextBox 22"/>
          <p:cNvSpPr/>
          <p:nvPr/>
        </p:nvSpPr>
        <p:spPr>
          <a:xfrm>
            <a:off x="1636920" y="3703320"/>
            <a:ext cx="77706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6b6478"/>
                </a:solidFill>
                <a:latin typeface="Arial"/>
                <a:ea typeface="DejaVu Sans"/>
              </a:rPr>
              <a:t>Interaktywna sesja: dss2026.radlab.dev</a:t>
            </a:r>
            <a:endParaRPr b="0" lang="pl-PL" sz="1200" spc="-1" strike="noStrike">
              <a:latin typeface="Arial"/>
            </a:endParaRPr>
          </a:p>
        </p:txBody>
      </p:sp>
      <p:sp>
        <p:nvSpPr>
          <p:cNvPr id="69" name="TextBox 23"/>
          <p:cNvSpPr/>
          <p:nvPr/>
        </p:nvSpPr>
        <p:spPr>
          <a:xfrm>
            <a:off x="9546480" y="3568680"/>
            <a:ext cx="1735560" cy="2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8b19fe"/>
                </a:solidFill>
                <a:latin typeface="Arial"/>
                <a:ea typeface="DejaVu Sans"/>
              </a:rPr>
              <a:t>~5 min</a:t>
            </a:r>
            <a:endParaRPr b="0" lang="pl-PL" sz="1400" spc="-1" strike="noStrike">
              <a:latin typeface="Arial"/>
            </a:endParaRPr>
          </a:p>
        </p:txBody>
      </p:sp>
      <p:sp>
        <p:nvSpPr>
          <p:cNvPr id="70" name="Rounded Rectangle 24"/>
          <p:cNvSpPr/>
          <p:nvPr/>
        </p:nvSpPr>
        <p:spPr>
          <a:xfrm>
            <a:off x="768240" y="4215240"/>
            <a:ext cx="10605240" cy="784440"/>
          </a:xfrm>
          <a:prstGeom prst="roundRect">
            <a:avLst>
              <a:gd name="adj" fmla="val 16667"/>
            </a:avLst>
          </a:prstGeom>
          <a:solidFill>
            <a:srgbClr val="f2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1" name="Oval 25"/>
          <p:cNvSpPr/>
          <p:nvPr/>
        </p:nvSpPr>
        <p:spPr>
          <a:xfrm>
            <a:off x="951120" y="4380120"/>
            <a:ext cx="455400" cy="455400"/>
          </a:xfrm>
          <a:prstGeom prst="ellipse">
            <a:avLst/>
          </a:prstGeom>
          <a:solidFill>
            <a:srgbClr val="00be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2" name="TextBox 26"/>
          <p:cNvSpPr/>
          <p:nvPr/>
        </p:nvSpPr>
        <p:spPr>
          <a:xfrm>
            <a:off x="951120" y="4466160"/>
            <a:ext cx="455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Play"/>
                <a:ea typeface="DejaVu Sans"/>
              </a:rPr>
              <a:t>3</a:t>
            </a:r>
            <a:endParaRPr b="0" lang="pl-PL" sz="1800" spc="-1" strike="noStrike">
              <a:latin typeface="Arial"/>
            </a:endParaRPr>
          </a:p>
        </p:txBody>
      </p:sp>
      <p:sp>
        <p:nvSpPr>
          <p:cNvPr id="73" name="TextBox 27"/>
          <p:cNvSpPr/>
          <p:nvPr/>
        </p:nvSpPr>
        <p:spPr>
          <a:xfrm>
            <a:off x="1636920" y="4306680"/>
            <a:ext cx="63990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1b0532"/>
                </a:solidFill>
                <a:latin typeface="Arial"/>
                <a:ea typeface="DejaVu Sans"/>
              </a:rPr>
              <a:t>Część techniczna</a:t>
            </a:r>
            <a:endParaRPr b="0" lang="pl-PL" sz="1600" spc="-1" strike="noStrike">
              <a:latin typeface="Arial"/>
            </a:endParaRPr>
          </a:p>
        </p:txBody>
      </p:sp>
      <p:sp>
        <p:nvSpPr>
          <p:cNvPr id="74" name="TextBox 28"/>
          <p:cNvSpPr/>
          <p:nvPr/>
        </p:nvSpPr>
        <p:spPr>
          <a:xfrm>
            <a:off x="1636920" y="4636080"/>
            <a:ext cx="77706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6b6478"/>
                </a:solidFill>
                <a:latin typeface="Arial"/>
                <a:ea typeface="DejaVu Sans"/>
              </a:rPr>
              <a:t>Sprzęt, vendorzy, LLM Router, labelowanie i augmentacja narzędziami, trening</a:t>
            </a:r>
            <a:endParaRPr b="0" lang="pl-PL" sz="1200" spc="-1" strike="noStrike">
              <a:latin typeface="Arial"/>
            </a:endParaRPr>
          </a:p>
        </p:txBody>
      </p:sp>
      <p:sp>
        <p:nvSpPr>
          <p:cNvPr id="75" name="TextBox 29"/>
          <p:cNvSpPr/>
          <p:nvPr/>
        </p:nvSpPr>
        <p:spPr>
          <a:xfrm>
            <a:off x="9546480" y="4501080"/>
            <a:ext cx="1735560" cy="2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befe"/>
                </a:solidFill>
                <a:latin typeface="Arial"/>
                <a:ea typeface="DejaVu Sans"/>
              </a:rPr>
              <a:t>~22 min</a:t>
            </a:r>
            <a:endParaRPr b="0" lang="pl-PL" sz="1400" spc="-1" strike="noStrike">
              <a:latin typeface="Arial"/>
            </a:endParaRPr>
          </a:p>
        </p:txBody>
      </p:sp>
      <p:sp>
        <p:nvSpPr>
          <p:cNvPr id="76" name="Rounded Rectangle 30"/>
          <p:cNvSpPr/>
          <p:nvPr/>
        </p:nvSpPr>
        <p:spPr>
          <a:xfrm>
            <a:off x="768240" y="5148000"/>
            <a:ext cx="10605240" cy="784440"/>
          </a:xfrm>
          <a:prstGeom prst="roundRect">
            <a:avLst>
              <a:gd name="adj" fmla="val 16667"/>
            </a:avLst>
          </a:prstGeom>
          <a:solidFill>
            <a:srgbClr val="f2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7" name="Oval 31"/>
          <p:cNvSpPr/>
          <p:nvPr/>
        </p:nvSpPr>
        <p:spPr>
          <a:xfrm>
            <a:off x="951120" y="5312520"/>
            <a:ext cx="455400" cy="455400"/>
          </a:xfrm>
          <a:prstGeom prst="ellipse">
            <a:avLst/>
          </a:prstGeom>
          <a:solidFill>
            <a:srgbClr val="8b19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8" name="TextBox 32"/>
          <p:cNvSpPr/>
          <p:nvPr/>
        </p:nvSpPr>
        <p:spPr>
          <a:xfrm>
            <a:off x="951120" y="5398920"/>
            <a:ext cx="455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Play"/>
                <a:ea typeface="DejaVu Sans"/>
              </a:rPr>
              <a:t>4</a:t>
            </a:r>
            <a:endParaRPr b="0" lang="pl-PL" sz="1800" spc="-1" strike="noStrike">
              <a:latin typeface="Arial"/>
            </a:endParaRPr>
          </a:p>
        </p:txBody>
      </p:sp>
      <p:sp>
        <p:nvSpPr>
          <p:cNvPr id="79" name="TextBox 33"/>
          <p:cNvSpPr/>
          <p:nvPr/>
        </p:nvSpPr>
        <p:spPr>
          <a:xfrm>
            <a:off x="1636920" y="5239440"/>
            <a:ext cx="63990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1b0532"/>
                </a:solidFill>
                <a:latin typeface="Arial"/>
                <a:ea typeface="DejaVu Sans"/>
              </a:rPr>
              <a:t>Podsumowanie i wnioski</a:t>
            </a:r>
            <a:endParaRPr b="0" lang="pl-PL" sz="1600" spc="-1" strike="noStrike">
              <a:latin typeface="Arial"/>
            </a:endParaRPr>
          </a:p>
        </p:txBody>
      </p:sp>
      <p:sp>
        <p:nvSpPr>
          <p:cNvPr id="80" name="TextBox 34"/>
          <p:cNvSpPr/>
          <p:nvPr/>
        </p:nvSpPr>
        <p:spPr>
          <a:xfrm>
            <a:off x="1636920" y="5568840"/>
            <a:ext cx="77706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6b6478"/>
                </a:solidFill>
                <a:latin typeface="Arial"/>
                <a:ea typeface="DejaVu Sans"/>
              </a:rPr>
              <a:t>Ocena modelu w W&amp;B, wnioski i kierunki dalsze</a:t>
            </a:r>
            <a:endParaRPr b="0" lang="pl-PL" sz="1200" spc="-1" strike="noStrike">
              <a:latin typeface="Arial"/>
            </a:endParaRPr>
          </a:p>
        </p:txBody>
      </p:sp>
      <p:sp>
        <p:nvSpPr>
          <p:cNvPr id="81" name="TextBox 35"/>
          <p:cNvSpPr/>
          <p:nvPr/>
        </p:nvSpPr>
        <p:spPr>
          <a:xfrm>
            <a:off x="9546480" y="5433840"/>
            <a:ext cx="1735560" cy="2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8b19fe"/>
                </a:solidFill>
                <a:latin typeface="Arial"/>
                <a:ea typeface="DejaVu Sans"/>
              </a:rPr>
              <a:t>~6 min</a:t>
            </a:r>
            <a:endParaRPr b="0" lang="pl-PL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Box 1"/>
          <p:cNvSpPr/>
          <p:nvPr/>
        </p:nvSpPr>
        <p:spPr>
          <a:xfrm>
            <a:off x="768240" y="420480"/>
            <a:ext cx="1060524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900" spc="-1" strike="noStrike">
                <a:solidFill>
                  <a:srgbClr val="1b0532"/>
                </a:solidFill>
                <a:latin typeface="Play"/>
                <a:ea typeface="DejaVu Sans"/>
              </a:rPr>
              <a:t>Po co ten tutorial?</a:t>
            </a:r>
            <a:endParaRPr b="0" lang="pl-PL" sz="2900" spc="-1" strike="noStrike">
              <a:latin typeface="Arial"/>
            </a:endParaRPr>
          </a:p>
        </p:txBody>
      </p:sp>
      <p:sp>
        <p:nvSpPr>
          <p:cNvPr id="83" name="Rectangle 2"/>
          <p:cNvSpPr/>
          <p:nvPr/>
        </p:nvSpPr>
        <p:spPr>
          <a:xfrm>
            <a:off x="768240" y="1170360"/>
            <a:ext cx="1369800" cy="42480"/>
          </a:xfrm>
          <a:prstGeom prst="rect">
            <a:avLst/>
          </a:prstGeom>
          <a:solidFill>
            <a:srgbClr val="00be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4" name="Rectangle 3"/>
          <p:cNvSpPr/>
          <p:nvPr/>
        </p:nvSpPr>
        <p:spPr>
          <a:xfrm>
            <a:off x="0" y="6437520"/>
            <a:ext cx="12189960" cy="13320"/>
          </a:xfrm>
          <a:prstGeom prst="rect">
            <a:avLst/>
          </a:prstGeom>
          <a:solidFill>
            <a:srgbClr val="f2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5" name="TextBox 4"/>
          <p:cNvSpPr/>
          <p:nvPr/>
        </p:nvSpPr>
        <p:spPr>
          <a:xfrm>
            <a:off x="768240" y="6473880"/>
            <a:ext cx="82278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b6478"/>
                </a:solidFill>
                <a:latin typeface="Arial"/>
                <a:ea typeface="DejaVu Sans"/>
              </a:rPr>
              <a:t>DSS 2026 AI Edition  ·  Wstęp</a:t>
            </a:r>
            <a:endParaRPr b="0" lang="pl-PL" sz="900" spc="-1" strike="noStrike">
              <a:latin typeface="Arial"/>
            </a:endParaRPr>
          </a:p>
        </p:txBody>
      </p:sp>
      <p:sp>
        <p:nvSpPr>
          <p:cNvPr id="86" name="TextBox 5"/>
          <p:cNvSpPr/>
          <p:nvPr/>
        </p:nvSpPr>
        <p:spPr>
          <a:xfrm>
            <a:off x="10607040" y="6473880"/>
            <a:ext cx="8211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b6478"/>
                </a:solidFill>
                <a:latin typeface="Arial"/>
                <a:ea typeface="DejaVu Sans"/>
              </a:rPr>
              <a:t>3</a:t>
            </a:r>
            <a:endParaRPr b="0" lang="pl-PL" sz="900" spc="-1" strike="noStrike">
              <a:latin typeface="Arial"/>
            </a:endParaRPr>
          </a:p>
        </p:txBody>
      </p:sp>
      <p:sp>
        <p:nvSpPr>
          <p:cNvPr id="87" name="TextBox 6"/>
          <p:cNvSpPr/>
          <p:nvPr/>
        </p:nvSpPr>
        <p:spPr>
          <a:xfrm>
            <a:off x="768240" y="1417320"/>
            <a:ext cx="10605240" cy="6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buNone/>
            </a:pPr>
            <a:r>
              <a:rPr b="0" lang="en-US" sz="1700" spc="-1" strike="noStrike">
                <a:solidFill>
                  <a:srgbClr val="1b0532"/>
                </a:solidFill>
                <a:latin typeface="Arial"/>
                <a:ea typeface="DejaVu Sans"/>
              </a:rPr>
              <a:t>Zaprezentujemy proces kontrolowanej augmentacji danych — od podstawowych pojęć po kompletny pipeline z udziałem człowieka w pętli (HITL) i Active Learningu (AL).</a:t>
            </a:r>
            <a:endParaRPr b="0" lang="pl-PL" sz="1700" spc="-1" strike="noStrike">
              <a:latin typeface="Arial"/>
            </a:endParaRPr>
          </a:p>
        </p:txBody>
      </p:sp>
      <p:sp>
        <p:nvSpPr>
          <p:cNvPr id="88" name="TextBox 7"/>
          <p:cNvSpPr/>
          <p:nvPr/>
        </p:nvSpPr>
        <p:spPr>
          <a:xfrm>
            <a:off x="768240" y="2423160"/>
            <a:ext cx="5484600" cy="19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5000"/>
              </a:lnSpc>
              <a:spcAft>
                <a:spcPts val="1001"/>
              </a:spcAft>
              <a:buNone/>
            </a:pPr>
            <a:r>
              <a:rPr b="0" lang="en-US" sz="1700" spc="-1" strike="noStrike">
                <a:solidFill>
                  <a:srgbClr val="1b0532"/>
                </a:solidFill>
                <a:latin typeface="Arial"/>
                <a:ea typeface="DejaVu Sans"/>
              </a:rPr>
              <a:t>▸  </a:t>
            </a:r>
            <a:r>
              <a:rPr b="0" lang="en-US" sz="1700" spc="-1" strike="noStrike">
                <a:solidFill>
                  <a:srgbClr val="1b0532"/>
                </a:solidFill>
                <a:latin typeface="Arial"/>
                <a:ea typeface="DejaVu Sans"/>
              </a:rPr>
              <a:t>Labelowanie — człowiek vs LLM</a:t>
            </a:r>
            <a:endParaRPr b="0" lang="pl-PL" sz="17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1001"/>
              </a:spcAft>
              <a:buNone/>
            </a:pPr>
            <a:r>
              <a:rPr b="0" lang="en-US" sz="1700" spc="-1" strike="noStrike">
                <a:solidFill>
                  <a:srgbClr val="1b0532"/>
                </a:solidFill>
                <a:latin typeface="Arial"/>
                <a:ea typeface="DejaVu Sans"/>
              </a:rPr>
              <a:t>▸  </a:t>
            </a:r>
            <a:r>
              <a:rPr b="0" lang="en-US" sz="1700" spc="-1" strike="noStrike">
                <a:solidFill>
                  <a:srgbClr val="1b0532"/>
                </a:solidFill>
                <a:latin typeface="Arial"/>
                <a:ea typeface="DejaVu Sans"/>
              </a:rPr>
              <a:t>Augmentacja — nowe przykłady treningowe</a:t>
            </a:r>
            <a:endParaRPr b="0" lang="pl-PL" sz="17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1001"/>
              </a:spcAft>
              <a:buNone/>
            </a:pPr>
            <a:r>
              <a:rPr b="0" lang="en-US" sz="1700" spc="-1" strike="noStrike">
                <a:solidFill>
                  <a:srgbClr val="1b0532"/>
                </a:solidFill>
                <a:latin typeface="Arial"/>
                <a:ea typeface="DejaVu Sans"/>
              </a:rPr>
              <a:t>▸  </a:t>
            </a:r>
            <a:r>
              <a:rPr b="0" lang="en-US" sz="1700" spc="-1" strike="noStrike">
                <a:solidFill>
                  <a:srgbClr val="1b0532"/>
                </a:solidFill>
                <a:latin typeface="Arial"/>
                <a:ea typeface="DejaVu Sans"/>
              </a:rPr>
              <a:t>Klasyfikacja — modele decyzyjne</a:t>
            </a:r>
            <a:endParaRPr b="0" lang="pl-PL" sz="17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1001"/>
              </a:spcAft>
              <a:buNone/>
            </a:pPr>
            <a:r>
              <a:rPr b="0" lang="en-US" sz="1700" spc="-1" strike="noStrike">
                <a:solidFill>
                  <a:srgbClr val="1b0532"/>
                </a:solidFill>
                <a:latin typeface="Arial"/>
                <a:ea typeface="DejaVu Sans"/>
              </a:rPr>
              <a:t>▸  </a:t>
            </a:r>
            <a:r>
              <a:rPr b="0" lang="en-US" sz="1700" spc="-1" strike="noStrike">
                <a:solidFill>
                  <a:srgbClr val="1b0532"/>
                </a:solidFill>
                <a:latin typeface="Arial"/>
                <a:ea typeface="DejaVu Sans"/>
              </a:rPr>
              <a:t>Generowanie — LLM tworzy dane</a:t>
            </a:r>
            <a:endParaRPr b="0" lang="pl-PL" sz="17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1001"/>
              </a:spcAft>
              <a:buNone/>
            </a:pPr>
            <a:r>
              <a:rPr b="0" lang="en-US" sz="1700" spc="-1" strike="noStrike">
                <a:solidFill>
                  <a:srgbClr val="1b0532"/>
                </a:solidFill>
                <a:latin typeface="Arial"/>
                <a:ea typeface="DejaVu Sans"/>
              </a:rPr>
              <a:t>▸  </a:t>
            </a:r>
            <a:r>
              <a:rPr b="0" lang="en-US" sz="1700" spc="-1" strike="noStrike">
                <a:solidFill>
                  <a:srgbClr val="1b0532"/>
                </a:solidFill>
                <a:latin typeface="Arial"/>
                <a:ea typeface="DejaVu Sans"/>
              </a:rPr>
              <a:t>HITL + AL — człowiek w pętli uczenia aktywnego</a:t>
            </a:r>
            <a:endParaRPr b="0" lang="pl-PL" sz="1700" spc="-1" strike="noStrike">
              <a:latin typeface="Arial"/>
            </a:endParaRPr>
          </a:p>
        </p:txBody>
      </p:sp>
      <p:sp>
        <p:nvSpPr>
          <p:cNvPr id="89" name="Rounded Rectangle 8"/>
          <p:cNvSpPr/>
          <p:nvPr/>
        </p:nvSpPr>
        <p:spPr>
          <a:xfrm>
            <a:off x="6583680" y="2423160"/>
            <a:ext cx="4844520" cy="2375640"/>
          </a:xfrm>
          <a:prstGeom prst="roundRect">
            <a:avLst>
              <a:gd name="adj" fmla="val 16667"/>
            </a:avLst>
          </a:prstGeom>
          <a:solidFill>
            <a:srgbClr val="f2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0" name="Rectangle 9"/>
          <p:cNvSpPr/>
          <p:nvPr/>
        </p:nvSpPr>
        <p:spPr>
          <a:xfrm>
            <a:off x="6583680" y="2423160"/>
            <a:ext cx="48960" cy="2375640"/>
          </a:xfrm>
          <a:prstGeom prst="rect">
            <a:avLst/>
          </a:prstGeom>
          <a:solidFill>
            <a:srgbClr val="8b19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1" name="TextBox 10"/>
          <p:cNvSpPr/>
          <p:nvPr/>
        </p:nvSpPr>
        <p:spPr>
          <a:xfrm>
            <a:off x="6839640" y="3206160"/>
            <a:ext cx="4387320" cy="84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5000"/>
              </a:lnSpc>
              <a:buNone/>
            </a:pPr>
            <a:r>
              <a:rPr b="1" lang="en-US" sz="1400" spc="-1" strike="noStrike">
                <a:solidFill>
                  <a:srgbClr val="1b0532"/>
                </a:solidFill>
                <a:latin typeface="Arial"/>
                <a:ea typeface="DejaVu Sans"/>
              </a:rPr>
              <a:t>◆  </a:t>
            </a:r>
            <a:r>
              <a:rPr b="1" lang="en-US" sz="1400" spc="-1" strike="noStrike">
                <a:solidFill>
                  <a:srgbClr val="1b0532"/>
                </a:solidFill>
                <a:latin typeface="Arial"/>
                <a:ea typeface="DejaVu Sans"/>
              </a:rPr>
              <a:t>Cel i korzyść</a:t>
            </a:r>
            <a:endParaRPr b="0" lang="pl-PL" sz="14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US" sz="1300" spc="-1" strike="noStrike">
                <a:solidFill>
                  <a:srgbClr val="6b6478"/>
                </a:solidFill>
                <a:latin typeface="Arial"/>
                <a:ea typeface="DejaVu Sans"/>
              </a:rPr>
              <a:t>Skrócenie czasu wytwarzania modeli klasyfikacyjnych oraz wsparcie w sytuacjach, gdy trudno zorganizować reprezentatywny zespół anotatorów.</a:t>
            </a:r>
            <a:endParaRPr b="0" lang="pl-PL" sz="1300" spc="-1" strike="noStrike">
              <a:latin typeface="Arial"/>
            </a:endParaRPr>
          </a:p>
        </p:txBody>
      </p:sp>
      <p:sp>
        <p:nvSpPr>
          <p:cNvPr id="92" name="TextBox 11"/>
          <p:cNvSpPr/>
          <p:nvPr/>
        </p:nvSpPr>
        <p:spPr>
          <a:xfrm>
            <a:off x="6583680" y="4983480"/>
            <a:ext cx="484452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1300" spc="-1" strike="noStrike">
                <a:solidFill>
                  <a:srgbClr val="6b6478"/>
                </a:solidFill>
                <a:latin typeface="Arial"/>
                <a:ea typeface="DejaVu Sans"/>
              </a:rPr>
              <a:t>W trakcie: 5-minutowa sesja anotacyjna z udziałem uczestników.</a:t>
            </a:r>
            <a:endParaRPr b="0" lang="pl-PL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4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Box 1"/>
          <p:cNvSpPr/>
          <p:nvPr/>
        </p:nvSpPr>
        <p:spPr>
          <a:xfrm>
            <a:off x="768240" y="2240280"/>
            <a:ext cx="1827000" cy="97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6400" spc="-1" strike="noStrike">
                <a:solidFill>
                  <a:srgbClr val="8b19fe"/>
                </a:solidFill>
                <a:latin typeface="Play"/>
                <a:ea typeface="DejaVu Sans"/>
              </a:rPr>
              <a:t>01</a:t>
            </a:r>
            <a:endParaRPr b="0" lang="pl-PL" sz="6400" spc="-1" strike="noStrike">
              <a:latin typeface="Arial"/>
            </a:endParaRPr>
          </a:p>
        </p:txBody>
      </p:sp>
      <p:sp>
        <p:nvSpPr>
          <p:cNvPr id="94" name="Rectangle 2"/>
          <p:cNvSpPr/>
          <p:nvPr/>
        </p:nvSpPr>
        <p:spPr>
          <a:xfrm>
            <a:off x="768240" y="3246120"/>
            <a:ext cx="1827000" cy="48960"/>
          </a:xfrm>
          <a:prstGeom prst="rect">
            <a:avLst/>
          </a:prstGeom>
          <a:solidFill>
            <a:srgbClr val="00be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5" name="TextBox 3"/>
          <p:cNvSpPr/>
          <p:nvPr/>
        </p:nvSpPr>
        <p:spPr>
          <a:xfrm>
            <a:off x="768240" y="3429000"/>
            <a:ext cx="104223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buNone/>
            </a:pPr>
            <a:r>
              <a:rPr b="0" lang="en-US" sz="4000" spc="-1" strike="noStrike">
                <a:solidFill>
                  <a:srgbClr val="ffffff"/>
                </a:solidFill>
                <a:latin typeface="Play"/>
                <a:ea typeface="DejaVu Sans"/>
              </a:rPr>
              <a:t>Część teoretyczno-praktyczna</a:t>
            </a:r>
            <a:endParaRPr b="0" lang="pl-PL" sz="4000" spc="-1" strike="noStrike">
              <a:latin typeface="Arial"/>
            </a:endParaRPr>
          </a:p>
        </p:txBody>
      </p:sp>
      <p:sp>
        <p:nvSpPr>
          <p:cNvPr id="96" name="TextBox 4"/>
          <p:cNvSpPr/>
          <p:nvPr/>
        </p:nvSpPr>
        <p:spPr>
          <a:xfrm>
            <a:off x="768240" y="4754880"/>
            <a:ext cx="73134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00befe"/>
                </a:solidFill>
                <a:latin typeface="Arial"/>
                <a:ea typeface="DejaVu Sans"/>
              </a:rPr>
              <a:t>~25 min · podstawy pojęciowe i metoda</a:t>
            </a:r>
            <a:endParaRPr b="0" lang="pl-PL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1"/>
          <p:cNvSpPr/>
          <p:nvPr/>
        </p:nvSpPr>
        <p:spPr>
          <a:xfrm>
            <a:off x="768240" y="420480"/>
            <a:ext cx="1060524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900" spc="-1" strike="noStrike">
                <a:solidFill>
                  <a:srgbClr val="1b0532"/>
                </a:solidFill>
                <a:latin typeface="Play"/>
                <a:ea typeface="DejaVu Sans"/>
              </a:rPr>
              <a:t>Labelowanie danych z wykorzystaniem LLM</a:t>
            </a:r>
            <a:endParaRPr b="0" lang="pl-PL" sz="2900" spc="-1" strike="noStrike">
              <a:latin typeface="Arial"/>
            </a:endParaRPr>
          </a:p>
        </p:txBody>
      </p:sp>
      <p:sp>
        <p:nvSpPr>
          <p:cNvPr id="98" name="Rectangle 2"/>
          <p:cNvSpPr/>
          <p:nvPr/>
        </p:nvSpPr>
        <p:spPr>
          <a:xfrm>
            <a:off x="768240" y="1170360"/>
            <a:ext cx="1369800" cy="42480"/>
          </a:xfrm>
          <a:prstGeom prst="rect">
            <a:avLst/>
          </a:prstGeom>
          <a:solidFill>
            <a:srgbClr val="00be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9" name="TextBox 3"/>
          <p:cNvSpPr/>
          <p:nvPr/>
        </p:nvSpPr>
        <p:spPr>
          <a:xfrm>
            <a:off x="768240" y="1298520"/>
            <a:ext cx="106052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1500" spc="-1" strike="noStrike">
                <a:solidFill>
                  <a:srgbClr val="6b6478"/>
                </a:solidFill>
                <a:latin typeface="Arial"/>
                <a:ea typeface="DejaVu Sans"/>
              </a:rPr>
              <a:t>Przypisywanie etykiet przykładom — klasyczne (człowiek) vs wspierane LLM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00" name="Rectangle 4"/>
          <p:cNvSpPr/>
          <p:nvPr/>
        </p:nvSpPr>
        <p:spPr>
          <a:xfrm>
            <a:off x="0" y="6437520"/>
            <a:ext cx="12189960" cy="13320"/>
          </a:xfrm>
          <a:prstGeom prst="rect">
            <a:avLst/>
          </a:prstGeom>
          <a:solidFill>
            <a:srgbClr val="f2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1" name="TextBox 5"/>
          <p:cNvSpPr/>
          <p:nvPr/>
        </p:nvSpPr>
        <p:spPr>
          <a:xfrm>
            <a:off x="768240" y="6473880"/>
            <a:ext cx="82278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b6478"/>
                </a:solidFill>
                <a:latin typeface="Arial"/>
                <a:ea typeface="DejaVu Sans"/>
              </a:rPr>
              <a:t>DSS 2026 AI Edition  ·  Teoria · Labelowanie</a:t>
            </a:r>
            <a:endParaRPr b="0" lang="pl-PL" sz="900" spc="-1" strike="noStrike">
              <a:latin typeface="Arial"/>
            </a:endParaRPr>
          </a:p>
        </p:txBody>
      </p:sp>
      <p:sp>
        <p:nvSpPr>
          <p:cNvPr id="102" name="TextBox 6"/>
          <p:cNvSpPr/>
          <p:nvPr/>
        </p:nvSpPr>
        <p:spPr>
          <a:xfrm>
            <a:off x="10607040" y="6473880"/>
            <a:ext cx="8211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b6478"/>
                </a:solidFill>
                <a:latin typeface="Arial"/>
                <a:ea typeface="DejaVu Sans"/>
              </a:rPr>
              <a:t>6</a:t>
            </a:r>
            <a:endParaRPr b="0" lang="pl-PL" sz="900" spc="-1" strike="noStrike">
              <a:latin typeface="Arial"/>
            </a:endParaRPr>
          </a:p>
        </p:txBody>
      </p:sp>
      <p:sp>
        <p:nvSpPr>
          <p:cNvPr id="103" name="TextBox 7"/>
          <p:cNvSpPr/>
          <p:nvPr/>
        </p:nvSpPr>
        <p:spPr>
          <a:xfrm>
            <a:off x="768240" y="1828800"/>
            <a:ext cx="53017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1b0532"/>
                </a:solidFill>
                <a:latin typeface="Arial"/>
                <a:ea typeface="DejaVu Sans"/>
              </a:rPr>
              <a:t>Szczególnie przydatne, gdy: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04" name="TextBox 8"/>
          <p:cNvSpPr/>
          <p:nvPr/>
        </p:nvSpPr>
        <p:spPr>
          <a:xfrm>
            <a:off x="768240" y="2286000"/>
            <a:ext cx="5393160" cy="169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5000"/>
              </a:lnSpc>
              <a:spcAft>
                <a:spcPts val="799"/>
              </a:spcAft>
              <a:buNone/>
            </a:pPr>
            <a:r>
              <a:rPr b="0" lang="en-US" sz="1500" spc="-1" strike="noStrike">
                <a:solidFill>
                  <a:srgbClr val="1b0532"/>
                </a:solidFill>
                <a:latin typeface="Arial"/>
                <a:ea typeface="DejaVu Sans"/>
              </a:rPr>
              <a:t>▸  </a:t>
            </a:r>
            <a:r>
              <a:rPr b="0" lang="en-US" sz="1500" spc="-1" strike="noStrike">
                <a:solidFill>
                  <a:srgbClr val="1b0532"/>
                </a:solidFill>
                <a:latin typeface="Arial"/>
                <a:ea typeface="DejaVu Sans"/>
              </a:rPr>
              <a:t>mamy dużo nieoznaczonych danych</a:t>
            </a:r>
            <a:endParaRPr b="0" lang="pl-PL" sz="15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799"/>
              </a:spcAft>
              <a:buNone/>
            </a:pPr>
            <a:r>
              <a:rPr b="0" lang="en-US" sz="1500" spc="-1" strike="noStrike">
                <a:solidFill>
                  <a:srgbClr val="1b0532"/>
                </a:solidFill>
                <a:latin typeface="Arial"/>
                <a:ea typeface="DejaVu Sans"/>
              </a:rPr>
              <a:t>▸  </a:t>
            </a:r>
            <a:r>
              <a:rPr b="0" lang="en-US" sz="1500" spc="-1" strike="noStrike">
                <a:solidFill>
                  <a:srgbClr val="1b0532"/>
                </a:solidFill>
                <a:latin typeface="Arial"/>
                <a:ea typeface="DejaVu Sans"/>
              </a:rPr>
              <a:t>chcemy szybko pierwszy zbiór treningowy</a:t>
            </a:r>
            <a:endParaRPr b="0" lang="pl-PL" sz="15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799"/>
              </a:spcAft>
              <a:buNone/>
            </a:pPr>
            <a:r>
              <a:rPr b="0" lang="en-US" sz="1500" spc="-1" strike="noStrike">
                <a:solidFill>
                  <a:srgbClr val="1b0532"/>
                </a:solidFill>
                <a:latin typeface="Arial"/>
                <a:ea typeface="DejaVu Sans"/>
              </a:rPr>
              <a:t>▸  </a:t>
            </a:r>
            <a:r>
              <a:rPr b="0" lang="en-US" sz="1500" spc="-1" strike="noStrike">
                <a:solidFill>
                  <a:srgbClr val="1b0532"/>
                </a:solidFill>
                <a:latin typeface="Arial"/>
                <a:ea typeface="DejaVu Sans"/>
              </a:rPr>
              <a:t>potrzebne wstępne etykiety do eksperymentów</a:t>
            </a:r>
            <a:endParaRPr b="0" lang="pl-PL" sz="15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799"/>
              </a:spcAft>
              <a:buNone/>
            </a:pPr>
            <a:r>
              <a:rPr b="0" lang="en-US" sz="1500" spc="-1" strike="noStrike">
                <a:solidFill>
                  <a:srgbClr val="1b0532"/>
                </a:solidFill>
                <a:latin typeface="Arial"/>
                <a:ea typeface="DejaVu Sans"/>
              </a:rPr>
              <a:t>▸  </a:t>
            </a:r>
            <a:r>
              <a:rPr b="0" lang="en-US" sz="1500" spc="-1" strike="noStrike">
                <a:solidFill>
                  <a:srgbClr val="1b0532"/>
                </a:solidFill>
                <a:latin typeface="Arial"/>
                <a:ea typeface="DejaVu Sans"/>
              </a:rPr>
              <a:t>chcemy ograniczyć koszt ręcznej anotacji</a:t>
            </a:r>
            <a:endParaRPr b="0" lang="pl-PL" sz="15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799"/>
              </a:spcAft>
              <a:buNone/>
            </a:pPr>
            <a:r>
              <a:rPr b="0" lang="en-US" sz="1500" spc="-1" strike="noStrike">
                <a:solidFill>
                  <a:srgbClr val="1b0532"/>
                </a:solidFill>
                <a:latin typeface="Arial"/>
                <a:ea typeface="DejaVu Sans"/>
              </a:rPr>
              <a:t>▸  </a:t>
            </a:r>
            <a:r>
              <a:rPr b="0" lang="en-US" sz="1500" spc="-1" strike="noStrike">
                <a:solidFill>
                  <a:srgbClr val="1b0532"/>
                </a:solidFill>
                <a:latin typeface="Arial"/>
                <a:ea typeface="DejaVu Sans"/>
              </a:rPr>
              <a:t>klasy da się jasno zdefiniować w promptach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05" name="Rounded Rectangle 9"/>
          <p:cNvSpPr/>
          <p:nvPr/>
        </p:nvSpPr>
        <p:spPr>
          <a:xfrm>
            <a:off x="6400800" y="1828800"/>
            <a:ext cx="5027400" cy="1552680"/>
          </a:xfrm>
          <a:prstGeom prst="roundRect">
            <a:avLst>
              <a:gd name="adj" fmla="val 16667"/>
            </a:avLst>
          </a:prstGeom>
          <a:solidFill>
            <a:srgbClr val="f2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6" name="Rectangle 10"/>
          <p:cNvSpPr/>
          <p:nvPr/>
        </p:nvSpPr>
        <p:spPr>
          <a:xfrm>
            <a:off x="6400800" y="1828800"/>
            <a:ext cx="48960" cy="1552680"/>
          </a:xfrm>
          <a:prstGeom prst="rect">
            <a:avLst/>
          </a:prstGeom>
          <a:solidFill>
            <a:srgbClr val="c97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7" name="TextBox 11"/>
          <p:cNvSpPr/>
          <p:nvPr/>
        </p:nvSpPr>
        <p:spPr>
          <a:xfrm>
            <a:off x="6656760" y="2304360"/>
            <a:ext cx="45702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5000"/>
              </a:lnSpc>
              <a:buNone/>
            </a:pPr>
            <a:r>
              <a:rPr b="1" lang="en-US" sz="1400" spc="-1" strike="noStrike">
                <a:solidFill>
                  <a:srgbClr val="1b0532"/>
                </a:solidFill>
                <a:latin typeface="Arial"/>
                <a:ea typeface="DejaVu Sans"/>
              </a:rPr>
              <a:t>⚠  </a:t>
            </a:r>
            <a:r>
              <a:rPr b="1" lang="en-US" sz="1400" spc="-1" strike="noStrike">
                <a:solidFill>
                  <a:srgbClr val="1b0532"/>
                </a:solidFill>
                <a:latin typeface="Arial"/>
                <a:ea typeface="DejaVu Sans"/>
              </a:rPr>
              <a:t>Uwaga</a:t>
            </a:r>
            <a:endParaRPr b="0" lang="pl-PL" sz="14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US" sz="1300" spc="-1" strike="noStrike">
                <a:solidFill>
                  <a:srgbClr val="6b6478"/>
                </a:solidFill>
                <a:latin typeface="Arial"/>
                <a:ea typeface="DejaVu Sans"/>
              </a:rPr>
              <a:t>Etykiety LLM to tylko propozycje. Model myli się przy ironii, niejednoznaczności, braku kontekstu i slangu.</a:t>
            </a:r>
            <a:endParaRPr b="0" lang="pl-PL" sz="1300" spc="-1" strike="noStrike">
              <a:latin typeface="Arial"/>
            </a:endParaRPr>
          </a:p>
        </p:txBody>
      </p:sp>
      <p:sp>
        <p:nvSpPr>
          <p:cNvPr id="108" name="Rounded Rectangle 12"/>
          <p:cNvSpPr/>
          <p:nvPr/>
        </p:nvSpPr>
        <p:spPr>
          <a:xfrm>
            <a:off x="6400800" y="3566160"/>
            <a:ext cx="5027400" cy="1506960"/>
          </a:xfrm>
          <a:prstGeom prst="roundRect">
            <a:avLst>
              <a:gd name="adj" fmla="val 16667"/>
            </a:avLst>
          </a:prstGeom>
          <a:solidFill>
            <a:srgbClr val="f2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9" name="Rectangle 13"/>
          <p:cNvSpPr/>
          <p:nvPr/>
        </p:nvSpPr>
        <p:spPr>
          <a:xfrm>
            <a:off x="6400800" y="3566160"/>
            <a:ext cx="48960" cy="1506960"/>
          </a:xfrm>
          <a:prstGeom prst="rect">
            <a:avLst/>
          </a:prstGeom>
          <a:solidFill>
            <a:srgbClr val="1f9e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0" name="TextBox 14"/>
          <p:cNvSpPr/>
          <p:nvPr/>
        </p:nvSpPr>
        <p:spPr>
          <a:xfrm>
            <a:off x="6656760" y="3915000"/>
            <a:ext cx="4570200" cy="84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5000"/>
              </a:lnSpc>
              <a:buNone/>
            </a:pPr>
            <a:r>
              <a:rPr b="1" lang="en-US" sz="1400" spc="-1" strike="noStrike">
                <a:solidFill>
                  <a:srgbClr val="1b0532"/>
                </a:solidFill>
                <a:latin typeface="Arial"/>
                <a:ea typeface="DejaVu Sans"/>
              </a:rPr>
              <a:t>✓  </a:t>
            </a:r>
            <a:r>
              <a:rPr b="1" lang="en-US" sz="1400" spc="-1" strike="noStrike">
                <a:solidFill>
                  <a:srgbClr val="1b0532"/>
                </a:solidFill>
                <a:latin typeface="Arial"/>
                <a:ea typeface="DejaVu Sans"/>
              </a:rPr>
              <a:t>Zasada</a:t>
            </a:r>
            <a:endParaRPr b="0" lang="pl-PL" sz="14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US" sz="1300" spc="-1" strike="noStrike">
                <a:solidFill>
                  <a:srgbClr val="6b6478"/>
                </a:solidFill>
                <a:latin typeface="Arial"/>
                <a:ea typeface="DejaVu Sans"/>
              </a:rPr>
              <a:t>LLM nie zastępuje człowieka — przyspiesza etykietowanie. Człowiek kontroluje jakość, poprawia błędy i rozstrzyga trudne przypadki.</a:t>
            </a:r>
            <a:endParaRPr b="0" lang="pl-PL" sz="1300" spc="-1" strike="noStrike">
              <a:latin typeface="Arial"/>
            </a:endParaRPr>
          </a:p>
        </p:txBody>
      </p:sp>
      <p:pic>
        <p:nvPicPr>
          <p:cNvPr id="111" name="" descr=""/>
          <p:cNvPicPr/>
          <p:nvPr/>
        </p:nvPicPr>
        <p:blipFill>
          <a:blip r:embed="rId1"/>
          <a:stretch/>
        </p:blipFill>
        <p:spPr>
          <a:xfrm>
            <a:off x="144000" y="4077720"/>
            <a:ext cx="3036960" cy="1897560"/>
          </a:xfrm>
          <a:prstGeom prst="rect">
            <a:avLst/>
          </a:prstGeom>
          <a:ln w="0">
            <a:noFill/>
          </a:ln>
        </p:spPr>
      </p:pic>
      <p:pic>
        <p:nvPicPr>
          <p:cNvPr id="112" name="" descr=""/>
          <p:cNvPicPr/>
          <p:nvPr/>
        </p:nvPicPr>
        <p:blipFill>
          <a:blip r:embed="rId2"/>
          <a:stretch/>
        </p:blipFill>
        <p:spPr>
          <a:xfrm>
            <a:off x="3384000" y="4176000"/>
            <a:ext cx="2922480" cy="1825920"/>
          </a:xfrm>
          <a:prstGeom prst="rect">
            <a:avLst/>
          </a:prstGeom>
          <a:ln w="0">
            <a:noFill/>
          </a:ln>
        </p:spPr>
      </p:pic>
      <p:sp>
        <p:nvSpPr>
          <p:cNvPr id="113" name="TextBox 37"/>
          <p:cNvSpPr/>
          <p:nvPr/>
        </p:nvSpPr>
        <p:spPr>
          <a:xfrm>
            <a:off x="864000" y="5976000"/>
            <a:ext cx="172728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b6478"/>
                </a:solidFill>
                <a:latin typeface="Arial"/>
                <a:ea typeface="DejaVu Sans"/>
              </a:rPr>
              <a:t>Rozkład klas – ręczna anotacja</a:t>
            </a:r>
            <a:endParaRPr b="0" lang="pl-PL" sz="900" spc="-1" strike="noStrike">
              <a:latin typeface="Arial"/>
            </a:endParaRPr>
          </a:p>
        </p:txBody>
      </p:sp>
      <p:sp>
        <p:nvSpPr>
          <p:cNvPr id="114" name="TextBox 40"/>
          <p:cNvSpPr/>
          <p:nvPr/>
        </p:nvSpPr>
        <p:spPr>
          <a:xfrm>
            <a:off x="3816000" y="6002640"/>
            <a:ext cx="1727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b6478"/>
                </a:solidFill>
                <a:latin typeface="Arial"/>
                <a:ea typeface="DejaVu Sans"/>
              </a:rPr>
              <a:t>Rozkład klas – automatyczne labelowanie</a:t>
            </a:r>
            <a:endParaRPr b="0" lang="pl-PL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Box 1"/>
          <p:cNvSpPr/>
          <p:nvPr/>
        </p:nvSpPr>
        <p:spPr>
          <a:xfrm>
            <a:off x="768240" y="420480"/>
            <a:ext cx="1060524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900" spc="-1" strike="noStrike">
                <a:solidFill>
                  <a:srgbClr val="1b0532"/>
                </a:solidFill>
                <a:latin typeface="Play"/>
                <a:ea typeface="DejaVu Sans"/>
              </a:rPr>
              <a:t>Augmentacja danych</a:t>
            </a:r>
            <a:endParaRPr b="0" lang="pl-PL" sz="2900" spc="-1" strike="noStrike">
              <a:latin typeface="Arial"/>
            </a:endParaRPr>
          </a:p>
        </p:txBody>
      </p:sp>
      <p:sp>
        <p:nvSpPr>
          <p:cNvPr id="116" name="Rectangle 2"/>
          <p:cNvSpPr/>
          <p:nvPr/>
        </p:nvSpPr>
        <p:spPr>
          <a:xfrm>
            <a:off x="768240" y="1170360"/>
            <a:ext cx="1369800" cy="42480"/>
          </a:xfrm>
          <a:prstGeom prst="rect">
            <a:avLst/>
          </a:prstGeom>
          <a:solidFill>
            <a:srgbClr val="00be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7" name="TextBox 3"/>
          <p:cNvSpPr/>
          <p:nvPr/>
        </p:nvSpPr>
        <p:spPr>
          <a:xfrm>
            <a:off x="768240" y="1298520"/>
            <a:ext cx="106052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1500" spc="-1" strike="noStrike">
                <a:solidFill>
                  <a:srgbClr val="6b6478"/>
                </a:solidFill>
                <a:latin typeface="Arial"/>
                <a:ea typeface="DejaVu Sans"/>
              </a:rPr>
              <a:t>Tworzenie nowych przykładów treningowych na bazie istniejącego zbioru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18" name="Rectangle 4"/>
          <p:cNvSpPr/>
          <p:nvPr/>
        </p:nvSpPr>
        <p:spPr>
          <a:xfrm>
            <a:off x="0" y="6437520"/>
            <a:ext cx="12189960" cy="13320"/>
          </a:xfrm>
          <a:prstGeom prst="rect">
            <a:avLst/>
          </a:prstGeom>
          <a:solidFill>
            <a:srgbClr val="f2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9" name="TextBox 5"/>
          <p:cNvSpPr/>
          <p:nvPr/>
        </p:nvSpPr>
        <p:spPr>
          <a:xfrm>
            <a:off x="768240" y="6473880"/>
            <a:ext cx="82278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b6478"/>
                </a:solidFill>
                <a:latin typeface="Arial"/>
                <a:ea typeface="DejaVu Sans"/>
              </a:rPr>
              <a:t>DSS 2026 AI Edition  ·  Teoria · Augmentacja</a:t>
            </a:r>
            <a:endParaRPr b="0" lang="pl-PL" sz="900" spc="-1" strike="noStrike">
              <a:latin typeface="Arial"/>
            </a:endParaRPr>
          </a:p>
        </p:txBody>
      </p:sp>
      <p:sp>
        <p:nvSpPr>
          <p:cNvPr id="120" name="TextBox 6"/>
          <p:cNvSpPr/>
          <p:nvPr/>
        </p:nvSpPr>
        <p:spPr>
          <a:xfrm>
            <a:off x="10607040" y="6473880"/>
            <a:ext cx="8211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b6478"/>
                </a:solidFill>
                <a:latin typeface="Arial"/>
                <a:ea typeface="DejaVu Sans"/>
              </a:rPr>
              <a:t>5</a:t>
            </a:r>
            <a:endParaRPr b="0" lang="pl-PL" sz="900" spc="-1" strike="noStrike">
              <a:latin typeface="Arial"/>
            </a:endParaRPr>
          </a:p>
        </p:txBody>
      </p:sp>
      <p:sp>
        <p:nvSpPr>
          <p:cNvPr id="121" name="TextBox 7"/>
          <p:cNvSpPr/>
          <p:nvPr/>
        </p:nvSpPr>
        <p:spPr>
          <a:xfrm>
            <a:off x="768240" y="1828800"/>
            <a:ext cx="51188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1b0532"/>
                </a:solidFill>
                <a:latin typeface="Arial"/>
                <a:ea typeface="DejaVu Sans"/>
              </a:rPr>
              <a:t>Dobra augmentacja zapewnia, że przykłady: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22" name="TextBox 8"/>
          <p:cNvSpPr/>
          <p:nvPr/>
        </p:nvSpPr>
        <p:spPr>
          <a:xfrm>
            <a:off x="768240" y="2286000"/>
            <a:ext cx="5301720" cy="182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5000"/>
              </a:lnSpc>
              <a:spcAft>
                <a:spcPts val="901"/>
              </a:spcAft>
              <a:buNone/>
            </a:pPr>
            <a:r>
              <a:rPr b="0" lang="en-US" sz="1600" spc="-1" strike="noStrike">
                <a:solidFill>
                  <a:srgbClr val="1b0532"/>
                </a:solidFill>
                <a:latin typeface="Arial"/>
                <a:ea typeface="DejaVu Sans"/>
              </a:rPr>
              <a:t>▸  </a:t>
            </a:r>
            <a:r>
              <a:rPr b="0" lang="en-US" sz="1600" spc="-1" strike="noStrike">
                <a:solidFill>
                  <a:srgbClr val="1b0532"/>
                </a:solidFill>
                <a:latin typeface="Arial"/>
                <a:ea typeface="DejaVu Sans"/>
              </a:rPr>
              <a:t>są zgodne z problemem</a:t>
            </a:r>
            <a:endParaRPr b="0" lang="pl-PL" sz="16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901"/>
              </a:spcAft>
              <a:buNone/>
            </a:pPr>
            <a:r>
              <a:rPr b="0" lang="en-US" sz="1600" spc="-1" strike="noStrike">
                <a:solidFill>
                  <a:srgbClr val="1b0532"/>
                </a:solidFill>
                <a:latin typeface="Arial"/>
                <a:ea typeface="DejaVu Sans"/>
              </a:rPr>
              <a:t>▸  </a:t>
            </a:r>
            <a:r>
              <a:rPr b="0" lang="en-US" sz="1600" spc="-1" strike="noStrike">
                <a:solidFill>
                  <a:srgbClr val="1b0532"/>
                </a:solidFill>
                <a:latin typeface="Arial"/>
                <a:ea typeface="DejaVu Sans"/>
              </a:rPr>
              <a:t>zachowują poprawną etykietę</a:t>
            </a:r>
            <a:endParaRPr b="0" lang="pl-PL" sz="16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901"/>
              </a:spcAft>
              <a:buNone/>
            </a:pPr>
            <a:r>
              <a:rPr b="0" lang="en-US" sz="1600" spc="-1" strike="noStrike">
                <a:solidFill>
                  <a:srgbClr val="1b0532"/>
                </a:solidFill>
                <a:latin typeface="Arial"/>
                <a:ea typeface="DejaVu Sans"/>
              </a:rPr>
              <a:t>▸  </a:t>
            </a:r>
            <a:r>
              <a:rPr b="0" lang="en-US" sz="1600" spc="-1" strike="noStrike">
                <a:solidFill>
                  <a:srgbClr val="1b0532"/>
                </a:solidFill>
                <a:latin typeface="Arial"/>
                <a:ea typeface="DejaVu Sans"/>
              </a:rPr>
              <a:t>zwiększają różnorodność zbioru</a:t>
            </a:r>
            <a:endParaRPr b="0" lang="pl-PL" sz="16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901"/>
              </a:spcAft>
              <a:buNone/>
            </a:pPr>
            <a:r>
              <a:rPr b="0" lang="en-US" sz="1600" spc="-1" strike="noStrike">
                <a:solidFill>
                  <a:srgbClr val="1b0532"/>
                </a:solidFill>
                <a:latin typeface="Arial"/>
                <a:ea typeface="DejaVu Sans"/>
              </a:rPr>
              <a:t>▸  </a:t>
            </a:r>
            <a:r>
              <a:rPr b="0" lang="en-US" sz="1600" spc="-1" strike="noStrike">
                <a:solidFill>
                  <a:srgbClr val="1b0532"/>
                </a:solidFill>
                <a:latin typeface="Arial"/>
                <a:ea typeface="DejaVu Sans"/>
              </a:rPr>
              <a:t>pomagają modelowi generalizować</a:t>
            </a:r>
            <a:endParaRPr b="0" lang="pl-PL" sz="16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901"/>
              </a:spcAft>
              <a:buNone/>
            </a:pPr>
            <a:r>
              <a:rPr b="0" lang="en-US" sz="1600" spc="-1" strike="noStrike">
                <a:solidFill>
                  <a:srgbClr val="1b0532"/>
                </a:solidFill>
                <a:latin typeface="Arial"/>
                <a:ea typeface="DejaVu Sans"/>
              </a:rPr>
              <a:t>▸  </a:t>
            </a:r>
            <a:r>
              <a:rPr b="0" lang="en-US" sz="1600" spc="-1" strike="noStrike">
                <a:solidFill>
                  <a:srgbClr val="1b0532"/>
                </a:solidFill>
                <a:latin typeface="Arial"/>
                <a:ea typeface="DejaVu Sans"/>
              </a:rPr>
              <a:t>uzupełniają klasy słabo reprezentowane</a:t>
            </a:r>
            <a:endParaRPr b="0" lang="pl-PL" sz="1600" spc="-1" strike="noStrike">
              <a:latin typeface="Arial"/>
            </a:endParaRPr>
          </a:p>
        </p:txBody>
      </p:sp>
      <p:sp>
        <p:nvSpPr>
          <p:cNvPr id="123" name="TextBox 9"/>
          <p:cNvSpPr/>
          <p:nvPr/>
        </p:nvSpPr>
        <p:spPr>
          <a:xfrm>
            <a:off x="6400800" y="1828800"/>
            <a:ext cx="50274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1b0532"/>
                </a:solidFill>
                <a:latin typeface="Arial"/>
                <a:ea typeface="DejaVu Sans"/>
              </a:rPr>
              <a:t>Metody dla tekstu: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24" name="TextBox 10"/>
          <p:cNvSpPr/>
          <p:nvPr/>
        </p:nvSpPr>
        <p:spPr>
          <a:xfrm>
            <a:off x="6400800" y="2286000"/>
            <a:ext cx="5027400" cy="182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5000"/>
              </a:lnSpc>
              <a:spcAft>
                <a:spcPts val="901"/>
              </a:spcAft>
              <a:buNone/>
            </a:pPr>
            <a:r>
              <a:rPr b="0" lang="en-US" sz="1600" spc="-1" strike="noStrike">
                <a:solidFill>
                  <a:srgbClr val="1b0532"/>
                </a:solidFill>
                <a:latin typeface="Arial"/>
                <a:ea typeface="DejaVu Sans"/>
              </a:rPr>
              <a:t>▸  </a:t>
            </a:r>
            <a:r>
              <a:rPr b="0" lang="en-US" sz="1600" spc="-1" strike="noStrike">
                <a:solidFill>
                  <a:srgbClr val="1b0532"/>
                </a:solidFill>
                <a:latin typeface="Arial"/>
                <a:ea typeface="DejaVu Sans"/>
              </a:rPr>
              <a:t>parafrazowanie przykładów</a:t>
            </a:r>
            <a:endParaRPr b="0" lang="pl-PL" sz="16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901"/>
              </a:spcAft>
              <a:buNone/>
            </a:pPr>
            <a:r>
              <a:rPr b="0" lang="en-US" sz="1600" spc="-1" strike="noStrike">
                <a:solidFill>
                  <a:srgbClr val="1b0532"/>
                </a:solidFill>
                <a:latin typeface="Arial"/>
                <a:ea typeface="DejaVu Sans"/>
              </a:rPr>
              <a:t>▸  </a:t>
            </a:r>
            <a:r>
              <a:rPr b="0" lang="en-US" sz="1600" spc="-1" strike="noStrike">
                <a:solidFill>
                  <a:srgbClr val="1b0532"/>
                </a:solidFill>
                <a:latin typeface="Arial"/>
                <a:ea typeface="DejaVu Sans"/>
              </a:rPr>
              <a:t>zmiana stylu / długości wypowiedzi</a:t>
            </a:r>
            <a:endParaRPr b="0" lang="pl-PL" sz="16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901"/>
              </a:spcAft>
              <a:buNone/>
            </a:pPr>
            <a:r>
              <a:rPr b="0" lang="en-US" sz="1600" spc="-1" strike="noStrike">
                <a:solidFill>
                  <a:srgbClr val="1b0532"/>
                </a:solidFill>
                <a:latin typeface="Arial"/>
                <a:ea typeface="DejaVu Sans"/>
              </a:rPr>
              <a:t>▸  </a:t>
            </a:r>
            <a:r>
              <a:rPr b="0" lang="en-US" sz="1600" spc="-1" strike="noStrike">
                <a:solidFill>
                  <a:srgbClr val="1b0532"/>
                </a:solidFill>
                <a:latin typeface="Arial"/>
                <a:ea typeface="DejaVu Sans"/>
              </a:rPr>
              <a:t>warianty formalne i nieformalne</a:t>
            </a:r>
            <a:endParaRPr b="0" lang="pl-PL" sz="16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901"/>
              </a:spcAft>
              <a:buNone/>
            </a:pPr>
            <a:r>
              <a:rPr b="0" lang="en-US" sz="1600" spc="-1" strike="noStrike">
                <a:solidFill>
                  <a:srgbClr val="1b0532"/>
                </a:solidFill>
                <a:latin typeface="Arial"/>
                <a:ea typeface="DejaVu Sans"/>
              </a:rPr>
              <a:t>▸  </a:t>
            </a:r>
            <a:r>
              <a:rPr b="0" lang="en-US" sz="1600" spc="-1" strike="noStrike">
                <a:solidFill>
                  <a:srgbClr val="1b0532"/>
                </a:solidFill>
                <a:latin typeface="Arial"/>
                <a:ea typeface="DejaVu Sans"/>
              </a:rPr>
              <a:t>literówki, slang, język potoczny</a:t>
            </a:r>
            <a:endParaRPr b="0" lang="pl-PL" sz="16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901"/>
              </a:spcAft>
              <a:buNone/>
            </a:pPr>
            <a:r>
              <a:rPr b="0" lang="en-US" sz="1600" spc="-1" strike="noStrike">
                <a:solidFill>
                  <a:srgbClr val="1b0532"/>
                </a:solidFill>
                <a:latin typeface="Arial"/>
                <a:ea typeface="DejaVu Sans"/>
              </a:rPr>
              <a:t>▸  </a:t>
            </a:r>
            <a:r>
              <a:rPr b="0" lang="en-US" sz="1600" spc="-1" strike="noStrike">
                <a:solidFill>
                  <a:srgbClr val="1b0532"/>
                </a:solidFill>
                <a:latin typeface="Arial"/>
                <a:ea typeface="DejaVu Sans"/>
              </a:rPr>
              <a:t>przykłady rzadkie i graniczne</a:t>
            </a:r>
            <a:endParaRPr b="0" lang="pl-PL" sz="1600" spc="-1" strike="noStrike">
              <a:latin typeface="Arial"/>
            </a:endParaRPr>
          </a:p>
        </p:txBody>
      </p:sp>
      <p:sp>
        <p:nvSpPr>
          <p:cNvPr id="125" name="Rounded Rectangle 11"/>
          <p:cNvSpPr/>
          <p:nvPr/>
        </p:nvSpPr>
        <p:spPr>
          <a:xfrm>
            <a:off x="768240" y="5074920"/>
            <a:ext cx="10650960" cy="866880"/>
          </a:xfrm>
          <a:prstGeom prst="roundRect">
            <a:avLst>
              <a:gd name="adj" fmla="val 16667"/>
            </a:avLst>
          </a:prstGeom>
          <a:solidFill>
            <a:srgbClr val="f2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6" name="Rectangle 12"/>
          <p:cNvSpPr/>
          <p:nvPr/>
        </p:nvSpPr>
        <p:spPr>
          <a:xfrm>
            <a:off x="768240" y="5074920"/>
            <a:ext cx="48960" cy="866880"/>
          </a:xfrm>
          <a:prstGeom prst="rect">
            <a:avLst/>
          </a:prstGeom>
          <a:solidFill>
            <a:srgbClr val="00be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7" name="TextBox 13"/>
          <p:cNvSpPr/>
          <p:nvPr/>
        </p:nvSpPr>
        <p:spPr>
          <a:xfrm>
            <a:off x="1024200" y="5311440"/>
            <a:ext cx="10193760" cy="43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5000"/>
              </a:lnSpc>
              <a:buNone/>
            </a:pPr>
            <a:r>
              <a:rPr b="1" lang="en-US" sz="1400" spc="-1" strike="noStrike">
                <a:solidFill>
                  <a:srgbClr val="1b0532"/>
                </a:solidFill>
                <a:latin typeface="Arial"/>
                <a:ea typeface="DejaVu Sans"/>
              </a:rPr>
              <a:t>▸  </a:t>
            </a:r>
            <a:r>
              <a:rPr b="1" lang="en-US" sz="1400" spc="-1" strike="noStrike">
                <a:solidFill>
                  <a:srgbClr val="1b0532"/>
                </a:solidFill>
                <a:latin typeface="Arial"/>
                <a:ea typeface="DejaVu Sans"/>
              </a:rPr>
              <a:t>Przykład (etykieta zachowana)</a:t>
            </a:r>
            <a:endParaRPr b="0" lang="pl-PL" sz="14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US" sz="1300" spc="-1" strike="noStrike">
                <a:solidFill>
                  <a:srgbClr val="6b6478"/>
                </a:solidFill>
                <a:latin typeface="Arial"/>
                <a:ea typeface="DejaVu Sans"/>
              </a:rPr>
              <a:t>„</a:t>
            </a:r>
            <a:r>
              <a:rPr b="0" lang="en-US" sz="1300" spc="-1" strike="noStrike">
                <a:solidFill>
                  <a:srgbClr val="6b6478"/>
                </a:solidFill>
                <a:latin typeface="Arial"/>
                <a:ea typeface="DejaVu Sans"/>
              </a:rPr>
              <a:t>Chcę zwrócić produkt…” [zwrot]  →  „Jak odesłać towar?” · „Czy da się zrobić zwrot?” — wszystkie warianty pozostają w tej samej klasie.</a:t>
            </a:r>
            <a:endParaRPr b="0" lang="pl-PL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Box 1"/>
          <p:cNvSpPr/>
          <p:nvPr/>
        </p:nvSpPr>
        <p:spPr>
          <a:xfrm>
            <a:off x="768240" y="420480"/>
            <a:ext cx="1060524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900" spc="-1" strike="noStrike">
                <a:solidFill>
                  <a:srgbClr val="1b0532"/>
                </a:solidFill>
                <a:latin typeface="Play"/>
                <a:ea typeface="DejaVu Sans"/>
              </a:rPr>
              <a:t>Które dane warto augmentować?</a:t>
            </a:r>
            <a:endParaRPr b="0" lang="pl-PL" sz="2900" spc="-1" strike="noStrike">
              <a:latin typeface="Arial"/>
            </a:endParaRPr>
          </a:p>
        </p:txBody>
      </p:sp>
      <p:sp>
        <p:nvSpPr>
          <p:cNvPr id="129" name="Rectangle 2"/>
          <p:cNvSpPr/>
          <p:nvPr/>
        </p:nvSpPr>
        <p:spPr>
          <a:xfrm>
            <a:off x="768240" y="1170360"/>
            <a:ext cx="1369800" cy="42480"/>
          </a:xfrm>
          <a:prstGeom prst="rect">
            <a:avLst/>
          </a:prstGeom>
          <a:solidFill>
            <a:srgbClr val="00be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0" name="TextBox 3"/>
          <p:cNvSpPr/>
          <p:nvPr/>
        </p:nvSpPr>
        <p:spPr>
          <a:xfrm>
            <a:off x="768240" y="1298520"/>
            <a:ext cx="106052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1500" spc="-1" strike="noStrike">
                <a:solidFill>
                  <a:srgbClr val="6b6478"/>
                </a:solidFill>
                <a:latin typeface="Arial"/>
                <a:ea typeface="DejaVu Sans"/>
              </a:rPr>
              <a:t>Nie zawsze cały zbiór po równo (przykład clarin-pl/twitteremo → sample 5k)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31" name="Rectangle 4"/>
          <p:cNvSpPr/>
          <p:nvPr/>
        </p:nvSpPr>
        <p:spPr>
          <a:xfrm>
            <a:off x="0" y="6437520"/>
            <a:ext cx="12189960" cy="13320"/>
          </a:xfrm>
          <a:prstGeom prst="rect">
            <a:avLst/>
          </a:prstGeom>
          <a:solidFill>
            <a:srgbClr val="f2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2" name="TextBox 5"/>
          <p:cNvSpPr/>
          <p:nvPr/>
        </p:nvSpPr>
        <p:spPr>
          <a:xfrm>
            <a:off x="768240" y="6473880"/>
            <a:ext cx="82278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b6478"/>
                </a:solidFill>
                <a:latin typeface="Arial"/>
                <a:ea typeface="DejaVu Sans"/>
              </a:rPr>
              <a:t>DSS 2026 AI Edition  ·  Teoria · Active Learning</a:t>
            </a:r>
            <a:endParaRPr b="0" lang="pl-PL" sz="900" spc="-1" strike="noStrike">
              <a:latin typeface="Arial"/>
            </a:endParaRPr>
          </a:p>
        </p:txBody>
      </p:sp>
      <p:sp>
        <p:nvSpPr>
          <p:cNvPr id="133" name="TextBox 6"/>
          <p:cNvSpPr/>
          <p:nvPr/>
        </p:nvSpPr>
        <p:spPr>
          <a:xfrm>
            <a:off x="10607040" y="6473880"/>
            <a:ext cx="8211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b6478"/>
                </a:solidFill>
                <a:latin typeface="Arial"/>
                <a:ea typeface="DejaVu Sans"/>
              </a:rPr>
              <a:t>9</a:t>
            </a:r>
            <a:endParaRPr b="0" lang="pl-PL" sz="900" spc="-1" strike="noStrike">
              <a:latin typeface="Arial"/>
            </a:endParaRPr>
          </a:p>
        </p:txBody>
      </p:sp>
      <p:sp>
        <p:nvSpPr>
          <p:cNvPr id="134" name="TextBox 7"/>
          <p:cNvSpPr/>
          <p:nvPr/>
        </p:nvSpPr>
        <p:spPr>
          <a:xfrm>
            <a:off x="768240" y="1828800"/>
            <a:ext cx="5393160" cy="169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5000"/>
              </a:lnSpc>
              <a:spcAft>
                <a:spcPts val="799"/>
              </a:spcAft>
              <a:buNone/>
            </a:pPr>
            <a:r>
              <a:rPr b="0" lang="en-US" sz="1500" spc="-1" strike="noStrike">
                <a:solidFill>
                  <a:srgbClr val="1b0532"/>
                </a:solidFill>
                <a:latin typeface="Arial"/>
                <a:ea typeface="DejaVu Sans"/>
              </a:rPr>
              <a:t>▸  </a:t>
            </a:r>
            <a:r>
              <a:rPr b="0" lang="en-US" sz="1500" spc="-1" strike="noStrike">
                <a:solidFill>
                  <a:srgbClr val="1b0532"/>
                </a:solidFill>
                <a:latin typeface="Arial"/>
                <a:ea typeface="DejaVu Sans"/>
              </a:rPr>
              <a:t>klasy o najgorszych wynikach modelu</a:t>
            </a:r>
            <a:endParaRPr b="0" lang="pl-PL" sz="15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799"/>
              </a:spcAft>
              <a:buNone/>
            </a:pPr>
            <a:r>
              <a:rPr b="0" lang="en-US" sz="1500" spc="-1" strike="noStrike">
                <a:solidFill>
                  <a:srgbClr val="1b0532"/>
                </a:solidFill>
                <a:latin typeface="Arial"/>
                <a:ea typeface="DejaVu Sans"/>
              </a:rPr>
              <a:t>▸  </a:t>
            </a:r>
            <a:r>
              <a:rPr b="0" lang="en-US" sz="1500" spc="-1" strike="noStrike">
                <a:solidFill>
                  <a:srgbClr val="1b0532"/>
                </a:solidFill>
                <a:latin typeface="Arial"/>
                <a:ea typeface="DejaVu Sans"/>
              </a:rPr>
              <a:t>przykłady z pogranicza kilku klas</a:t>
            </a:r>
            <a:endParaRPr b="0" lang="pl-PL" sz="15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799"/>
              </a:spcAft>
              <a:buNone/>
            </a:pPr>
            <a:r>
              <a:rPr b="0" lang="en-US" sz="1500" spc="-1" strike="noStrike">
                <a:solidFill>
                  <a:srgbClr val="1b0532"/>
                </a:solidFill>
                <a:latin typeface="Arial"/>
                <a:ea typeface="DejaVu Sans"/>
              </a:rPr>
              <a:t>▸  </a:t>
            </a:r>
            <a:r>
              <a:rPr b="0" lang="en-US" sz="1500" spc="-1" strike="noStrike">
                <a:solidFill>
                  <a:srgbClr val="1b0532"/>
                </a:solidFill>
                <a:latin typeface="Arial"/>
                <a:ea typeface="DejaVu Sans"/>
              </a:rPr>
              <a:t>przypadki ważne biznesowo (wskazane przez człowieka)</a:t>
            </a:r>
            <a:endParaRPr b="0" lang="pl-PL" sz="15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799"/>
              </a:spcAft>
              <a:buNone/>
            </a:pPr>
            <a:r>
              <a:rPr b="0" lang="en-US" sz="1500" spc="-1" strike="noStrike">
                <a:solidFill>
                  <a:srgbClr val="1b0532"/>
                </a:solidFill>
                <a:latin typeface="Arial"/>
                <a:ea typeface="DejaVu Sans"/>
              </a:rPr>
              <a:t>▸  </a:t>
            </a:r>
            <a:r>
              <a:rPr b="0" lang="en-US" sz="1500" spc="-1" strike="noStrike">
                <a:solidFill>
                  <a:srgbClr val="1b0532"/>
                </a:solidFill>
                <a:latin typeface="Arial"/>
                <a:ea typeface="DejaVu Sans"/>
              </a:rPr>
              <a:t>przykłady o niskiej pewności modelu</a:t>
            </a:r>
            <a:endParaRPr b="0" lang="pl-PL" sz="15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799"/>
              </a:spcAft>
              <a:buNone/>
            </a:pPr>
            <a:r>
              <a:rPr b="0" lang="en-US" sz="1500" spc="-1" strike="noStrike">
                <a:solidFill>
                  <a:srgbClr val="1b0532"/>
                </a:solidFill>
                <a:latin typeface="Arial"/>
                <a:ea typeface="DejaVu Sans"/>
              </a:rPr>
              <a:t>▸  </a:t>
            </a:r>
            <a:r>
              <a:rPr b="0" lang="en-US" sz="1500" spc="-1" strike="noStrike">
                <a:solidFill>
                  <a:srgbClr val="1b0532"/>
                </a:solidFill>
                <a:latin typeface="Arial"/>
                <a:ea typeface="DejaVu Sans"/>
              </a:rPr>
              <a:t>nietypowe warianty językowe, slang, błędy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35" name="TextBox 8"/>
          <p:cNvSpPr/>
          <p:nvPr/>
        </p:nvSpPr>
        <p:spPr>
          <a:xfrm>
            <a:off x="6400800" y="1737360"/>
            <a:ext cx="502740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1b0532"/>
                </a:solidFill>
                <a:latin typeface="Arial"/>
                <a:ea typeface="DejaVu Sans"/>
              </a:rPr>
              <a:t>Proces kontrolowany:</a:t>
            </a:r>
            <a:endParaRPr b="0" lang="pl-PL" sz="1400" spc="-1" strike="noStrike">
              <a:latin typeface="Arial"/>
            </a:endParaRPr>
          </a:p>
        </p:txBody>
      </p:sp>
      <p:sp>
        <p:nvSpPr>
          <p:cNvPr id="136" name="Rounded Rectangle 9"/>
          <p:cNvSpPr/>
          <p:nvPr/>
        </p:nvSpPr>
        <p:spPr>
          <a:xfrm>
            <a:off x="6400800" y="2076840"/>
            <a:ext cx="5027400" cy="1794960"/>
          </a:xfrm>
          <a:prstGeom prst="roundRect">
            <a:avLst>
              <a:gd name="adj" fmla="val 16667"/>
            </a:avLst>
          </a:prstGeom>
          <a:solidFill>
            <a:srgbClr val="110a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7" name="TextBox 10"/>
          <p:cNvSpPr/>
          <p:nvPr/>
        </p:nvSpPr>
        <p:spPr>
          <a:xfrm>
            <a:off x="7096320" y="2231280"/>
            <a:ext cx="3636000" cy="14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50" spc="-1" strike="noStrike">
                <a:solidFill>
                  <a:srgbClr val="e8e6f0"/>
                </a:solidFill>
                <a:latin typeface="Consolas"/>
                <a:ea typeface="DejaVu Sans"/>
              </a:rPr>
              <a:t>1. Trenuj prosty klasyfikator</a:t>
            </a:r>
            <a:endParaRPr b="0" lang="pl-PL" sz="12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50" spc="-1" strike="noStrike">
                <a:solidFill>
                  <a:srgbClr val="e8e6f0"/>
                </a:solidFill>
                <a:latin typeface="Consolas"/>
                <a:ea typeface="DejaVu Sans"/>
              </a:rPr>
              <a:t>2. Sprawdź, gdzie się myli</a:t>
            </a:r>
            <a:endParaRPr b="0" lang="pl-PL" sz="12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50" spc="-1" strike="noStrike">
                <a:solidFill>
                  <a:srgbClr val="e8e6f0"/>
                </a:solidFill>
                <a:latin typeface="Consolas"/>
                <a:ea typeface="DejaVu Sans"/>
              </a:rPr>
              <a:t>3. Zidentyfikuj klasy problematyczne</a:t>
            </a:r>
            <a:endParaRPr b="0" lang="pl-PL" sz="12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50" spc="-1" strike="noStrike">
                <a:solidFill>
                  <a:srgbClr val="e8e6f0"/>
                </a:solidFill>
                <a:latin typeface="Consolas"/>
                <a:ea typeface="DejaVu Sans"/>
              </a:rPr>
              <a:t>4. Wygeneruj przykłady (LLM)</a:t>
            </a:r>
            <a:endParaRPr b="0" lang="pl-PL" sz="12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50" spc="-1" strike="noStrike">
                <a:solidFill>
                  <a:srgbClr val="e8e6f0"/>
                </a:solidFill>
                <a:latin typeface="Consolas"/>
                <a:ea typeface="DejaVu Sans"/>
              </a:rPr>
              <a:t>5. Walidacja (człowiek / reguły)</a:t>
            </a:r>
            <a:endParaRPr b="0" lang="pl-PL" sz="12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50" spc="-1" strike="noStrike">
                <a:solidFill>
                  <a:srgbClr val="e8e6f0"/>
                </a:solidFill>
                <a:latin typeface="Consolas"/>
                <a:ea typeface="DejaVu Sans"/>
              </a:rPr>
              <a:t>6. Trenuj ponownie</a:t>
            </a:r>
            <a:endParaRPr b="0" lang="pl-PL" sz="12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50" spc="-1" strike="noStrike">
                <a:solidFill>
                  <a:srgbClr val="e8e6f0"/>
                </a:solidFill>
                <a:latin typeface="Consolas"/>
                <a:ea typeface="DejaVu Sans"/>
              </a:rPr>
              <a:t>7. Porównaj wyniki</a:t>
            </a:r>
            <a:endParaRPr b="0" lang="pl-PL" sz="1250" spc="-1" strike="noStrike"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5328000" y="5112720"/>
            <a:ext cx="1151280" cy="215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5400"/>
                </a:moveTo>
                <a:lnTo>
                  <a:pt x="16200" y="5400"/>
                </a:ln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16200" y="16200"/>
                </a:lnTo>
                <a:lnTo>
                  <a:pt x="0" y="16200"/>
                </a:lnTo>
                <a:lnTo>
                  <a:pt x="2700" y="10800"/>
                </a:lnTo>
                <a:lnTo>
                  <a:pt x="0" y="540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pic>
        <p:nvPicPr>
          <p:cNvPr id="139" name="" descr=""/>
          <p:cNvPicPr/>
          <p:nvPr/>
        </p:nvPicPr>
        <p:blipFill>
          <a:blip r:embed="rId1"/>
          <a:stretch/>
        </p:blipFill>
        <p:spPr>
          <a:xfrm>
            <a:off x="1152000" y="4005000"/>
            <a:ext cx="3816000" cy="2384640"/>
          </a:xfrm>
          <a:prstGeom prst="rect">
            <a:avLst/>
          </a:prstGeom>
          <a:ln w="0">
            <a:noFill/>
          </a:ln>
        </p:spPr>
      </p:pic>
      <p:pic>
        <p:nvPicPr>
          <p:cNvPr id="140" name="" descr=""/>
          <p:cNvPicPr/>
          <p:nvPr/>
        </p:nvPicPr>
        <p:blipFill>
          <a:blip r:embed="rId2"/>
          <a:stretch/>
        </p:blipFill>
        <p:spPr>
          <a:xfrm>
            <a:off x="6984000" y="4023000"/>
            <a:ext cx="3816000" cy="2385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Box 1"/>
          <p:cNvSpPr/>
          <p:nvPr/>
        </p:nvSpPr>
        <p:spPr>
          <a:xfrm>
            <a:off x="768240" y="420480"/>
            <a:ext cx="1060524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900" spc="-1" strike="noStrike">
                <a:solidFill>
                  <a:srgbClr val="1b0532"/>
                </a:solidFill>
                <a:latin typeface="Play"/>
                <a:ea typeface="DejaVu Sans"/>
              </a:rPr>
              <a:t>Klasyfikacja vs generowanie</a:t>
            </a:r>
            <a:endParaRPr b="0" lang="pl-PL" sz="2900" spc="-1" strike="noStrike">
              <a:latin typeface="Arial"/>
            </a:endParaRPr>
          </a:p>
        </p:txBody>
      </p:sp>
      <p:sp>
        <p:nvSpPr>
          <p:cNvPr id="142" name="Rectangle 2"/>
          <p:cNvSpPr/>
          <p:nvPr/>
        </p:nvSpPr>
        <p:spPr>
          <a:xfrm>
            <a:off x="768240" y="1170360"/>
            <a:ext cx="1369800" cy="42480"/>
          </a:xfrm>
          <a:prstGeom prst="rect">
            <a:avLst/>
          </a:prstGeom>
          <a:solidFill>
            <a:srgbClr val="00be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3" name="Rectangle 3"/>
          <p:cNvSpPr/>
          <p:nvPr/>
        </p:nvSpPr>
        <p:spPr>
          <a:xfrm>
            <a:off x="0" y="6437520"/>
            <a:ext cx="12189960" cy="13320"/>
          </a:xfrm>
          <a:prstGeom prst="rect">
            <a:avLst/>
          </a:prstGeom>
          <a:solidFill>
            <a:srgbClr val="f2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4" name="TextBox 4"/>
          <p:cNvSpPr/>
          <p:nvPr/>
        </p:nvSpPr>
        <p:spPr>
          <a:xfrm>
            <a:off x="768240" y="6473880"/>
            <a:ext cx="82278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b6478"/>
                </a:solidFill>
                <a:latin typeface="Arial"/>
                <a:ea typeface="DejaVu Sans"/>
              </a:rPr>
              <a:t>DSS 2026 AI Edition  ·  Teoria · Modele</a:t>
            </a:r>
            <a:endParaRPr b="0" lang="pl-PL" sz="900" spc="-1" strike="noStrike">
              <a:latin typeface="Arial"/>
            </a:endParaRPr>
          </a:p>
        </p:txBody>
      </p:sp>
      <p:sp>
        <p:nvSpPr>
          <p:cNvPr id="145" name="TextBox 5"/>
          <p:cNvSpPr/>
          <p:nvPr/>
        </p:nvSpPr>
        <p:spPr>
          <a:xfrm>
            <a:off x="10607040" y="6473880"/>
            <a:ext cx="8211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b6478"/>
                </a:solidFill>
                <a:latin typeface="Arial"/>
                <a:ea typeface="DejaVu Sans"/>
              </a:rPr>
              <a:t>7</a:t>
            </a:r>
            <a:endParaRPr b="0" lang="pl-PL" sz="900" spc="-1" strike="noStrike">
              <a:latin typeface="Arial"/>
            </a:endParaRPr>
          </a:p>
        </p:txBody>
      </p:sp>
      <p:sp>
        <p:nvSpPr>
          <p:cNvPr id="146" name="Rounded Rectangle 6"/>
          <p:cNvSpPr/>
          <p:nvPr/>
        </p:nvSpPr>
        <p:spPr>
          <a:xfrm>
            <a:off x="768240" y="1417320"/>
            <a:ext cx="5256000" cy="3564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00be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7" name="Rounded Rectangle 7"/>
          <p:cNvSpPr/>
          <p:nvPr/>
        </p:nvSpPr>
        <p:spPr>
          <a:xfrm>
            <a:off x="768240" y="1417320"/>
            <a:ext cx="5256000" cy="546840"/>
          </a:xfrm>
          <a:prstGeom prst="roundRect">
            <a:avLst>
              <a:gd name="adj" fmla="val 16667"/>
            </a:avLst>
          </a:prstGeom>
          <a:solidFill>
            <a:srgbClr val="0427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8" name="TextBox 8"/>
          <p:cNvSpPr/>
          <p:nvPr/>
        </p:nvSpPr>
        <p:spPr>
          <a:xfrm>
            <a:off x="768240" y="1472040"/>
            <a:ext cx="5256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00befe"/>
                </a:solidFill>
                <a:latin typeface="Arial"/>
                <a:ea typeface="DejaVu Sans"/>
              </a:rPr>
              <a:t>MODEL KLASYFIKACYJNY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49" name="TextBox 9"/>
          <p:cNvSpPr/>
          <p:nvPr/>
        </p:nvSpPr>
        <p:spPr>
          <a:xfrm>
            <a:off x="996840" y="2148840"/>
            <a:ext cx="14155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8b19fe"/>
                </a:solidFill>
                <a:latin typeface="Arial"/>
                <a:ea typeface="DejaVu Sans"/>
              </a:rPr>
              <a:t>Wejście</a:t>
            </a:r>
            <a:endParaRPr b="0" lang="pl-PL" sz="1200" spc="-1" strike="noStrike">
              <a:latin typeface="Arial"/>
            </a:endParaRPr>
          </a:p>
        </p:txBody>
      </p:sp>
      <p:sp>
        <p:nvSpPr>
          <p:cNvPr id="150" name="TextBox 10"/>
          <p:cNvSpPr/>
          <p:nvPr/>
        </p:nvSpPr>
        <p:spPr>
          <a:xfrm>
            <a:off x="2368440" y="2148840"/>
            <a:ext cx="3472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50" spc="-1" strike="noStrike">
                <a:solidFill>
                  <a:srgbClr val="1b0532"/>
                </a:solidFill>
                <a:latin typeface="Arial"/>
                <a:ea typeface="DejaVu Sans"/>
              </a:rPr>
              <a:t>„</a:t>
            </a:r>
            <a:r>
              <a:rPr b="0" lang="en-US" sz="1250" spc="-1" strike="noStrike">
                <a:solidFill>
                  <a:srgbClr val="1b0532"/>
                </a:solidFill>
                <a:latin typeface="Arial"/>
                <a:ea typeface="DejaVu Sans"/>
              </a:rPr>
              <a:t>Nie mogę zalogować się do konta”</a:t>
            </a:r>
            <a:endParaRPr b="0" lang="pl-PL" sz="1250" spc="-1" strike="noStrike">
              <a:latin typeface="Arial"/>
            </a:endParaRPr>
          </a:p>
        </p:txBody>
      </p:sp>
      <p:sp>
        <p:nvSpPr>
          <p:cNvPr id="151" name="TextBox 11"/>
          <p:cNvSpPr/>
          <p:nvPr/>
        </p:nvSpPr>
        <p:spPr>
          <a:xfrm>
            <a:off x="996840" y="2679120"/>
            <a:ext cx="14155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8b19fe"/>
                </a:solidFill>
                <a:latin typeface="Arial"/>
                <a:ea typeface="DejaVu Sans"/>
              </a:rPr>
              <a:t>Wyjście</a:t>
            </a:r>
            <a:endParaRPr b="0" lang="pl-PL" sz="1200" spc="-1" strike="noStrike">
              <a:latin typeface="Arial"/>
            </a:endParaRPr>
          </a:p>
        </p:txBody>
      </p:sp>
      <p:sp>
        <p:nvSpPr>
          <p:cNvPr id="152" name="TextBox 12"/>
          <p:cNvSpPr/>
          <p:nvPr/>
        </p:nvSpPr>
        <p:spPr>
          <a:xfrm>
            <a:off x="2368440" y="2679120"/>
            <a:ext cx="3472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50" spc="-1" strike="noStrike">
                <a:solidFill>
                  <a:srgbClr val="1b0532"/>
                </a:solidFill>
                <a:latin typeface="Arial"/>
                <a:ea typeface="DejaVu Sans"/>
              </a:rPr>
              <a:t>klasa: problem_logowania</a:t>
            </a:r>
            <a:endParaRPr b="0" lang="pl-PL" sz="1250" spc="-1" strike="noStrike">
              <a:latin typeface="Arial"/>
            </a:endParaRPr>
          </a:p>
        </p:txBody>
      </p:sp>
      <p:sp>
        <p:nvSpPr>
          <p:cNvPr id="153" name="TextBox 13"/>
          <p:cNvSpPr/>
          <p:nvPr/>
        </p:nvSpPr>
        <p:spPr>
          <a:xfrm>
            <a:off x="996840" y="3209400"/>
            <a:ext cx="14155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8b19fe"/>
                </a:solidFill>
                <a:latin typeface="Arial"/>
                <a:ea typeface="DejaVu Sans"/>
              </a:rPr>
              <a:t>Dodatkowo</a:t>
            </a:r>
            <a:endParaRPr b="0" lang="pl-PL" sz="1200" spc="-1" strike="noStrike">
              <a:latin typeface="Arial"/>
            </a:endParaRPr>
          </a:p>
        </p:txBody>
      </p:sp>
      <p:sp>
        <p:nvSpPr>
          <p:cNvPr id="154" name="TextBox 14"/>
          <p:cNvSpPr/>
          <p:nvPr/>
        </p:nvSpPr>
        <p:spPr>
          <a:xfrm>
            <a:off x="2368440" y="3209400"/>
            <a:ext cx="3472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50" spc="-1" strike="noStrike">
                <a:solidFill>
                  <a:srgbClr val="1b0532"/>
                </a:solidFill>
                <a:latin typeface="Arial"/>
                <a:ea typeface="DejaVu Sans"/>
              </a:rPr>
              <a:t>prawdopodobieństwa klas + thresholdy</a:t>
            </a:r>
            <a:endParaRPr b="0" lang="pl-PL" sz="1250" spc="-1" strike="noStrike">
              <a:latin typeface="Arial"/>
            </a:endParaRPr>
          </a:p>
        </p:txBody>
      </p:sp>
      <p:sp>
        <p:nvSpPr>
          <p:cNvPr id="155" name="TextBox 15"/>
          <p:cNvSpPr/>
          <p:nvPr/>
        </p:nvSpPr>
        <p:spPr>
          <a:xfrm>
            <a:off x="996840" y="3740040"/>
            <a:ext cx="14155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8b19fe"/>
                </a:solidFill>
                <a:latin typeface="Arial"/>
                <a:ea typeface="DejaVu Sans"/>
              </a:rPr>
              <a:t>Pytanie</a:t>
            </a:r>
            <a:endParaRPr b="0" lang="pl-PL" sz="1200" spc="-1" strike="noStrike">
              <a:latin typeface="Arial"/>
            </a:endParaRPr>
          </a:p>
        </p:txBody>
      </p:sp>
      <p:sp>
        <p:nvSpPr>
          <p:cNvPr id="156" name="TextBox 16"/>
          <p:cNvSpPr/>
          <p:nvPr/>
        </p:nvSpPr>
        <p:spPr>
          <a:xfrm>
            <a:off x="2368440" y="3740040"/>
            <a:ext cx="3472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50" spc="-1" strike="noStrike">
                <a:solidFill>
                  <a:srgbClr val="1b0532"/>
                </a:solidFill>
                <a:latin typeface="Arial"/>
                <a:ea typeface="DejaVu Sans"/>
              </a:rPr>
              <a:t>Do której kategorii należy przykład?</a:t>
            </a:r>
            <a:endParaRPr b="0" lang="pl-PL" sz="1250" spc="-1" strike="noStrike">
              <a:latin typeface="Arial"/>
            </a:endParaRPr>
          </a:p>
        </p:txBody>
      </p:sp>
      <p:sp>
        <p:nvSpPr>
          <p:cNvPr id="157" name="TextBox 17"/>
          <p:cNvSpPr/>
          <p:nvPr/>
        </p:nvSpPr>
        <p:spPr>
          <a:xfrm>
            <a:off x="996840" y="4270320"/>
            <a:ext cx="14155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8b19fe"/>
                </a:solidFill>
                <a:latin typeface="Arial"/>
                <a:ea typeface="DejaVu Sans"/>
              </a:rPr>
              <a:t>Zalety</a:t>
            </a:r>
            <a:endParaRPr b="0" lang="pl-PL" sz="1200" spc="-1" strike="noStrike">
              <a:latin typeface="Arial"/>
            </a:endParaRPr>
          </a:p>
        </p:txBody>
      </p:sp>
      <p:sp>
        <p:nvSpPr>
          <p:cNvPr id="158" name="TextBox 18"/>
          <p:cNvSpPr/>
          <p:nvPr/>
        </p:nvSpPr>
        <p:spPr>
          <a:xfrm>
            <a:off x="2368440" y="4270320"/>
            <a:ext cx="3472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50" spc="-1" strike="noStrike">
                <a:solidFill>
                  <a:srgbClr val="1b0532"/>
                </a:solidFill>
                <a:latin typeface="Arial"/>
                <a:ea typeface="DejaVu Sans"/>
              </a:rPr>
              <a:t>szybki, tani, łatwy do wdrożenia</a:t>
            </a:r>
            <a:endParaRPr b="0" lang="pl-PL" sz="1250" spc="-1" strike="noStrike">
              <a:latin typeface="Arial"/>
            </a:endParaRPr>
          </a:p>
        </p:txBody>
      </p:sp>
      <p:sp>
        <p:nvSpPr>
          <p:cNvPr id="159" name="Rounded Rectangle 19"/>
          <p:cNvSpPr/>
          <p:nvPr/>
        </p:nvSpPr>
        <p:spPr>
          <a:xfrm>
            <a:off x="6400800" y="1417320"/>
            <a:ext cx="5256000" cy="3564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8b19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0" name="Rounded Rectangle 20"/>
          <p:cNvSpPr/>
          <p:nvPr/>
        </p:nvSpPr>
        <p:spPr>
          <a:xfrm>
            <a:off x="6400800" y="1417320"/>
            <a:ext cx="5256000" cy="546840"/>
          </a:xfrm>
          <a:prstGeom prst="roundRect">
            <a:avLst>
              <a:gd name="adj" fmla="val 16667"/>
            </a:avLst>
          </a:prstGeom>
          <a:solidFill>
            <a:srgbClr val="0427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1" name="TextBox 21"/>
          <p:cNvSpPr/>
          <p:nvPr/>
        </p:nvSpPr>
        <p:spPr>
          <a:xfrm>
            <a:off x="6400800" y="1472040"/>
            <a:ext cx="5256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00befe"/>
                </a:solidFill>
                <a:latin typeface="Arial"/>
                <a:ea typeface="DejaVu Sans"/>
              </a:rPr>
              <a:t>MODEL GENERATYWNY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62" name="TextBox 22"/>
          <p:cNvSpPr/>
          <p:nvPr/>
        </p:nvSpPr>
        <p:spPr>
          <a:xfrm>
            <a:off x="6629400" y="2148840"/>
            <a:ext cx="14155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8b19fe"/>
                </a:solidFill>
                <a:latin typeface="Arial"/>
                <a:ea typeface="DejaVu Sans"/>
              </a:rPr>
              <a:t>Wejście</a:t>
            </a:r>
            <a:endParaRPr b="0" lang="pl-PL" sz="1200" spc="-1" strike="noStrike">
              <a:latin typeface="Arial"/>
            </a:endParaRPr>
          </a:p>
        </p:txBody>
      </p:sp>
      <p:sp>
        <p:nvSpPr>
          <p:cNvPr id="163" name="TextBox 23"/>
          <p:cNvSpPr/>
          <p:nvPr/>
        </p:nvSpPr>
        <p:spPr>
          <a:xfrm>
            <a:off x="8001000" y="2148840"/>
            <a:ext cx="3472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50" spc="-1" strike="noStrike">
                <a:solidFill>
                  <a:srgbClr val="1b0532"/>
                </a:solidFill>
                <a:latin typeface="Arial"/>
                <a:ea typeface="DejaVu Sans"/>
              </a:rPr>
              <a:t>prompt: „Wygeneruj alternatywy zdania”</a:t>
            </a:r>
            <a:endParaRPr b="0" lang="pl-PL" sz="1250" spc="-1" strike="noStrike">
              <a:latin typeface="Arial"/>
            </a:endParaRPr>
          </a:p>
        </p:txBody>
      </p:sp>
      <p:sp>
        <p:nvSpPr>
          <p:cNvPr id="164" name="TextBox 24"/>
          <p:cNvSpPr/>
          <p:nvPr/>
        </p:nvSpPr>
        <p:spPr>
          <a:xfrm>
            <a:off x="6629400" y="2679120"/>
            <a:ext cx="14155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8b19fe"/>
                </a:solidFill>
                <a:latin typeface="Arial"/>
                <a:ea typeface="DejaVu Sans"/>
              </a:rPr>
              <a:t>Wyjście</a:t>
            </a:r>
            <a:endParaRPr b="0" lang="pl-PL" sz="1200" spc="-1" strike="noStrike">
              <a:latin typeface="Arial"/>
            </a:endParaRPr>
          </a:p>
        </p:txBody>
      </p:sp>
      <p:sp>
        <p:nvSpPr>
          <p:cNvPr id="165" name="TextBox 25"/>
          <p:cNvSpPr/>
          <p:nvPr/>
        </p:nvSpPr>
        <p:spPr>
          <a:xfrm>
            <a:off x="8001000" y="2679120"/>
            <a:ext cx="3472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50" spc="-1" strike="noStrike">
                <a:solidFill>
                  <a:srgbClr val="1b0532"/>
                </a:solidFill>
                <a:latin typeface="Arial"/>
                <a:ea typeface="DejaVu Sans"/>
              </a:rPr>
              <a:t>nowe teksty (warianty)</a:t>
            </a:r>
            <a:endParaRPr b="0" lang="pl-PL" sz="1250" spc="-1" strike="noStrike">
              <a:latin typeface="Arial"/>
            </a:endParaRPr>
          </a:p>
        </p:txBody>
      </p:sp>
      <p:sp>
        <p:nvSpPr>
          <p:cNvPr id="166" name="TextBox 26"/>
          <p:cNvSpPr/>
          <p:nvPr/>
        </p:nvSpPr>
        <p:spPr>
          <a:xfrm>
            <a:off x="6629400" y="3209400"/>
            <a:ext cx="14155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8b19fe"/>
                </a:solidFill>
                <a:latin typeface="Arial"/>
                <a:ea typeface="DejaVu Sans"/>
              </a:rPr>
              <a:t>Rola</a:t>
            </a:r>
            <a:endParaRPr b="0" lang="pl-PL" sz="1200" spc="-1" strike="noStrike">
              <a:latin typeface="Arial"/>
            </a:endParaRPr>
          </a:p>
        </p:txBody>
      </p:sp>
      <p:sp>
        <p:nvSpPr>
          <p:cNvPr id="167" name="TextBox 27"/>
          <p:cNvSpPr/>
          <p:nvPr/>
        </p:nvSpPr>
        <p:spPr>
          <a:xfrm>
            <a:off x="8001000" y="3209400"/>
            <a:ext cx="3472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50" spc="-1" strike="noStrike">
                <a:solidFill>
                  <a:srgbClr val="1b0532"/>
                </a:solidFill>
                <a:latin typeface="Arial"/>
                <a:ea typeface="DejaVu Sans"/>
              </a:rPr>
              <a:t>pomocnicza — przygotowuje dane</a:t>
            </a:r>
            <a:endParaRPr b="0" lang="pl-PL" sz="1250" spc="-1" strike="noStrike">
              <a:latin typeface="Arial"/>
            </a:endParaRPr>
          </a:p>
        </p:txBody>
      </p:sp>
      <p:sp>
        <p:nvSpPr>
          <p:cNvPr id="168" name="TextBox 28"/>
          <p:cNvSpPr/>
          <p:nvPr/>
        </p:nvSpPr>
        <p:spPr>
          <a:xfrm>
            <a:off x="6629400" y="3740040"/>
            <a:ext cx="14155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8b19fe"/>
                </a:solidFill>
                <a:latin typeface="Arial"/>
                <a:ea typeface="DejaVu Sans"/>
              </a:rPr>
              <a:t>Pytanie</a:t>
            </a:r>
            <a:endParaRPr b="0" lang="pl-PL" sz="1200" spc="-1" strike="noStrike">
              <a:latin typeface="Arial"/>
            </a:endParaRPr>
          </a:p>
        </p:txBody>
      </p:sp>
      <p:sp>
        <p:nvSpPr>
          <p:cNvPr id="169" name="TextBox 29"/>
          <p:cNvSpPr/>
          <p:nvPr/>
        </p:nvSpPr>
        <p:spPr>
          <a:xfrm>
            <a:off x="8001000" y="3740040"/>
            <a:ext cx="3472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50" spc="-1" strike="noStrike">
                <a:solidFill>
                  <a:srgbClr val="1b0532"/>
                </a:solidFill>
                <a:latin typeface="Arial"/>
                <a:ea typeface="DejaVu Sans"/>
              </a:rPr>
              <a:t>Co można wygenerować z kontekstu?</a:t>
            </a:r>
            <a:endParaRPr b="0" lang="pl-PL" sz="1250" spc="-1" strike="noStrike">
              <a:latin typeface="Arial"/>
            </a:endParaRPr>
          </a:p>
        </p:txBody>
      </p:sp>
      <p:sp>
        <p:nvSpPr>
          <p:cNvPr id="170" name="TextBox 30"/>
          <p:cNvSpPr/>
          <p:nvPr/>
        </p:nvSpPr>
        <p:spPr>
          <a:xfrm>
            <a:off x="6629400" y="4270320"/>
            <a:ext cx="14155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8b19fe"/>
                </a:solidFill>
                <a:latin typeface="Arial"/>
                <a:ea typeface="DejaVu Sans"/>
              </a:rPr>
              <a:t>Uwaga</a:t>
            </a:r>
            <a:endParaRPr b="0" lang="pl-PL" sz="1200" spc="-1" strike="noStrike">
              <a:latin typeface="Arial"/>
            </a:endParaRPr>
          </a:p>
        </p:txBody>
      </p:sp>
      <p:sp>
        <p:nvSpPr>
          <p:cNvPr id="171" name="TextBox 31"/>
          <p:cNvSpPr/>
          <p:nvPr/>
        </p:nvSpPr>
        <p:spPr>
          <a:xfrm>
            <a:off x="8001000" y="4270320"/>
            <a:ext cx="3472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50" spc="-1" strike="noStrike">
                <a:solidFill>
                  <a:srgbClr val="1b0532"/>
                </a:solidFill>
                <a:latin typeface="Arial"/>
                <a:ea typeface="DejaVu Sans"/>
              </a:rPr>
              <a:t>nie jest modelem docelowym</a:t>
            </a:r>
            <a:endParaRPr b="0" lang="pl-PL" sz="1250" spc="-1" strike="noStrike">
              <a:latin typeface="Arial"/>
            </a:endParaRPr>
          </a:p>
        </p:txBody>
      </p:sp>
      <p:sp>
        <p:nvSpPr>
          <p:cNvPr id="172" name="Rounded Rectangle 32"/>
          <p:cNvSpPr/>
          <p:nvPr/>
        </p:nvSpPr>
        <p:spPr>
          <a:xfrm>
            <a:off x="768240" y="5120640"/>
            <a:ext cx="10650960" cy="592560"/>
          </a:xfrm>
          <a:prstGeom prst="roundRect">
            <a:avLst>
              <a:gd name="adj" fmla="val 16667"/>
            </a:avLst>
          </a:prstGeom>
          <a:solidFill>
            <a:srgbClr val="f2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3" name="Rectangle 33"/>
          <p:cNvSpPr/>
          <p:nvPr/>
        </p:nvSpPr>
        <p:spPr>
          <a:xfrm>
            <a:off x="768240" y="5120640"/>
            <a:ext cx="48960" cy="592560"/>
          </a:xfrm>
          <a:prstGeom prst="rect">
            <a:avLst/>
          </a:prstGeom>
          <a:solidFill>
            <a:srgbClr val="00be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4" name="TextBox 34"/>
          <p:cNvSpPr/>
          <p:nvPr/>
        </p:nvSpPr>
        <p:spPr>
          <a:xfrm>
            <a:off x="1024200" y="5331600"/>
            <a:ext cx="10193760" cy="20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5000"/>
              </a:lnSpc>
              <a:buNone/>
            </a:pPr>
            <a:r>
              <a:rPr b="0" lang="en-US" sz="1300" spc="-1" strike="noStrike">
                <a:solidFill>
                  <a:srgbClr val="6b6478"/>
                </a:solidFill>
                <a:latin typeface="Arial"/>
                <a:ea typeface="DejaVu Sans"/>
              </a:rPr>
              <a:t>LLM generatywny przygotowuje dane → model klasyfikacyjny uczy się na nich podejmować decyzje.</a:t>
            </a:r>
            <a:endParaRPr b="0" lang="pl-PL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extBox 1"/>
          <p:cNvSpPr/>
          <p:nvPr/>
        </p:nvSpPr>
        <p:spPr>
          <a:xfrm>
            <a:off x="768240" y="420480"/>
            <a:ext cx="1060524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900" spc="-1" strike="noStrike">
                <a:solidFill>
                  <a:srgbClr val="1b0532"/>
                </a:solidFill>
                <a:latin typeface="Play"/>
                <a:ea typeface="DejaVu Sans"/>
              </a:rPr>
              <a:t>Active Learning (AL)</a:t>
            </a:r>
            <a:endParaRPr b="0" lang="pl-PL" sz="2900" spc="-1" strike="noStrike">
              <a:latin typeface="Arial"/>
            </a:endParaRPr>
          </a:p>
        </p:txBody>
      </p:sp>
      <p:sp>
        <p:nvSpPr>
          <p:cNvPr id="176" name="Rectangle 2"/>
          <p:cNvSpPr/>
          <p:nvPr/>
        </p:nvSpPr>
        <p:spPr>
          <a:xfrm>
            <a:off x="768240" y="1170360"/>
            <a:ext cx="1369800" cy="42480"/>
          </a:xfrm>
          <a:prstGeom prst="rect">
            <a:avLst/>
          </a:prstGeom>
          <a:solidFill>
            <a:srgbClr val="00be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7" name="TextBox 3"/>
          <p:cNvSpPr/>
          <p:nvPr/>
        </p:nvSpPr>
        <p:spPr>
          <a:xfrm>
            <a:off x="768240" y="1298520"/>
            <a:ext cx="106052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1500" spc="-1" strike="noStrike">
                <a:solidFill>
                  <a:srgbClr val="6b6478"/>
                </a:solidFill>
                <a:latin typeface="Arial"/>
                <a:ea typeface="DejaVu Sans"/>
              </a:rPr>
              <a:t>Pętla zwrotna: zamiast losowo, wybieramy najbardziej informacyjne przykłady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78" name="Rectangle 4"/>
          <p:cNvSpPr/>
          <p:nvPr/>
        </p:nvSpPr>
        <p:spPr>
          <a:xfrm>
            <a:off x="0" y="6437520"/>
            <a:ext cx="12189960" cy="13320"/>
          </a:xfrm>
          <a:prstGeom prst="rect">
            <a:avLst/>
          </a:prstGeom>
          <a:solidFill>
            <a:srgbClr val="f2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9" name="TextBox 5"/>
          <p:cNvSpPr/>
          <p:nvPr/>
        </p:nvSpPr>
        <p:spPr>
          <a:xfrm>
            <a:off x="768240" y="6473880"/>
            <a:ext cx="82278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b6478"/>
                </a:solidFill>
                <a:latin typeface="Arial"/>
                <a:ea typeface="DejaVu Sans"/>
              </a:rPr>
              <a:t>DSS 2026 AI Edition  ·  Teoria · Active Learning</a:t>
            </a:r>
            <a:endParaRPr b="0" lang="pl-PL" sz="900" spc="-1" strike="noStrike">
              <a:latin typeface="Arial"/>
            </a:endParaRPr>
          </a:p>
        </p:txBody>
      </p:sp>
      <p:sp>
        <p:nvSpPr>
          <p:cNvPr id="180" name="TextBox 6"/>
          <p:cNvSpPr/>
          <p:nvPr/>
        </p:nvSpPr>
        <p:spPr>
          <a:xfrm>
            <a:off x="10607040" y="6473880"/>
            <a:ext cx="8211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b6478"/>
                </a:solidFill>
                <a:latin typeface="Arial"/>
                <a:ea typeface="DejaVu Sans"/>
              </a:rPr>
              <a:t>8</a:t>
            </a:r>
            <a:endParaRPr b="0" lang="pl-PL" sz="900" spc="-1" strike="noStrike">
              <a:latin typeface="Arial"/>
            </a:endParaRPr>
          </a:p>
        </p:txBody>
      </p:sp>
      <p:sp>
        <p:nvSpPr>
          <p:cNvPr id="181" name="TextBox 7"/>
          <p:cNvSpPr/>
          <p:nvPr/>
        </p:nvSpPr>
        <p:spPr>
          <a:xfrm>
            <a:off x="768240" y="1828800"/>
            <a:ext cx="5393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1b0532"/>
                </a:solidFill>
                <a:latin typeface="Arial"/>
                <a:ea typeface="DejaVu Sans"/>
              </a:rPr>
              <a:t>AL wybiera przykłady, dla których model: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82" name="TextBox 8"/>
          <p:cNvSpPr/>
          <p:nvPr/>
        </p:nvSpPr>
        <p:spPr>
          <a:xfrm>
            <a:off x="768240" y="2286000"/>
            <a:ext cx="5484600" cy="169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5000"/>
              </a:lnSpc>
              <a:spcAft>
                <a:spcPts val="799"/>
              </a:spcAft>
              <a:buNone/>
            </a:pPr>
            <a:r>
              <a:rPr b="0" lang="en-US" sz="1500" spc="-1" strike="noStrike">
                <a:solidFill>
                  <a:srgbClr val="1b0532"/>
                </a:solidFill>
                <a:latin typeface="Arial"/>
                <a:ea typeface="DejaVu Sans"/>
              </a:rPr>
              <a:t>▸  </a:t>
            </a:r>
            <a:r>
              <a:rPr b="0" lang="en-US" sz="1500" spc="-1" strike="noStrike">
                <a:solidFill>
                  <a:srgbClr val="1b0532"/>
                </a:solidFill>
                <a:latin typeface="Arial"/>
                <a:ea typeface="DejaVu Sans"/>
              </a:rPr>
              <a:t>ma niską pewność predykcji</a:t>
            </a:r>
            <a:endParaRPr b="0" lang="pl-PL" sz="15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799"/>
              </a:spcAft>
              <a:buNone/>
            </a:pPr>
            <a:r>
              <a:rPr b="0" lang="en-US" sz="1500" spc="-1" strike="noStrike">
                <a:solidFill>
                  <a:srgbClr val="1b0532"/>
                </a:solidFill>
                <a:latin typeface="Arial"/>
                <a:ea typeface="DejaVu Sans"/>
              </a:rPr>
              <a:t>▸  </a:t>
            </a:r>
            <a:r>
              <a:rPr b="0" lang="en-US" sz="1500" spc="-1" strike="noStrike">
                <a:solidFill>
                  <a:srgbClr val="1b0532"/>
                </a:solidFill>
                <a:latin typeface="Arial"/>
                <a:ea typeface="DejaVu Sans"/>
              </a:rPr>
              <a:t>myli się między podobnymi klasami</a:t>
            </a:r>
            <a:endParaRPr b="0" lang="pl-PL" sz="15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799"/>
              </a:spcAft>
              <a:buNone/>
            </a:pPr>
            <a:r>
              <a:rPr b="0" lang="en-US" sz="1500" spc="-1" strike="noStrike">
                <a:solidFill>
                  <a:srgbClr val="1b0532"/>
                </a:solidFill>
                <a:latin typeface="Arial"/>
                <a:ea typeface="DejaVu Sans"/>
              </a:rPr>
              <a:t>▸  </a:t>
            </a:r>
            <a:r>
              <a:rPr b="0" lang="en-US" sz="1500" spc="-1" strike="noStrike">
                <a:solidFill>
                  <a:srgbClr val="1b0532"/>
                </a:solidFill>
                <a:latin typeface="Arial"/>
                <a:ea typeface="DejaVu Sans"/>
              </a:rPr>
              <a:t>daje wysokie p-stwo dla kilku klas jednocześnie</a:t>
            </a:r>
            <a:endParaRPr b="0" lang="pl-PL" sz="15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799"/>
              </a:spcAft>
              <a:buNone/>
            </a:pPr>
            <a:r>
              <a:rPr b="0" lang="en-US" sz="1500" spc="-1" strike="noStrike">
                <a:solidFill>
                  <a:srgbClr val="1b0532"/>
                </a:solidFill>
                <a:latin typeface="Arial"/>
                <a:ea typeface="DejaVu Sans"/>
              </a:rPr>
              <a:t>▸  </a:t>
            </a:r>
            <a:r>
              <a:rPr b="0" lang="en-US" sz="1500" spc="-1" strike="noStrike">
                <a:solidFill>
                  <a:srgbClr val="1b0532"/>
                </a:solidFill>
                <a:latin typeface="Arial"/>
                <a:ea typeface="DejaVu Sans"/>
              </a:rPr>
              <a:t>jest niezgodny z regułą / modelem biznesowym</a:t>
            </a:r>
            <a:endParaRPr b="0" lang="pl-PL" sz="15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799"/>
              </a:spcAft>
              <a:buNone/>
            </a:pPr>
            <a:r>
              <a:rPr b="0" lang="en-US" sz="1500" spc="-1" strike="noStrike">
                <a:solidFill>
                  <a:srgbClr val="1b0532"/>
                </a:solidFill>
                <a:latin typeface="Arial"/>
                <a:ea typeface="DejaVu Sans"/>
              </a:rPr>
              <a:t>▸  </a:t>
            </a:r>
            <a:r>
              <a:rPr b="0" lang="en-US" sz="1500" spc="-1" strike="noStrike">
                <a:solidFill>
                  <a:srgbClr val="1b0532"/>
                </a:solidFill>
                <a:latin typeface="Arial"/>
                <a:ea typeface="DejaVu Sans"/>
              </a:rPr>
              <a:t>reprezentuje rzadką / problematyczną część danych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83" name="Rounded Rectangle 9"/>
          <p:cNvSpPr/>
          <p:nvPr/>
        </p:nvSpPr>
        <p:spPr>
          <a:xfrm>
            <a:off x="6446520" y="1828800"/>
            <a:ext cx="4981680" cy="2101320"/>
          </a:xfrm>
          <a:prstGeom prst="roundRect">
            <a:avLst>
              <a:gd name="adj" fmla="val 16667"/>
            </a:avLst>
          </a:prstGeom>
          <a:solidFill>
            <a:srgbClr val="f2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4" name="Rectangle 10"/>
          <p:cNvSpPr/>
          <p:nvPr/>
        </p:nvSpPr>
        <p:spPr>
          <a:xfrm>
            <a:off x="6446520" y="1828800"/>
            <a:ext cx="48960" cy="2101320"/>
          </a:xfrm>
          <a:prstGeom prst="rect">
            <a:avLst/>
          </a:prstGeom>
          <a:solidFill>
            <a:srgbClr val="8b19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5" name="TextBox 11"/>
          <p:cNvSpPr/>
          <p:nvPr/>
        </p:nvSpPr>
        <p:spPr>
          <a:xfrm>
            <a:off x="6702480" y="2267640"/>
            <a:ext cx="452448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5000"/>
              </a:lnSpc>
              <a:buNone/>
            </a:pPr>
            <a:r>
              <a:rPr b="1" lang="en-US" sz="1400" spc="-1" strike="noStrike">
                <a:solidFill>
                  <a:srgbClr val="1b0532"/>
                </a:solidFill>
                <a:latin typeface="Arial"/>
                <a:ea typeface="DejaVu Sans"/>
              </a:rPr>
              <a:t>◎  </a:t>
            </a:r>
            <a:r>
              <a:rPr b="1" lang="en-US" sz="1400" spc="-1" strike="noStrike">
                <a:solidFill>
                  <a:srgbClr val="1b0532"/>
                </a:solidFill>
                <a:latin typeface="Arial"/>
                <a:ea typeface="DejaVu Sans"/>
              </a:rPr>
              <a:t>Przykład trudnego przypadku</a:t>
            </a:r>
            <a:endParaRPr b="0" lang="pl-PL" sz="14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US" sz="1300" spc="-1" strike="noStrike">
                <a:solidFill>
                  <a:srgbClr val="6b6478"/>
                </a:solidFill>
                <a:latin typeface="Arial"/>
                <a:ea typeface="DejaVu Sans"/>
              </a:rPr>
              <a:t>„</a:t>
            </a:r>
            <a:r>
              <a:rPr b="0" lang="en-US" sz="1300" spc="-1" strike="noStrike">
                <a:solidFill>
                  <a:srgbClr val="6b6478"/>
                </a:solidFill>
                <a:latin typeface="Arial"/>
                <a:ea typeface="DejaVu Sans"/>
              </a:rPr>
              <a:t>Nie dostałem produktu i chcę pieniądze z powrotem”</a:t>
            </a:r>
            <a:endParaRPr b="0" lang="pl-PL" sz="13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US" sz="1300" spc="-1" strike="noStrike">
                <a:solidFill>
                  <a:srgbClr val="6b6478"/>
                </a:solidFill>
                <a:latin typeface="Arial"/>
                <a:ea typeface="DejaVu Sans"/>
              </a:rPr>
              <a:t>zwrot 0.42 · reklamacja 0.39 · status_dostawy 0.15 · nieznany 0.04</a:t>
            </a:r>
            <a:endParaRPr b="0" lang="pl-PL" sz="13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US" sz="1300" spc="-1" strike="noStrike">
                <a:solidFill>
                  <a:srgbClr val="6b6478"/>
                </a:solidFill>
                <a:latin typeface="Arial"/>
                <a:ea typeface="DejaVu Sans"/>
              </a:rPr>
              <a:t>Trudny przykład — poprawne oznaczenie uczy rozróżniania klas granicznych.</a:t>
            </a:r>
            <a:endParaRPr b="0" lang="pl-PL" sz="1300" spc="-1" strike="noStrike">
              <a:latin typeface="Arial"/>
            </a:endParaRPr>
          </a:p>
        </p:txBody>
      </p:sp>
      <p:pic>
        <p:nvPicPr>
          <p:cNvPr id="186" name="" descr=""/>
          <p:cNvPicPr/>
          <p:nvPr/>
        </p:nvPicPr>
        <p:blipFill>
          <a:blip r:embed="rId1"/>
          <a:stretch/>
        </p:blipFill>
        <p:spPr>
          <a:xfrm>
            <a:off x="1199520" y="3960360"/>
            <a:ext cx="3192120" cy="2462760"/>
          </a:xfrm>
          <a:prstGeom prst="rect">
            <a:avLst/>
          </a:prstGeom>
          <a:ln w="0">
            <a:noFill/>
          </a:ln>
        </p:spPr>
      </p:pic>
      <p:pic>
        <p:nvPicPr>
          <p:cNvPr id="187" name="" descr=""/>
          <p:cNvPicPr/>
          <p:nvPr/>
        </p:nvPicPr>
        <p:blipFill>
          <a:blip r:embed="rId2"/>
          <a:stretch/>
        </p:blipFill>
        <p:spPr>
          <a:xfrm>
            <a:off x="6050880" y="3972240"/>
            <a:ext cx="3164760" cy="2441520"/>
          </a:xfrm>
          <a:prstGeom prst="rect">
            <a:avLst/>
          </a:prstGeom>
          <a:ln w="0">
            <a:noFill/>
          </a:ln>
        </p:spPr>
      </p:pic>
      <p:sp>
        <p:nvSpPr>
          <p:cNvPr id="188" name=""/>
          <p:cNvSpPr/>
          <p:nvPr/>
        </p:nvSpPr>
        <p:spPr>
          <a:xfrm>
            <a:off x="4608360" y="5184360"/>
            <a:ext cx="1151280" cy="215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5400"/>
                </a:moveTo>
                <a:lnTo>
                  <a:pt x="16200" y="5400"/>
                </a:ln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16200" y="16200"/>
                </a:lnTo>
                <a:lnTo>
                  <a:pt x="0" y="16200"/>
                </a:lnTo>
                <a:lnTo>
                  <a:pt x="2700" y="10800"/>
                </a:lnTo>
                <a:lnTo>
                  <a:pt x="0" y="540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Box 1"/>
          <p:cNvSpPr/>
          <p:nvPr/>
        </p:nvSpPr>
        <p:spPr>
          <a:xfrm>
            <a:off x="768240" y="420480"/>
            <a:ext cx="1060524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900" spc="-1" strike="noStrike">
                <a:solidFill>
                  <a:srgbClr val="1b0532"/>
                </a:solidFill>
                <a:latin typeface="Play"/>
                <a:ea typeface="DejaVu Sans"/>
              </a:rPr>
              <a:t>Human In The Loop (HITL)</a:t>
            </a:r>
            <a:endParaRPr b="0" lang="pl-PL" sz="2900" spc="-1" strike="noStrike">
              <a:latin typeface="Arial"/>
            </a:endParaRPr>
          </a:p>
        </p:txBody>
      </p:sp>
      <p:sp>
        <p:nvSpPr>
          <p:cNvPr id="190" name="Rectangle 2"/>
          <p:cNvSpPr/>
          <p:nvPr/>
        </p:nvSpPr>
        <p:spPr>
          <a:xfrm>
            <a:off x="768240" y="1170360"/>
            <a:ext cx="1369800" cy="42480"/>
          </a:xfrm>
          <a:prstGeom prst="rect">
            <a:avLst/>
          </a:prstGeom>
          <a:solidFill>
            <a:srgbClr val="00be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1" name="TextBox 3"/>
          <p:cNvSpPr/>
          <p:nvPr/>
        </p:nvSpPr>
        <p:spPr>
          <a:xfrm>
            <a:off x="768240" y="1298520"/>
            <a:ext cx="106052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1500" spc="-1" strike="noStrike">
                <a:solidFill>
                  <a:srgbClr val="6b6478"/>
                </a:solidFill>
                <a:latin typeface="Arial"/>
                <a:ea typeface="DejaVu Sans"/>
              </a:rPr>
              <a:t>Człowiek jako świadoma część procesu uczenia i walidacji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92" name="Rectangle 4"/>
          <p:cNvSpPr/>
          <p:nvPr/>
        </p:nvSpPr>
        <p:spPr>
          <a:xfrm>
            <a:off x="0" y="6437520"/>
            <a:ext cx="12189960" cy="13320"/>
          </a:xfrm>
          <a:prstGeom prst="rect">
            <a:avLst/>
          </a:prstGeom>
          <a:solidFill>
            <a:srgbClr val="f2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3" name="TextBox 5"/>
          <p:cNvSpPr/>
          <p:nvPr/>
        </p:nvSpPr>
        <p:spPr>
          <a:xfrm>
            <a:off x="768240" y="6473880"/>
            <a:ext cx="82278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b6478"/>
                </a:solidFill>
                <a:latin typeface="Arial"/>
                <a:ea typeface="DejaVu Sans"/>
              </a:rPr>
              <a:t>DSS 2026 AI Edition  ·  Teoria · HITL</a:t>
            </a:r>
            <a:endParaRPr b="0" lang="pl-PL" sz="900" spc="-1" strike="noStrike">
              <a:latin typeface="Arial"/>
            </a:endParaRPr>
          </a:p>
        </p:txBody>
      </p:sp>
      <p:sp>
        <p:nvSpPr>
          <p:cNvPr id="194" name="TextBox 6"/>
          <p:cNvSpPr/>
          <p:nvPr/>
        </p:nvSpPr>
        <p:spPr>
          <a:xfrm>
            <a:off x="10607040" y="6473880"/>
            <a:ext cx="8211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b6478"/>
                </a:solidFill>
                <a:latin typeface="Arial"/>
                <a:ea typeface="DejaVu Sans"/>
              </a:rPr>
              <a:t>10</a:t>
            </a:r>
            <a:endParaRPr b="0" lang="pl-PL" sz="900" spc="-1" strike="noStrike">
              <a:latin typeface="Arial"/>
            </a:endParaRPr>
          </a:p>
        </p:txBody>
      </p:sp>
      <p:sp>
        <p:nvSpPr>
          <p:cNvPr id="195" name="Rounded Rectangle 7"/>
          <p:cNvSpPr/>
          <p:nvPr/>
        </p:nvSpPr>
        <p:spPr>
          <a:xfrm>
            <a:off x="768240" y="1828800"/>
            <a:ext cx="5027400" cy="1461240"/>
          </a:xfrm>
          <a:prstGeom prst="roundRect">
            <a:avLst>
              <a:gd name="adj" fmla="val 16667"/>
            </a:avLst>
          </a:prstGeom>
          <a:solidFill>
            <a:srgbClr val="f2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6" name="Rectangle 8"/>
          <p:cNvSpPr/>
          <p:nvPr/>
        </p:nvSpPr>
        <p:spPr>
          <a:xfrm>
            <a:off x="768240" y="1828800"/>
            <a:ext cx="48960" cy="1461240"/>
          </a:xfrm>
          <a:prstGeom prst="rect">
            <a:avLst/>
          </a:prstGeom>
          <a:solidFill>
            <a:srgbClr val="00be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7" name="TextBox 9"/>
          <p:cNvSpPr/>
          <p:nvPr/>
        </p:nvSpPr>
        <p:spPr>
          <a:xfrm>
            <a:off x="1042560" y="1993320"/>
            <a:ext cx="45702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1b0532"/>
                </a:solidFill>
                <a:latin typeface="Arial"/>
                <a:ea typeface="DejaVu Sans"/>
              </a:rPr>
              <a:t>Definiuje reguły</a:t>
            </a:r>
            <a:endParaRPr b="0" lang="pl-PL" sz="1600" spc="-1" strike="noStrike">
              <a:latin typeface="Arial"/>
            </a:endParaRPr>
          </a:p>
        </p:txBody>
      </p:sp>
      <p:sp>
        <p:nvSpPr>
          <p:cNvPr id="198" name="TextBox 10"/>
          <p:cNvSpPr/>
          <p:nvPr/>
        </p:nvSpPr>
        <p:spPr>
          <a:xfrm>
            <a:off x="1042560" y="2423160"/>
            <a:ext cx="4570200" cy="43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0000"/>
              </a:lnSpc>
              <a:buNone/>
            </a:pPr>
            <a:r>
              <a:rPr b="0" lang="en-US" sz="1300" spc="-1" strike="noStrike">
                <a:solidFill>
                  <a:srgbClr val="6b6478"/>
                </a:solidFill>
                <a:latin typeface="Arial"/>
                <a:ea typeface="DejaVu Sans"/>
              </a:rPr>
              <a:t>jakie klasy istnieją, co oznaczają, gdzie biegnie granica między nimi</a:t>
            </a:r>
            <a:endParaRPr b="0" lang="pl-PL" sz="1300" spc="-1" strike="noStrike">
              <a:latin typeface="Arial"/>
            </a:endParaRPr>
          </a:p>
        </p:txBody>
      </p:sp>
      <p:sp>
        <p:nvSpPr>
          <p:cNvPr id="199" name="Rounded Rectangle 11"/>
          <p:cNvSpPr/>
          <p:nvPr/>
        </p:nvSpPr>
        <p:spPr>
          <a:xfrm>
            <a:off x="6400800" y="1828800"/>
            <a:ext cx="5027400" cy="1461240"/>
          </a:xfrm>
          <a:prstGeom prst="roundRect">
            <a:avLst>
              <a:gd name="adj" fmla="val 16667"/>
            </a:avLst>
          </a:prstGeom>
          <a:solidFill>
            <a:srgbClr val="f2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0" name="Rectangle 12"/>
          <p:cNvSpPr/>
          <p:nvPr/>
        </p:nvSpPr>
        <p:spPr>
          <a:xfrm>
            <a:off x="6400800" y="1828800"/>
            <a:ext cx="48960" cy="1461240"/>
          </a:xfrm>
          <a:prstGeom prst="rect">
            <a:avLst/>
          </a:prstGeom>
          <a:solidFill>
            <a:srgbClr val="00be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1" name="TextBox 13"/>
          <p:cNvSpPr/>
          <p:nvPr/>
        </p:nvSpPr>
        <p:spPr>
          <a:xfrm>
            <a:off x="6675120" y="1993320"/>
            <a:ext cx="45702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1b0532"/>
                </a:solidFill>
                <a:latin typeface="Arial"/>
                <a:ea typeface="DejaVu Sans"/>
              </a:rPr>
              <a:t>Sprawdza jakość</a:t>
            </a:r>
            <a:endParaRPr b="0" lang="pl-PL" sz="1600" spc="-1" strike="noStrike">
              <a:latin typeface="Arial"/>
            </a:endParaRPr>
          </a:p>
        </p:txBody>
      </p:sp>
      <p:sp>
        <p:nvSpPr>
          <p:cNvPr id="202" name="TextBox 14"/>
          <p:cNvSpPr/>
          <p:nvPr/>
        </p:nvSpPr>
        <p:spPr>
          <a:xfrm>
            <a:off x="6675120" y="2423160"/>
            <a:ext cx="4570200" cy="43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0000"/>
              </a:lnSpc>
              <a:buNone/>
            </a:pPr>
            <a:r>
              <a:rPr b="0" lang="en-US" sz="1300" spc="-1" strike="noStrike">
                <a:solidFill>
                  <a:srgbClr val="6b6478"/>
                </a:solidFill>
                <a:latin typeface="Arial"/>
                <a:ea typeface="DejaVu Sans"/>
              </a:rPr>
              <a:t>czy przykład pasuje do etykiety, jest realistyczny, nie powiela oryginału</a:t>
            </a:r>
            <a:endParaRPr b="0" lang="pl-PL" sz="1300" spc="-1" strike="noStrike">
              <a:latin typeface="Arial"/>
            </a:endParaRPr>
          </a:p>
        </p:txBody>
      </p:sp>
      <p:sp>
        <p:nvSpPr>
          <p:cNvPr id="203" name="Rounded Rectangle 15"/>
          <p:cNvSpPr/>
          <p:nvPr/>
        </p:nvSpPr>
        <p:spPr>
          <a:xfrm>
            <a:off x="768240" y="3566160"/>
            <a:ext cx="5027400" cy="1461240"/>
          </a:xfrm>
          <a:prstGeom prst="roundRect">
            <a:avLst>
              <a:gd name="adj" fmla="val 16667"/>
            </a:avLst>
          </a:prstGeom>
          <a:solidFill>
            <a:srgbClr val="f2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4" name="Rectangle 16"/>
          <p:cNvSpPr/>
          <p:nvPr/>
        </p:nvSpPr>
        <p:spPr>
          <a:xfrm>
            <a:off x="768240" y="3566160"/>
            <a:ext cx="48960" cy="1461240"/>
          </a:xfrm>
          <a:prstGeom prst="rect">
            <a:avLst/>
          </a:prstGeom>
          <a:solidFill>
            <a:srgbClr val="00be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5" name="TextBox 17"/>
          <p:cNvSpPr/>
          <p:nvPr/>
        </p:nvSpPr>
        <p:spPr>
          <a:xfrm>
            <a:off x="1042560" y="3730680"/>
            <a:ext cx="45702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1b0532"/>
                </a:solidFill>
                <a:latin typeface="Arial"/>
                <a:ea typeface="DejaVu Sans"/>
              </a:rPr>
              <a:t>Rozstrzyga niejasne</a:t>
            </a:r>
            <a:endParaRPr b="0" lang="pl-PL" sz="1600" spc="-1" strike="noStrike">
              <a:latin typeface="Arial"/>
            </a:endParaRPr>
          </a:p>
        </p:txBody>
      </p:sp>
      <p:sp>
        <p:nvSpPr>
          <p:cNvPr id="206" name="TextBox 18"/>
          <p:cNvSpPr/>
          <p:nvPr/>
        </p:nvSpPr>
        <p:spPr>
          <a:xfrm>
            <a:off x="1042560" y="4160520"/>
            <a:ext cx="457020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0000"/>
              </a:lnSpc>
              <a:buNone/>
            </a:pPr>
            <a:r>
              <a:rPr b="0" lang="en-US" sz="1300" spc="-1" strike="noStrike">
                <a:solidFill>
                  <a:srgbClr val="6b6478"/>
                </a:solidFill>
                <a:latin typeface="Arial"/>
                <a:ea typeface="DejaVu Sans"/>
              </a:rPr>
              <a:t>spójne decyzje dla przypadków granicznych („koordynator”)</a:t>
            </a:r>
            <a:endParaRPr b="0" lang="pl-PL" sz="1300" spc="-1" strike="noStrike">
              <a:latin typeface="Arial"/>
            </a:endParaRPr>
          </a:p>
        </p:txBody>
      </p:sp>
      <p:sp>
        <p:nvSpPr>
          <p:cNvPr id="207" name="Rounded Rectangle 19"/>
          <p:cNvSpPr/>
          <p:nvPr/>
        </p:nvSpPr>
        <p:spPr>
          <a:xfrm>
            <a:off x="6400800" y="3566160"/>
            <a:ext cx="5027400" cy="1461240"/>
          </a:xfrm>
          <a:prstGeom prst="roundRect">
            <a:avLst>
              <a:gd name="adj" fmla="val 16667"/>
            </a:avLst>
          </a:prstGeom>
          <a:solidFill>
            <a:srgbClr val="f2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8" name="Rectangle 20"/>
          <p:cNvSpPr/>
          <p:nvPr/>
        </p:nvSpPr>
        <p:spPr>
          <a:xfrm>
            <a:off x="6400800" y="3566160"/>
            <a:ext cx="48960" cy="1461240"/>
          </a:xfrm>
          <a:prstGeom prst="rect">
            <a:avLst/>
          </a:prstGeom>
          <a:solidFill>
            <a:srgbClr val="00be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9" name="TextBox 21"/>
          <p:cNvSpPr/>
          <p:nvPr/>
        </p:nvSpPr>
        <p:spPr>
          <a:xfrm>
            <a:off x="6675120" y="3730680"/>
            <a:ext cx="45702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1b0532"/>
                </a:solidFill>
                <a:latin typeface="Arial"/>
                <a:ea typeface="DejaVu Sans"/>
              </a:rPr>
              <a:t>Kontroluje uczenie</a:t>
            </a:r>
            <a:endParaRPr b="0" lang="pl-PL" sz="1600" spc="-1" strike="noStrike">
              <a:latin typeface="Arial"/>
            </a:endParaRPr>
          </a:p>
        </p:txBody>
      </p:sp>
      <p:sp>
        <p:nvSpPr>
          <p:cNvPr id="210" name="TextBox 22"/>
          <p:cNvSpPr/>
          <p:nvPr/>
        </p:nvSpPr>
        <p:spPr>
          <a:xfrm>
            <a:off x="6675120" y="4160520"/>
            <a:ext cx="457020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0000"/>
              </a:lnSpc>
              <a:buNone/>
            </a:pPr>
            <a:r>
              <a:rPr b="0" lang="en-US" sz="1300" spc="-1" strike="noStrike">
                <a:solidFill>
                  <a:srgbClr val="6b6478"/>
                </a:solidFill>
                <a:latin typeface="Arial"/>
                <a:ea typeface="DejaVu Sans"/>
              </a:rPr>
              <a:t>metryki, confusion matrix, klasy rzadkie, jakość języka</a:t>
            </a:r>
            <a:endParaRPr b="0" lang="pl-PL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Box 1"/>
          <p:cNvSpPr/>
          <p:nvPr/>
        </p:nvSpPr>
        <p:spPr>
          <a:xfrm>
            <a:off x="768240" y="420480"/>
            <a:ext cx="1060524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900" spc="-1" strike="noStrike">
                <a:solidFill>
                  <a:srgbClr val="1b0532"/>
                </a:solidFill>
                <a:latin typeface="Play"/>
                <a:ea typeface="DejaVu Sans"/>
              </a:rPr>
              <a:t>Pętla HITL z wykorzystaniem AL</a:t>
            </a:r>
            <a:endParaRPr b="0" lang="pl-PL" sz="2900" spc="-1" strike="noStrike">
              <a:latin typeface="Arial"/>
            </a:endParaRPr>
          </a:p>
        </p:txBody>
      </p:sp>
      <p:sp>
        <p:nvSpPr>
          <p:cNvPr id="212" name="Rectangle 2"/>
          <p:cNvSpPr/>
          <p:nvPr/>
        </p:nvSpPr>
        <p:spPr>
          <a:xfrm>
            <a:off x="768240" y="1170360"/>
            <a:ext cx="1369800" cy="42480"/>
          </a:xfrm>
          <a:prstGeom prst="rect">
            <a:avLst/>
          </a:prstGeom>
          <a:solidFill>
            <a:srgbClr val="00be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3" name="Rectangle 3"/>
          <p:cNvSpPr/>
          <p:nvPr/>
        </p:nvSpPr>
        <p:spPr>
          <a:xfrm>
            <a:off x="0" y="6437520"/>
            <a:ext cx="12189960" cy="13320"/>
          </a:xfrm>
          <a:prstGeom prst="rect">
            <a:avLst/>
          </a:prstGeom>
          <a:solidFill>
            <a:srgbClr val="f2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4" name="TextBox 4"/>
          <p:cNvSpPr/>
          <p:nvPr/>
        </p:nvSpPr>
        <p:spPr>
          <a:xfrm>
            <a:off x="768240" y="6473880"/>
            <a:ext cx="82278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b6478"/>
                </a:solidFill>
                <a:latin typeface="Arial"/>
                <a:ea typeface="DejaVu Sans"/>
              </a:rPr>
              <a:t>DSS 2026 AI Edition  ·  Teoria · Pętla</a:t>
            </a:r>
            <a:endParaRPr b="0" lang="pl-PL" sz="900" spc="-1" strike="noStrike">
              <a:latin typeface="Arial"/>
            </a:endParaRPr>
          </a:p>
        </p:txBody>
      </p:sp>
      <p:sp>
        <p:nvSpPr>
          <p:cNvPr id="215" name="TextBox 5"/>
          <p:cNvSpPr/>
          <p:nvPr/>
        </p:nvSpPr>
        <p:spPr>
          <a:xfrm>
            <a:off x="10607040" y="6473880"/>
            <a:ext cx="8211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b6478"/>
                </a:solidFill>
                <a:latin typeface="Arial"/>
                <a:ea typeface="DejaVu Sans"/>
              </a:rPr>
              <a:t>11</a:t>
            </a:r>
            <a:endParaRPr b="0" lang="pl-PL" sz="900" spc="-1" strike="noStrike">
              <a:latin typeface="Arial"/>
            </a:endParaRPr>
          </a:p>
        </p:txBody>
      </p:sp>
      <p:sp>
        <p:nvSpPr>
          <p:cNvPr id="216" name="Rounded Rectangle 6"/>
          <p:cNvSpPr/>
          <p:nvPr/>
        </p:nvSpPr>
        <p:spPr>
          <a:xfrm>
            <a:off x="768240" y="1417320"/>
            <a:ext cx="3381480" cy="1186920"/>
          </a:xfrm>
          <a:prstGeom prst="roundRect">
            <a:avLst>
              <a:gd name="adj" fmla="val 16667"/>
            </a:avLst>
          </a:prstGeom>
          <a:solidFill>
            <a:srgbClr val="f2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7" name="Rounded Rectangle 7"/>
          <p:cNvSpPr/>
          <p:nvPr/>
        </p:nvSpPr>
        <p:spPr>
          <a:xfrm>
            <a:off x="768240" y="1417320"/>
            <a:ext cx="3381480" cy="455400"/>
          </a:xfrm>
          <a:prstGeom prst="roundRect">
            <a:avLst>
              <a:gd name="adj" fmla="val 16667"/>
            </a:avLst>
          </a:prstGeom>
          <a:solidFill>
            <a:srgbClr val="00be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8" name="TextBox 8"/>
          <p:cNvSpPr/>
          <p:nvPr/>
        </p:nvSpPr>
        <p:spPr>
          <a:xfrm>
            <a:off x="768240" y="1481400"/>
            <a:ext cx="338148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Augmentacja i labelowanie</a:t>
            </a:r>
            <a:endParaRPr b="0" lang="pl-PL" sz="1400" spc="-1" strike="noStrike">
              <a:latin typeface="Arial"/>
            </a:endParaRPr>
          </a:p>
        </p:txBody>
      </p:sp>
      <p:sp>
        <p:nvSpPr>
          <p:cNvPr id="219" name="TextBox 9"/>
          <p:cNvSpPr/>
          <p:nvPr/>
        </p:nvSpPr>
        <p:spPr>
          <a:xfrm>
            <a:off x="951120" y="2011680"/>
            <a:ext cx="301572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1b0532"/>
                </a:solidFill>
                <a:latin typeface="Arial"/>
                <a:ea typeface="DejaVu Sans"/>
              </a:rPr>
              <a:t>Jak zwiększyć i urozmaicić zbiór?</a:t>
            </a:r>
            <a:endParaRPr b="0" lang="pl-PL" sz="1300" spc="-1" strike="noStrike">
              <a:latin typeface="Arial"/>
            </a:endParaRPr>
          </a:p>
        </p:txBody>
      </p:sp>
      <p:sp>
        <p:nvSpPr>
          <p:cNvPr id="220" name="Rounded Rectangle 10"/>
          <p:cNvSpPr/>
          <p:nvPr/>
        </p:nvSpPr>
        <p:spPr>
          <a:xfrm>
            <a:off x="4380120" y="1417320"/>
            <a:ext cx="3381480" cy="1186920"/>
          </a:xfrm>
          <a:prstGeom prst="roundRect">
            <a:avLst>
              <a:gd name="adj" fmla="val 16667"/>
            </a:avLst>
          </a:prstGeom>
          <a:solidFill>
            <a:srgbClr val="f2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1" name="Rounded Rectangle 11"/>
          <p:cNvSpPr/>
          <p:nvPr/>
        </p:nvSpPr>
        <p:spPr>
          <a:xfrm>
            <a:off x="4380120" y="1417320"/>
            <a:ext cx="3381480" cy="455400"/>
          </a:xfrm>
          <a:prstGeom prst="roundRect">
            <a:avLst>
              <a:gd name="adj" fmla="val 16667"/>
            </a:avLst>
          </a:prstGeom>
          <a:solidFill>
            <a:srgbClr val="8b19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2" name="TextBox 12"/>
          <p:cNvSpPr/>
          <p:nvPr/>
        </p:nvSpPr>
        <p:spPr>
          <a:xfrm>
            <a:off x="4380120" y="1481400"/>
            <a:ext cx="338148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Active Learning</a:t>
            </a:r>
            <a:endParaRPr b="0" lang="pl-PL" sz="1400" spc="-1" strike="noStrike">
              <a:latin typeface="Arial"/>
            </a:endParaRPr>
          </a:p>
        </p:txBody>
      </p:sp>
      <p:sp>
        <p:nvSpPr>
          <p:cNvPr id="223" name="TextBox 13"/>
          <p:cNvSpPr/>
          <p:nvPr/>
        </p:nvSpPr>
        <p:spPr>
          <a:xfrm>
            <a:off x="4563000" y="2011680"/>
            <a:ext cx="301572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1b0532"/>
                </a:solidFill>
                <a:latin typeface="Arial"/>
                <a:ea typeface="DejaVu Sans"/>
              </a:rPr>
              <a:t>Które dane są warte uwagi?</a:t>
            </a:r>
            <a:endParaRPr b="0" lang="pl-PL" sz="1300" spc="-1" strike="noStrike">
              <a:latin typeface="Arial"/>
            </a:endParaRPr>
          </a:p>
        </p:txBody>
      </p:sp>
      <p:sp>
        <p:nvSpPr>
          <p:cNvPr id="224" name="Rounded Rectangle 14"/>
          <p:cNvSpPr/>
          <p:nvPr/>
        </p:nvSpPr>
        <p:spPr>
          <a:xfrm>
            <a:off x="7992000" y="1417320"/>
            <a:ext cx="3381480" cy="1186920"/>
          </a:xfrm>
          <a:prstGeom prst="roundRect">
            <a:avLst>
              <a:gd name="adj" fmla="val 16667"/>
            </a:avLst>
          </a:prstGeom>
          <a:solidFill>
            <a:srgbClr val="f2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5" name="Rounded Rectangle 15"/>
          <p:cNvSpPr/>
          <p:nvPr/>
        </p:nvSpPr>
        <p:spPr>
          <a:xfrm>
            <a:off x="7992000" y="1417320"/>
            <a:ext cx="3381480" cy="455400"/>
          </a:xfrm>
          <a:prstGeom prst="roundRect">
            <a:avLst>
              <a:gd name="adj" fmla="val 16667"/>
            </a:avLst>
          </a:prstGeom>
          <a:solidFill>
            <a:srgbClr val="00be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6" name="TextBox 16"/>
          <p:cNvSpPr/>
          <p:nvPr/>
        </p:nvSpPr>
        <p:spPr>
          <a:xfrm>
            <a:off x="7992000" y="1481400"/>
            <a:ext cx="338148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Human in the Loop</a:t>
            </a:r>
            <a:endParaRPr b="0" lang="pl-PL" sz="1400" spc="-1" strike="noStrike">
              <a:latin typeface="Arial"/>
            </a:endParaRPr>
          </a:p>
        </p:txBody>
      </p:sp>
      <p:sp>
        <p:nvSpPr>
          <p:cNvPr id="227" name="TextBox 17"/>
          <p:cNvSpPr/>
          <p:nvPr/>
        </p:nvSpPr>
        <p:spPr>
          <a:xfrm>
            <a:off x="8174880" y="2011680"/>
            <a:ext cx="301572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1b0532"/>
                </a:solidFill>
                <a:latin typeface="Arial"/>
                <a:ea typeface="DejaVu Sans"/>
              </a:rPr>
              <a:t>Jak utrzymać jakość i kontrolę?</a:t>
            </a:r>
            <a:endParaRPr b="0" lang="pl-PL" sz="1300" spc="-1" strike="noStrike">
              <a:latin typeface="Arial"/>
            </a:endParaRPr>
          </a:p>
        </p:txBody>
      </p:sp>
      <p:sp>
        <p:nvSpPr>
          <p:cNvPr id="228" name="TextBox 18"/>
          <p:cNvSpPr/>
          <p:nvPr/>
        </p:nvSpPr>
        <p:spPr>
          <a:xfrm>
            <a:off x="768240" y="3017520"/>
            <a:ext cx="1060524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1b0532"/>
                </a:solidFill>
                <a:latin typeface="Arial"/>
                <a:ea typeface="DejaVu Sans"/>
              </a:rPr>
              <a:t>Przepływ:</a:t>
            </a:r>
            <a:endParaRPr b="0" lang="pl-PL" sz="1400" spc="-1" strike="noStrike">
              <a:latin typeface="Arial"/>
            </a:endParaRPr>
          </a:p>
        </p:txBody>
      </p:sp>
      <p:sp>
        <p:nvSpPr>
          <p:cNvPr id="229" name="Rounded Rectangle 19"/>
          <p:cNvSpPr/>
          <p:nvPr/>
        </p:nvSpPr>
        <p:spPr>
          <a:xfrm>
            <a:off x="768240" y="3474720"/>
            <a:ext cx="1205280" cy="638280"/>
          </a:xfrm>
          <a:prstGeom prst="roundRect">
            <a:avLst>
              <a:gd name="adj" fmla="val 16667"/>
            </a:avLst>
          </a:prstGeom>
          <a:solidFill>
            <a:srgbClr val="0427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0" name="TextBox 20"/>
          <p:cNvSpPr/>
          <p:nvPr/>
        </p:nvSpPr>
        <p:spPr>
          <a:xfrm>
            <a:off x="804600" y="3721680"/>
            <a:ext cx="113220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950" spc="-1" strike="noStrike">
                <a:solidFill>
                  <a:srgbClr val="ffffff"/>
                </a:solidFill>
                <a:latin typeface="Arial"/>
                <a:ea typeface="DejaVu Sans"/>
              </a:rPr>
              <a:t>Zbiór danych</a:t>
            </a:r>
            <a:endParaRPr b="0" lang="pl-PL" sz="950" spc="-1" strike="noStrike">
              <a:latin typeface="Arial"/>
            </a:endParaRPr>
          </a:p>
        </p:txBody>
      </p:sp>
      <p:sp>
        <p:nvSpPr>
          <p:cNvPr id="231" name="TextBox 21"/>
          <p:cNvSpPr/>
          <p:nvPr/>
        </p:nvSpPr>
        <p:spPr>
          <a:xfrm>
            <a:off x="1956960" y="3672360"/>
            <a:ext cx="162720" cy="2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00befe"/>
                </a:solidFill>
                <a:latin typeface="Arial"/>
                <a:ea typeface="DejaVu Sans"/>
              </a:rPr>
              <a:t>›</a:t>
            </a:r>
            <a:endParaRPr b="0" lang="pl-PL" sz="1600" spc="-1" strike="noStrike">
              <a:latin typeface="Arial"/>
            </a:endParaRPr>
          </a:p>
        </p:txBody>
      </p:sp>
      <p:sp>
        <p:nvSpPr>
          <p:cNvPr id="232" name="Rounded Rectangle 22"/>
          <p:cNvSpPr/>
          <p:nvPr/>
        </p:nvSpPr>
        <p:spPr>
          <a:xfrm>
            <a:off x="2103120" y="3474720"/>
            <a:ext cx="1205280" cy="638280"/>
          </a:xfrm>
          <a:prstGeom prst="roundRect">
            <a:avLst>
              <a:gd name="adj" fmla="val 16667"/>
            </a:avLst>
          </a:prstGeom>
          <a:solidFill>
            <a:srgbClr val="0427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3" name="TextBox 23"/>
          <p:cNvSpPr/>
          <p:nvPr/>
        </p:nvSpPr>
        <p:spPr>
          <a:xfrm>
            <a:off x="2139840" y="3721680"/>
            <a:ext cx="113220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950" spc="-1" strike="noStrike">
                <a:solidFill>
                  <a:srgbClr val="ffffff"/>
                </a:solidFill>
                <a:latin typeface="Arial"/>
                <a:ea typeface="DejaVu Sans"/>
              </a:rPr>
              <a:t>Trening</a:t>
            </a:r>
            <a:endParaRPr b="0" lang="pl-PL" sz="950" spc="-1" strike="noStrike">
              <a:latin typeface="Arial"/>
            </a:endParaRPr>
          </a:p>
        </p:txBody>
      </p:sp>
      <p:sp>
        <p:nvSpPr>
          <p:cNvPr id="234" name="TextBox 24"/>
          <p:cNvSpPr/>
          <p:nvPr/>
        </p:nvSpPr>
        <p:spPr>
          <a:xfrm>
            <a:off x="3291840" y="3672360"/>
            <a:ext cx="162720" cy="2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00befe"/>
                </a:solidFill>
                <a:latin typeface="Arial"/>
                <a:ea typeface="DejaVu Sans"/>
              </a:rPr>
              <a:t>›</a:t>
            </a:r>
            <a:endParaRPr b="0" lang="pl-PL" sz="1600" spc="-1" strike="noStrike">
              <a:latin typeface="Arial"/>
            </a:endParaRPr>
          </a:p>
        </p:txBody>
      </p:sp>
      <p:sp>
        <p:nvSpPr>
          <p:cNvPr id="235" name="Rounded Rectangle 25"/>
          <p:cNvSpPr/>
          <p:nvPr/>
        </p:nvSpPr>
        <p:spPr>
          <a:xfrm>
            <a:off x="3438000" y="3474720"/>
            <a:ext cx="1205280" cy="638280"/>
          </a:xfrm>
          <a:prstGeom prst="roundRect">
            <a:avLst>
              <a:gd name="adj" fmla="val 16667"/>
            </a:avLst>
          </a:prstGeom>
          <a:solidFill>
            <a:srgbClr val="0427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6" name="TextBox 26"/>
          <p:cNvSpPr/>
          <p:nvPr/>
        </p:nvSpPr>
        <p:spPr>
          <a:xfrm>
            <a:off x="3474720" y="3721680"/>
            <a:ext cx="113220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950" spc="-1" strike="noStrike">
                <a:solidFill>
                  <a:srgbClr val="ffffff"/>
                </a:solidFill>
                <a:latin typeface="Arial"/>
                <a:ea typeface="DejaVu Sans"/>
              </a:rPr>
              <a:t>Analiza błędów</a:t>
            </a:r>
            <a:endParaRPr b="0" lang="pl-PL" sz="950" spc="-1" strike="noStrike">
              <a:latin typeface="Arial"/>
            </a:endParaRPr>
          </a:p>
        </p:txBody>
      </p:sp>
      <p:sp>
        <p:nvSpPr>
          <p:cNvPr id="237" name="TextBox 27"/>
          <p:cNvSpPr/>
          <p:nvPr/>
        </p:nvSpPr>
        <p:spPr>
          <a:xfrm>
            <a:off x="4626720" y="3672360"/>
            <a:ext cx="162720" cy="2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00befe"/>
                </a:solidFill>
                <a:latin typeface="Arial"/>
                <a:ea typeface="DejaVu Sans"/>
              </a:rPr>
              <a:t>›</a:t>
            </a:r>
            <a:endParaRPr b="0" lang="pl-PL" sz="1600" spc="-1" strike="noStrike">
              <a:latin typeface="Arial"/>
            </a:endParaRPr>
          </a:p>
        </p:txBody>
      </p:sp>
      <p:sp>
        <p:nvSpPr>
          <p:cNvPr id="238" name="Rounded Rectangle 28"/>
          <p:cNvSpPr/>
          <p:nvPr/>
        </p:nvSpPr>
        <p:spPr>
          <a:xfrm>
            <a:off x="4773240" y="3474720"/>
            <a:ext cx="1205280" cy="638280"/>
          </a:xfrm>
          <a:prstGeom prst="roundRect">
            <a:avLst>
              <a:gd name="adj" fmla="val 16667"/>
            </a:avLst>
          </a:prstGeom>
          <a:solidFill>
            <a:srgbClr val="0427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9" name="TextBox 29"/>
          <p:cNvSpPr/>
          <p:nvPr/>
        </p:nvSpPr>
        <p:spPr>
          <a:xfrm>
            <a:off x="4809600" y="3649320"/>
            <a:ext cx="1132200" cy="28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950" spc="-1" strike="noStrike">
                <a:solidFill>
                  <a:srgbClr val="ffffff"/>
                </a:solidFill>
                <a:latin typeface="Arial"/>
                <a:ea typeface="DejaVu Sans"/>
              </a:rPr>
              <a:t>Wybór do augmentacji</a:t>
            </a:r>
            <a:endParaRPr b="0" lang="pl-PL" sz="950" spc="-1" strike="noStrike">
              <a:latin typeface="Arial"/>
            </a:endParaRPr>
          </a:p>
        </p:txBody>
      </p:sp>
      <p:sp>
        <p:nvSpPr>
          <p:cNvPr id="240" name="TextBox 30"/>
          <p:cNvSpPr/>
          <p:nvPr/>
        </p:nvSpPr>
        <p:spPr>
          <a:xfrm>
            <a:off x="5961960" y="3672360"/>
            <a:ext cx="162720" cy="2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00befe"/>
                </a:solidFill>
                <a:latin typeface="Arial"/>
                <a:ea typeface="DejaVu Sans"/>
              </a:rPr>
              <a:t>›</a:t>
            </a:r>
            <a:endParaRPr b="0" lang="pl-PL" sz="1600" spc="-1" strike="noStrike">
              <a:latin typeface="Arial"/>
            </a:endParaRPr>
          </a:p>
        </p:txBody>
      </p:sp>
      <p:sp>
        <p:nvSpPr>
          <p:cNvPr id="241" name="Rounded Rectangle 31"/>
          <p:cNvSpPr/>
          <p:nvPr/>
        </p:nvSpPr>
        <p:spPr>
          <a:xfrm>
            <a:off x="6108120" y="3474720"/>
            <a:ext cx="1205280" cy="638280"/>
          </a:xfrm>
          <a:prstGeom prst="roundRect">
            <a:avLst>
              <a:gd name="adj" fmla="val 16667"/>
            </a:avLst>
          </a:prstGeom>
          <a:solidFill>
            <a:srgbClr val="0427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2" name="TextBox 32"/>
          <p:cNvSpPr/>
          <p:nvPr/>
        </p:nvSpPr>
        <p:spPr>
          <a:xfrm>
            <a:off x="6144840" y="3721680"/>
            <a:ext cx="113220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950" spc="-1" strike="noStrike">
                <a:solidFill>
                  <a:srgbClr val="ffffff"/>
                </a:solidFill>
                <a:latin typeface="Arial"/>
                <a:ea typeface="DejaVu Sans"/>
              </a:rPr>
              <a:t>Generowanie (LLM)</a:t>
            </a:r>
            <a:endParaRPr b="0" lang="pl-PL" sz="950" spc="-1" strike="noStrike">
              <a:latin typeface="Arial"/>
            </a:endParaRPr>
          </a:p>
        </p:txBody>
      </p:sp>
      <p:sp>
        <p:nvSpPr>
          <p:cNvPr id="243" name="TextBox 33"/>
          <p:cNvSpPr/>
          <p:nvPr/>
        </p:nvSpPr>
        <p:spPr>
          <a:xfrm>
            <a:off x="7296840" y="3672360"/>
            <a:ext cx="162720" cy="2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00befe"/>
                </a:solidFill>
                <a:latin typeface="Arial"/>
                <a:ea typeface="DejaVu Sans"/>
              </a:rPr>
              <a:t>›</a:t>
            </a:r>
            <a:endParaRPr b="0" lang="pl-PL" sz="1600" spc="-1" strike="noStrike">
              <a:latin typeface="Arial"/>
            </a:endParaRPr>
          </a:p>
        </p:txBody>
      </p:sp>
      <p:sp>
        <p:nvSpPr>
          <p:cNvPr id="244" name="Rounded Rectangle 34"/>
          <p:cNvSpPr/>
          <p:nvPr/>
        </p:nvSpPr>
        <p:spPr>
          <a:xfrm>
            <a:off x="7443360" y="3474720"/>
            <a:ext cx="1205280" cy="638280"/>
          </a:xfrm>
          <a:prstGeom prst="roundRect">
            <a:avLst>
              <a:gd name="adj" fmla="val 16667"/>
            </a:avLst>
          </a:prstGeom>
          <a:solidFill>
            <a:srgbClr val="0427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5" name="TextBox 35"/>
          <p:cNvSpPr/>
          <p:nvPr/>
        </p:nvSpPr>
        <p:spPr>
          <a:xfrm>
            <a:off x="7479720" y="3721680"/>
            <a:ext cx="113220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950" spc="-1" strike="noStrike">
                <a:solidFill>
                  <a:srgbClr val="ffffff"/>
                </a:solidFill>
                <a:latin typeface="Arial"/>
                <a:ea typeface="DejaVu Sans"/>
              </a:rPr>
              <a:t>Walidacja</a:t>
            </a:r>
            <a:endParaRPr b="0" lang="pl-PL" sz="950" spc="-1" strike="noStrike">
              <a:latin typeface="Arial"/>
            </a:endParaRPr>
          </a:p>
        </p:txBody>
      </p:sp>
      <p:sp>
        <p:nvSpPr>
          <p:cNvPr id="246" name="TextBox 36"/>
          <p:cNvSpPr/>
          <p:nvPr/>
        </p:nvSpPr>
        <p:spPr>
          <a:xfrm>
            <a:off x="8632080" y="3672360"/>
            <a:ext cx="162720" cy="2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00befe"/>
                </a:solidFill>
                <a:latin typeface="Arial"/>
                <a:ea typeface="DejaVu Sans"/>
              </a:rPr>
              <a:t>›</a:t>
            </a:r>
            <a:endParaRPr b="0" lang="pl-PL" sz="1600" spc="-1" strike="noStrike">
              <a:latin typeface="Arial"/>
            </a:endParaRPr>
          </a:p>
        </p:txBody>
      </p:sp>
      <p:sp>
        <p:nvSpPr>
          <p:cNvPr id="247" name="Rounded Rectangle 37"/>
          <p:cNvSpPr/>
          <p:nvPr/>
        </p:nvSpPr>
        <p:spPr>
          <a:xfrm>
            <a:off x="8778240" y="3474720"/>
            <a:ext cx="1205280" cy="638280"/>
          </a:xfrm>
          <a:prstGeom prst="roundRect">
            <a:avLst>
              <a:gd name="adj" fmla="val 16667"/>
            </a:avLst>
          </a:prstGeom>
          <a:solidFill>
            <a:srgbClr val="0427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8" name="TextBox 38"/>
          <p:cNvSpPr/>
          <p:nvPr/>
        </p:nvSpPr>
        <p:spPr>
          <a:xfrm>
            <a:off x="8814960" y="3721680"/>
            <a:ext cx="113220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950" spc="-1" strike="noStrike">
                <a:solidFill>
                  <a:srgbClr val="ffffff"/>
                </a:solidFill>
                <a:latin typeface="Arial"/>
                <a:ea typeface="DejaVu Sans"/>
              </a:rPr>
              <a:t>Aktualizacja</a:t>
            </a:r>
            <a:endParaRPr b="0" lang="pl-PL" sz="950" spc="-1" strike="noStrike">
              <a:latin typeface="Arial"/>
            </a:endParaRPr>
          </a:p>
        </p:txBody>
      </p:sp>
      <p:sp>
        <p:nvSpPr>
          <p:cNvPr id="249" name="TextBox 39"/>
          <p:cNvSpPr/>
          <p:nvPr/>
        </p:nvSpPr>
        <p:spPr>
          <a:xfrm>
            <a:off x="9966960" y="3672360"/>
            <a:ext cx="162720" cy="2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00befe"/>
                </a:solidFill>
                <a:latin typeface="Arial"/>
                <a:ea typeface="DejaVu Sans"/>
              </a:rPr>
              <a:t>›</a:t>
            </a:r>
            <a:endParaRPr b="0" lang="pl-PL" sz="1600" spc="-1" strike="noStrike">
              <a:latin typeface="Arial"/>
            </a:endParaRPr>
          </a:p>
        </p:txBody>
      </p:sp>
      <p:sp>
        <p:nvSpPr>
          <p:cNvPr id="250" name="Rounded Rectangle 40"/>
          <p:cNvSpPr/>
          <p:nvPr/>
        </p:nvSpPr>
        <p:spPr>
          <a:xfrm>
            <a:off x="10113120" y="3474720"/>
            <a:ext cx="1205280" cy="638280"/>
          </a:xfrm>
          <a:prstGeom prst="roundRect">
            <a:avLst>
              <a:gd name="adj" fmla="val 16667"/>
            </a:avLst>
          </a:prstGeom>
          <a:solidFill>
            <a:srgbClr val="0427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1" name="TextBox 41"/>
          <p:cNvSpPr/>
          <p:nvPr/>
        </p:nvSpPr>
        <p:spPr>
          <a:xfrm>
            <a:off x="10149840" y="3721680"/>
            <a:ext cx="113220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950" spc="-1" strike="noStrike">
                <a:solidFill>
                  <a:srgbClr val="ffffff"/>
                </a:solidFill>
                <a:latin typeface="Arial"/>
                <a:ea typeface="DejaVu Sans"/>
              </a:rPr>
              <a:t>Ponowny trening</a:t>
            </a:r>
            <a:endParaRPr b="0" lang="pl-PL" sz="950" spc="-1" strike="noStrike">
              <a:latin typeface="Arial"/>
            </a:endParaRPr>
          </a:p>
        </p:txBody>
      </p:sp>
      <p:sp>
        <p:nvSpPr>
          <p:cNvPr id="252" name="Rounded Rectangle 42"/>
          <p:cNvSpPr/>
          <p:nvPr/>
        </p:nvSpPr>
        <p:spPr>
          <a:xfrm>
            <a:off x="768240" y="4389120"/>
            <a:ext cx="10650960" cy="684000"/>
          </a:xfrm>
          <a:prstGeom prst="roundRect">
            <a:avLst>
              <a:gd name="adj" fmla="val 16667"/>
            </a:avLst>
          </a:prstGeom>
          <a:solidFill>
            <a:srgbClr val="f2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3" name="Rectangle 43"/>
          <p:cNvSpPr/>
          <p:nvPr/>
        </p:nvSpPr>
        <p:spPr>
          <a:xfrm>
            <a:off x="768240" y="4389120"/>
            <a:ext cx="48960" cy="684000"/>
          </a:xfrm>
          <a:prstGeom prst="rect">
            <a:avLst/>
          </a:prstGeom>
          <a:solidFill>
            <a:srgbClr val="c97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4" name="TextBox 44"/>
          <p:cNvSpPr/>
          <p:nvPr/>
        </p:nvSpPr>
        <p:spPr>
          <a:xfrm>
            <a:off x="1024200" y="4542120"/>
            <a:ext cx="10193760" cy="41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5000"/>
              </a:lnSpc>
              <a:buNone/>
            </a:pPr>
            <a:r>
              <a:rPr b="0" lang="en-US" sz="1300" spc="-1" strike="noStrike">
                <a:solidFill>
                  <a:srgbClr val="6b6478"/>
                </a:solidFill>
                <a:latin typeface="Arial"/>
                <a:ea typeface="DejaVu Sans"/>
              </a:rPr>
              <a:t>Bezpieczniejsza niż „weź dane → wygeneruj 10× więcej → trenuj”. Samo zwiększenie liczby przykładów nie gwarantuje poprawy — może nawet pogorszyć wynik.</a:t>
            </a:r>
            <a:endParaRPr b="0" lang="pl-PL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99;p2"/>
          <p:cNvSpPr/>
          <p:nvPr/>
        </p:nvSpPr>
        <p:spPr>
          <a:xfrm>
            <a:off x="683280" y="495000"/>
            <a:ext cx="11110320" cy="96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6" name="Google Shape;100;p2"/>
          <p:cNvSpPr/>
          <p:nvPr/>
        </p:nvSpPr>
        <p:spPr>
          <a:xfrm>
            <a:off x="4010760" y="2105280"/>
            <a:ext cx="8179560" cy="302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90000"/>
              </a:lnSpc>
              <a:buNone/>
            </a:pPr>
            <a:endParaRPr b="0" lang="pl-PL" sz="3200" spc="-1" strike="noStrike">
              <a:latin typeface="Arial"/>
            </a:endParaRPr>
          </a:p>
          <a:p>
            <a:pPr>
              <a:lnSpc>
                <a:spcPct val="90000"/>
              </a:lnSpc>
              <a:buNone/>
            </a:pPr>
            <a:r>
              <a:rPr b="1" lang="pl-PL" sz="2000" spc="-1" strike="noStrike">
                <a:solidFill>
                  <a:srgbClr val="1b0532"/>
                </a:solidFill>
                <a:latin typeface="Calibri"/>
                <a:ea typeface="DejaVu Sans"/>
              </a:rPr>
              <a:t>cel: </a:t>
            </a:r>
            <a:r>
              <a:rPr b="0" lang="pl-PL" sz="2000" spc="-1" strike="noStrike">
                <a:solidFill>
                  <a:srgbClr val="1b0532"/>
                </a:solidFill>
                <a:latin typeface="Calibri"/>
                <a:ea typeface="DejaVu Sans"/>
              </a:rPr>
              <a:t>usprawnienie nawigacji beneficjentów w systemie bezpłatnej pomocy psychologicznej w Warszawie;</a:t>
            </a:r>
            <a:endParaRPr b="0" lang="pl-PL" sz="2000" spc="-1" strike="noStrike">
              <a:latin typeface="Arial"/>
            </a:endParaRPr>
          </a:p>
          <a:p>
            <a:pPr>
              <a:lnSpc>
                <a:spcPct val="90000"/>
              </a:lnSpc>
              <a:buNone/>
            </a:pPr>
            <a:endParaRPr b="0" lang="pl-PL" sz="2000" spc="-1" strike="noStrike">
              <a:latin typeface="Arial"/>
            </a:endParaRPr>
          </a:p>
          <a:p>
            <a:pPr>
              <a:lnSpc>
                <a:spcPct val="90000"/>
              </a:lnSpc>
              <a:buNone/>
            </a:pPr>
            <a:r>
              <a:rPr b="1" lang="pl-PL" sz="2000" spc="-1" strike="noStrike">
                <a:solidFill>
                  <a:srgbClr val="1b0532"/>
                </a:solidFill>
                <a:latin typeface="Calibri"/>
                <a:ea typeface="DejaVu Sans"/>
              </a:rPr>
              <a:t>kryterium: </a:t>
            </a:r>
            <a:r>
              <a:rPr b="0" lang="pl-PL" sz="2000" spc="-1" strike="noStrike">
                <a:solidFill>
                  <a:srgbClr val="1b0532"/>
                </a:solidFill>
                <a:latin typeface="Calibri"/>
                <a:ea typeface="DejaVu Sans"/>
              </a:rPr>
              <a:t>przedstawienie beneficjentowi danych teleadresowych adekwatnej placówki w szybkim czasie;</a:t>
            </a:r>
            <a:endParaRPr b="0" lang="pl-PL" sz="2000" spc="-1" strike="noStrike">
              <a:latin typeface="Arial"/>
            </a:endParaRPr>
          </a:p>
          <a:p>
            <a:pPr>
              <a:lnSpc>
                <a:spcPct val="90000"/>
              </a:lnSpc>
              <a:buNone/>
            </a:pPr>
            <a:endParaRPr b="0" lang="pl-PL" sz="2000" spc="-1" strike="noStrike">
              <a:latin typeface="Arial"/>
            </a:endParaRPr>
          </a:p>
          <a:p>
            <a:pPr>
              <a:lnSpc>
                <a:spcPct val="90000"/>
              </a:lnSpc>
              <a:buNone/>
            </a:pPr>
            <a:r>
              <a:rPr b="1" lang="pl-PL" sz="2000" spc="-1" strike="noStrike">
                <a:solidFill>
                  <a:srgbClr val="1b0532"/>
                </a:solidFill>
                <a:latin typeface="Calibri"/>
                <a:ea typeface="DejaVu Sans"/>
              </a:rPr>
              <a:t>produkt końcowy: </a:t>
            </a:r>
            <a:r>
              <a:rPr b="0" lang="pl-PL" sz="2000" spc="-1" strike="noStrike">
                <a:solidFill>
                  <a:srgbClr val="1b0532"/>
                </a:solidFill>
                <a:latin typeface="Calibri"/>
                <a:ea typeface="DejaVu Sans"/>
              </a:rPr>
              <a:t>Chatbot Helpi</a:t>
            </a:r>
            <a:endParaRPr b="0" lang="pl-PL" sz="2000" spc="-1" strike="noStrike">
              <a:latin typeface="Arial"/>
            </a:endParaRPr>
          </a:p>
          <a:p>
            <a:pPr>
              <a:lnSpc>
                <a:spcPct val="90000"/>
              </a:lnSpc>
              <a:buNone/>
            </a:pPr>
            <a:endParaRPr b="0" lang="pl-PL" sz="2000" spc="-1" strike="noStrike">
              <a:latin typeface="Arial"/>
            </a:endParaRPr>
          </a:p>
        </p:txBody>
      </p:sp>
      <p:sp>
        <p:nvSpPr>
          <p:cNvPr id="257" name="Google Shape;101;p2"/>
          <p:cNvSpPr/>
          <p:nvPr/>
        </p:nvSpPr>
        <p:spPr>
          <a:xfrm>
            <a:off x="223200" y="6287400"/>
            <a:ext cx="54072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8" name="Google Shape;102;p2"/>
          <p:cNvSpPr/>
          <p:nvPr/>
        </p:nvSpPr>
        <p:spPr>
          <a:xfrm>
            <a:off x="765720" y="6287400"/>
            <a:ext cx="461808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9" name="pole tekstowe 2"/>
          <p:cNvSpPr/>
          <p:nvPr/>
        </p:nvSpPr>
        <p:spPr>
          <a:xfrm>
            <a:off x="3049200" y="3275280"/>
            <a:ext cx="6091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pl-PL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 </a:t>
            </a:r>
            <a:endParaRPr b="0" lang="pl-PL" sz="1800" spc="-1" strike="noStrike">
              <a:latin typeface="Arial"/>
            </a:endParaRPr>
          </a:p>
        </p:txBody>
      </p:sp>
      <p:pic>
        <p:nvPicPr>
          <p:cNvPr id="260" name="Obraz 3" descr=""/>
          <p:cNvPicPr/>
          <p:nvPr/>
        </p:nvPicPr>
        <p:blipFill>
          <a:blip r:embed="rId1"/>
          <a:stretch/>
        </p:blipFill>
        <p:spPr>
          <a:xfrm>
            <a:off x="6506640" y="426240"/>
            <a:ext cx="2634480" cy="1222920"/>
          </a:xfrm>
          <a:prstGeom prst="rect">
            <a:avLst/>
          </a:prstGeom>
          <a:ln w="0">
            <a:noFill/>
          </a:ln>
        </p:spPr>
      </p:pic>
      <p:pic>
        <p:nvPicPr>
          <p:cNvPr id="261" name="Obraz 5" descr=""/>
          <p:cNvPicPr/>
          <p:nvPr/>
        </p:nvPicPr>
        <p:blipFill>
          <a:blip r:embed="rId2"/>
          <a:srcRect l="4033" t="328" r="4700" b="0"/>
          <a:stretch/>
        </p:blipFill>
        <p:spPr>
          <a:xfrm>
            <a:off x="500040" y="495000"/>
            <a:ext cx="2941560" cy="5837760"/>
          </a:xfrm>
          <a:prstGeom prst="rect">
            <a:avLst/>
          </a:prstGeom>
          <a:ln w="0">
            <a:noFill/>
          </a:ln>
        </p:spPr>
      </p:pic>
      <p:sp>
        <p:nvSpPr>
          <p:cNvPr id="262" name="Rectangle 102"/>
          <p:cNvSpPr/>
          <p:nvPr/>
        </p:nvSpPr>
        <p:spPr>
          <a:xfrm>
            <a:off x="0" y="6437520"/>
            <a:ext cx="12189960" cy="13320"/>
          </a:xfrm>
          <a:prstGeom prst="rect">
            <a:avLst/>
          </a:prstGeom>
          <a:solidFill>
            <a:srgbClr val="f2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3" name="TextBox 103"/>
          <p:cNvSpPr/>
          <p:nvPr/>
        </p:nvSpPr>
        <p:spPr>
          <a:xfrm>
            <a:off x="3514320" y="6473880"/>
            <a:ext cx="273528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b6478"/>
                </a:solidFill>
                <a:latin typeface="Arial"/>
                <a:ea typeface="DejaVu Sans"/>
              </a:rPr>
              <a:t>DSS 2026 AI Edition  ·  Studium przypadku · Helpi</a:t>
            </a:r>
            <a:endParaRPr b="0" lang="pl-PL" sz="900" spc="-1" strike="noStrike">
              <a:latin typeface="Arial"/>
            </a:endParaRPr>
          </a:p>
        </p:txBody>
      </p:sp>
      <p:sp>
        <p:nvSpPr>
          <p:cNvPr id="264" name="TextBox 104"/>
          <p:cNvSpPr/>
          <p:nvPr/>
        </p:nvSpPr>
        <p:spPr>
          <a:xfrm>
            <a:off x="10863720" y="6473880"/>
            <a:ext cx="3078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b6478"/>
                </a:solidFill>
                <a:latin typeface="Arial"/>
                <a:ea typeface="DejaVu Sans"/>
              </a:rPr>
              <a:t>12</a:t>
            </a:r>
            <a:endParaRPr b="0" lang="pl-PL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62;p3"/>
          <p:cNvSpPr/>
          <p:nvPr/>
        </p:nvSpPr>
        <p:spPr>
          <a:xfrm>
            <a:off x="825480" y="419760"/>
            <a:ext cx="5635080" cy="92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rmAutofit fontScale="81000"/>
          </a:bodyPr>
          <a:p>
            <a:pPr>
              <a:lnSpc>
                <a:spcPct val="108000"/>
              </a:lnSpc>
              <a:buNone/>
            </a:pPr>
            <a:r>
              <a:rPr b="1" lang="en-US" sz="3300" spc="-1" strike="noStrike">
                <a:solidFill>
                  <a:srgbClr val="1a1a1a"/>
                </a:solidFill>
                <a:latin typeface="Calibri"/>
                <a:ea typeface="DejaVu Sans"/>
              </a:rPr>
              <a:t>Budowa języka i pierwszego zbioru danych</a:t>
            </a:r>
            <a:endParaRPr b="0" lang="pl-PL" sz="3300" spc="-1" strike="noStrike">
              <a:latin typeface="Arial"/>
            </a:endParaRPr>
          </a:p>
        </p:txBody>
      </p:sp>
      <p:sp>
        <p:nvSpPr>
          <p:cNvPr id="266" name="Google Shape;63;p3"/>
          <p:cNvSpPr/>
          <p:nvPr/>
        </p:nvSpPr>
        <p:spPr>
          <a:xfrm>
            <a:off x="825480" y="1455840"/>
            <a:ext cx="5635080" cy="88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rmAutofit fontScale="81000"/>
          </a:bodyPr>
          <a:p>
            <a:pPr>
              <a:lnSpc>
                <a:spcPct val="150000"/>
              </a:lnSpc>
              <a:buNone/>
            </a:pPr>
            <a:r>
              <a:rPr b="0" lang="en-US" sz="1500" spc="-1" strike="noStrike">
                <a:solidFill>
                  <a:srgbClr val="555555"/>
                </a:solidFill>
                <a:latin typeface="Calibri"/>
                <a:ea typeface="DejaVu Sans"/>
              </a:rPr>
              <a:t>Narzędzie </a:t>
            </a:r>
            <a:r>
              <a:rPr b="1" lang="en-US" sz="1500" spc="-1" strike="noStrike">
                <a:solidFill>
                  <a:srgbClr val="1a1a1a"/>
                </a:solidFill>
                <a:latin typeface="Calibri"/>
                <a:ea typeface="DejaVu Sans"/>
              </a:rPr>
              <a:t>Helpi-Lab </a:t>
            </a:r>
            <a:r>
              <a:rPr b="0" lang="en-US" sz="1500" spc="-1" strike="noStrike">
                <a:solidFill>
                  <a:srgbClr val="555555"/>
                </a:solidFill>
                <a:latin typeface="Calibri"/>
                <a:ea typeface="DejaVu Sans"/>
              </a:rPr>
              <a:t>— aplikacja badawcza, w której testerzy wcielali się w różne role (rodzic szukający pomocy dla dziecka, osoba w kryzysie, student) i pisali naturalne zapytania.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267" name="Google Shape;64;p3"/>
          <p:cNvSpPr/>
          <p:nvPr/>
        </p:nvSpPr>
        <p:spPr>
          <a:xfrm>
            <a:off x="825480" y="2445480"/>
            <a:ext cx="5470920" cy="1692720"/>
          </a:xfrm>
          <a:prstGeom prst="roundRect">
            <a:avLst>
              <a:gd name="adj" fmla="val 5996"/>
            </a:avLst>
          </a:prstGeom>
          <a:solidFill>
            <a:srgbClr val="ffffff"/>
          </a:solidFill>
          <a:ln w="11900">
            <a:solidFill>
              <a:srgbClr val="e8e2d4"/>
            </a:solidFill>
            <a:round/>
          </a:ln>
          <a:effectLst>
            <a:outerShdw algn="bl" blurRad="152280" dir="5400000" dist="19080" rotWithShape="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8" name="Google Shape;65;p3"/>
          <p:cNvSpPr/>
          <p:nvPr/>
        </p:nvSpPr>
        <p:spPr>
          <a:xfrm>
            <a:off x="1074600" y="2777040"/>
            <a:ext cx="512172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rmAutofit fontScale="82000"/>
          </a:bodyPr>
          <a:p>
            <a:pPr>
              <a:lnSpc>
                <a:spcPct val="90000"/>
              </a:lnSpc>
              <a:buNone/>
            </a:pPr>
            <a:r>
              <a:rPr b="1" lang="en-US" sz="6400" spc="-1" strike="noStrike">
                <a:solidFill>
                  <a:srgbClr val="b58827"/>
                </a:solidFill>
                <a:latin typeface="Calibri"/>
                <a:ea typeface="DejaVu Sans"/>
              </a:rPr>
              <a:t>680</a:t>
            </a:r>
            <a:endParaRPr b="0" lang="pl-PL" sz="6400" spc="-1" strike="noStrike">
              <a:latin typeface="Arial"/>
            </a:endParaRPr>
          </a:p>
        </p:txBody>
      </p:sp>
      <p:sp>
        <p:nvSpPr>
          <p:cNvPr id="269" name="Google Shape;66;p3"/>
          <p:cNvSpPr/>
          <p:nvPr/>
        </p:nvSpPr>
        <p:spPr>
          <a:xfrm>
            <a:off x="1074600" y="3597480"/>
            <a:ext cx="5121720" cy="45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rmAutofit fontScale="81000"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555555"/>
                </a:solidFill>
                <a:latin typeface="Calibri"/>
                <a:ea typeface="DejaVu Sans"/>
              </a:rPr>
              <a:t>ręcznie zaanotowanych oczekiwanych zakresów tematycznych i językowych użytkownika — „seed dataset”.</a:t>
            </a:r>
            <a:endParaRPr b="0" lang="pl-PL" sz="1200" spc="-1" strike="noStrike">
              <a:latin typeface="Arial"/>
            </a:endParaRPr>
          </a:p>
        </p:txBody>
      </p:sp>
      <p:sp>
        <p:nvSpPr>
          <p:cNvPr id="270" name="Google Shape;67;p3"/>
          <p:cNvSpPr/>
          <p:nvPr/>
        </p:nvSpPr>
        <p:spPr>
          <a:xfrm>
            <a:off x="825480" y="4417920"/>
            <a:ext cx="5470920" cy="1838880"/>
          </a:xfrm>
          <a:prstGeom prst="roundRect">
            <a:avLst>
              <a:gd name="adj" fmla="val 6548"/>
            </a:avLst>
          </a:prstGeom>
          <a:solidFill>
            <a:srgbClr val="ffffff">
              <a:alpha val="97000"/>
            </a:srgbClr>
          </a:solidFill>
          <a:ln w="11900">
            <a:solidFill>
              <a:srgbClr val="e8e2d4">
                <a:alpha val="97000"/>
              </a:srgbClr>
            </a:solidFill>
            <a:round/>
          </a:ln>
          <a:effectLst>
            <a:outerShdw algn="bl" blurRad="152280" dir="5400000" dist="19080" rotWithShape="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1" name="Google Shape;68;p3"/>
          <p:cNvSpPr/>
          <p:nvPr/>
        </p:nvSpPr>
        <p:spPr>
          <a:xfrm>
            <a:off x="1074600" y="4592880"/>
            <a:ext cx="4972680" cy="258480"/>
          </a:xfrm>
          <a:prstGeom prst="roundRect">
            <a:avLst>
              <a:gd name="adj" fmla="val 19523"/>
            </a:avLst>
          </a:prstGeom>
          <a:solidFill>
            <a:srgbClr val="eaf1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2" name="Google Shape;69;p3"/>
          <p:cNvSpPr/>
          <p:nvPr/>
        </p:nvSpPr>
        <p:spPr>
          <a:xfrm>
            <a:off x="1176120" y="4607640"/>
            <a:ext cx="491868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1867aa"/>
                </a:solidFill>
                <a:latin typeface="Calibri"/>
                <a:ea typeface="DejaVu Sans"/>
              </a:rPr>
              <a:t>TAKSONOMIA + TŁUMACZONE ZBIORY</a:t>
            </a:r>
            <a:endParaRPr b="0" lang="pl-PL" sz="1000" spc="-1" strike="noStrike">
              <a:latin typeface="Arial"/>
            </a:endParaRPr>
          </a:p>
        </p:txBody>
      </p:sp>
      <p:sp>
        <p:nvSpPr>
          <p:cNvPr id="273" name="Google Shape;70;p3"/>
          <p:cNvSpPr/>
          <p:nvPr/>
        </p:nvSpPr>
        <p:spPr>
          <a:xfrm>
            <a:off x="1074600" y="4846680"/>
            <a:ext cx="5121720" cy="11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rmAutofit fontScale="94000"/>
          </a:bodyPr>
          <a:p>
            <a:pPr>
              <a:lnSpc>
                <a:spcPct val="155000"/>
              </a:lnSpc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DejaVu Sans"/>
              </a:rPr>
              <a:t>Zbiory </a:t>
            </a:r>
            <a:r>
              <a:rPr b="1" lang="en-US" sz="1300" spc="-1" strike="noStrike">
                <a:solidFill>
                  <a:srgbClr val="1a1a1a"/>
                </a:solidFill>
                <a:latin typeface="Calibri"/>
                <a:ea typeface="DejaVu Sans"/>
              </a:rPr>
              <a:t>mental health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DejaVu Sans"/>
              </a:rPr>
              <a:t>z HuggingFace przetłumaczono na polski, a na podstawie przeszukiwania (crawling)  stron placówek zdefiniowano: </a:t>
            </a:r>
            <a:r>
              <a:rPr b="1" lang="en-US" sz="1300" spc="-1" strike="noStrike">
                <a:solidFill>
                  <a:srgbClr val="1a1a1a"/>
                </a:solidFill>
                <a:latin typeface="Calibri"/>
                <a:ea typeface="DejaVu Sans"/>
              </a:rPr>
              <a:t>typy usług (T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DejaVu Sans"/>
              </a:rPr>
              <a:t>ypes</a:t>
            </a:r>
            <a:r>
              <a:rPr b="1" lang="en-US" sz="1300" spc="-1" strike="noStrike">
                <a:solidFill>
                  <a:srgbClr val="1a1a1a"/>
                </a:solidFill>
                <a:latin typeface="Calibri"/>
                <a:ea typeface="DejaVu Sans"/>
              </a:rPr>
              <a:t> O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DejaVu Sans"/>
              </a:rPr>
              <a:t>f </a:t>
            </a:r>
            <a:r>
              <a:rPr b="1" lang="en-US" sz="1300" spc="-1" strike="noStrike">
                <a:solidFill>
                  <a:srgbClr val="1a1a1a"/>
                </a:solidFill>
                <a:latin typeface="Calibri"/>
                <a:ea typeface="DejaVu Sans"/>
              </a:rPr>
              <a:t>S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DejaVu Sans"/>
              </a:rPr>
              <a:t>ervices</a:t>
            </a:r>
            <a:r>
              <a:rPr b="1" lang="en-US" sz="1300" spc="-1" strike="noStrike">
                <a:solidFill>
                  <a:srgbClr val="1a1a1a"/>
                </a:solidFill>
                <a:latin typeface="Calibri"/>
                <a:ea typeface="DejaVu Sans"/>
              </a:rPr>
              <a:t>)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DejaVu Sans"/>
              </a:rPr>
              <a:t>i </a:t>
            </a:r>
            <a:r>
              <a:rPr b="1" lang="en-US" sz="1300" spc="-1" strike="noStrike">
                <a:solidFill>
                  <a:srgbClr val="1a1a1a"/>
                </a:solidFill>
                <a:latin typeface="Calibri"/>
                <a:ea typeface="DejaVu Sans"/>
              </a:rPr>
              <a:t>grupy docelowe (T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DejaVu Sans"/>
              </a:rPr>
              <a:t>arget</a:t>
            </a:r>
            <a:r>
              <a:rPr b="1" lang="en-US" sz="1300" spc="-1" strike="noStrike">
                <a:solidFill>
                  <a:srgbClr val="1a1a1a"/>
                </a:solidFill>
                <a:latin typeface="Calibri"/>
                <a:ea typeface="DejaVu Sans"/>
              </a:rPr>
              <a:t> G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DejaVu Sans"/>
              </a:rPr>
              <a:t>roups</a:t>
            </a:r>
            <a:r>
              <a:rPr b="1" lang="en-US" sz="1300" spc="-1" strike="noStrike">
                <a:solidFill>
                  <a:srgbClr val="1a1a1a"/>
                </a:solidFill>
                <a:latin typeface="Calibri"/>
                <a:ea typeface="DejaVu Sans"/>
              </a:rPr>
              <a:t>)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DejaVu Sans"/>
              </a:rPr>
              <a:t>.</a:t>
            </a:r>
            <a:endParaRPr b="0" lang="pl-PL" sz="1300" spc="-1" strike="noStrike">
              <a:latin typeface="Arial"/>
            </a:endParaRPr>
          </a:p>
        </p:txBody>
      </p:sp>
      <p:sp>
        <p:nvSpPr>
          <p:cNvPr id="274" name="Google Shape;71;p3"/>
          <p:cNvSpPr/>
          <p:nvPr/>
        </p:nvSpPr>
        <p:spPr>
          <a:xfrm>
            <a:off x="6896160" y="784080"/>
            <a:ext cx="4276440" cy="4830840"/>
          </a:xfrm>
          <a:prstGeom prst="roundRect">
            <a:avLst>
              <a:gd name="adj" fmla="val 2375"/>
            </a:avLst>
          </a:prstGeom>
          <a:solidFill>
            <a:srgbClr val="ffffff"/>
          </a:solidFill>
          <a:ln w="11900">
            <a:solidFill>
              <a:srgbClr val="e8e2d4"/>
            </a:solidFill>
            <a:round/>
          </a:ln>
          <a:effectLst>
            <a:outerShdw algn="bl" blurRad="266760" dir="5400000" dist="7632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275" name="Google Shape;72;p3" descr="preencoded.png"/>
          <p:cNvPicPr/>
          <p:nvPr/>
        </p:nvPicPr>
        <p:blipFill>
          <a:blip r:embed="rId1"/>
          <a:stretch/>
        </p:blipFill>
        <p:spPr>
          <a:xfrm>
            <a:off x="6904440" y="792000"/>
            <a:ext cx="4260600" cy="4815000"/>
          </a:xfrm>
          <a:prstGeom prst="rect">
            <a:avLst/>
          </a:prstGeom>
          <a:ln w="0">
            <a:noFill/>
          </a:ln>
        </p:spPr>
      </p:pic>
      <p:sp>
        <p:nvSpPr>
          <p:cNvPr id="276" name="Google Shape;73;p3"/>
          <p:cNvSpPr/>
          <p:nvPr/>
        </p:nvSpPr>
        <p:spPr>
          <a:xfrm>
            <a:off x="6634800" y="5730840"/>
            <a:ext cx="4799880" cy="2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rmAutofit fontScale="79000"/>
          </a:bodyPr>
          <a:p>
            <a:pPr algn="ctr">
              <a:lnSpc>
                <a:spcPct val="150000"/>
              </a:lnSpc>
              <a:buNone/>
            </a:pPr>
            <a:r>
              <a:rPr b="0" lang="en-US" sz="1200" spc="-1" strike="noStrike">
                <a:solidFill>
                  <a:srgbClr val="888888"/>
                </a:solidFill>
                <a:latin typeface="Calibri"/>
                <a:ea typeface="DejaVu Sans"/>
              </a:rPr>
              <a:t>Helpi-Lab — interfejs asystenta badawczego z rundami scenariuszy</a:t>
            </a:r>
            <a:endParaRPr b="0" lang="pl-PL" sz="1200" spc="-1" strike="noStrike">
              <a:latin typeface="Arial"/>
            </a:endParaRPr>
          </a:p>
        </p:txBody>
      </p:sp>
      <p:sp>
        <p:nvSpPr>
          <p:cNvPr id="277" name="Rectangle 73"/>
          <p:cNvSpPr/>
          <p:nvPr/>
        </p:nvSpPr>
        <p:spPr>
          <a:xfrm>
            <a:off x="0" y="6437520"/>
            <a:ext cx="12189960" cy="13320"/>
          </a:xfrm>
          <a:prstGeom prst="rect">
            <a:avLst/>
          </a:prstGeom>
          <a:solidFill>
            <a:srgbClr val="f2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8" name="TextBox 74"/>
          <p:cNvSpPr/>
          <p:nvPr/>
        </p:nvSpPr>
        <p:spPr>
          <a:xfrm>
            <a:off x="3514320" y="6473880"/>
            <a:ext cx="273528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b6478"/>
                </a:solidFill>
                <a:latin typeface="Arial"/>
                <a:ea typeface="DejaVu Sans"/>
              </a:rPr>
              <a:t>DSS 2026 AI Edition  ·  Studium przypadku · Helpi</a:t>
            </a:r>
            <a:endParaRPr b="0" lang="pl-PL" sz="900" spc="-1" strike="noStrike">
              <a:latin typeface="Arial"/>
            </a:endParaRPr>
          </a:p>
        </p:txBody>
      </p:sp>
      <p:sp>
        <p:nvSpPr>
          <p:cNvPr id="279" name="TextBox 75"/>
          <p:cNvSpPr/>
          <p:nvPr/>
        </p:nvSpPr>
        <p:spPr>
          <a:xfrm>
            <a:off x="10863720" y="6473880"/>
            <a:ext cx="3078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b6478"/>
                </a:solidFill>
                <a:latin typeface="Arial"/>
                <a:ea typeface="DejaVu Sans"/>
              </a:rPr>
              <a:t>13</a:t>
            </a:r>
            <a:endParaRPr b="0" lang="pl-PL" sz="900" spc="-1" strike="noStrike">
              <a:latin typeface="Arial"/>
            </a:endParaRPr>
          </a:p>
        </p:txBody>
      </p:sp>
      <p:sp>
        <p:nvSpPr>
          <p:cNvPr id="280" name="Rectangle 76"/>
          <p:cNvSpPr/>
          <p:nvPr/>
        </p:nvSpPr>
        <p:spPr>
          <a:xfrm>
            <a:off x="825480" y="1360080"/>
            <a:ext cx="1369800" cy="42480"/>
          </a:xfrm>
          <a:prstGeom prst="rect">
            <a:avLst/>
          </a:prstGeom>
          <a:solidFill>
            <a:srgbClr val="00be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79;p4"/>
          <p:cNvSpPr/>
          <p:nvPr/>
        </p:nvSpPr>
        <p:spPr>
          <a:xfrm>
            <a:off x="1020240" y="571680"/>
            <a:ext cx="4068360" cy="5027760"/>
          </a:xfrm>
          <a:prstGeom prst="roundRect">
            <a:avLst>
              <a:gd name="adj" fmla="val 2496"/>
            </a:avLst>
          </a:prstGeom>
          <a:solidFill>
            <a:srgbClr val="ffffff"/>
          </a:solidFill>
          <a:ln w="11900">
            <a:solidFill>
              <a:srgbClr val="e8e2d4"/>
            </a:solidFill>
            <a:round/>
          </a:ln>
          <a:effectLst>
            <a:outerShdw algn="bl" blurRad="266760" dir="5400000" dist="7632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282" name="Google Shape;80;p4" descr="preencoded.png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1028160" y="579600"/>
            <a:ext cx="4052520" cy="5011920"/>
          </a:xfrm>
          <a:prstGeom prst="rect">
            <a:avLst/>
          </a:prstGeom>
          <a:ln w="0">
            <a:noFill/>
          </a:ln>
        </p:spPr>
      </p:pic>
      <p:sp>
        <p:nvSpPr>
          <p:cNvPr id="283" name="Google Shape;81;p4"/>
          <p:cNvSpPr/>
          <p:nvPr/>
        </p:nvSpPr>
        <p:spPr>
          <a:xfrm>
            <a:off x="758520" y="5715360"/>
            <a:ext cx="4591080" cy="48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rmAutofit fontScale="81000"/>
          </a:bodyPr>
          <a:p>
            <a:pPr algn="ctr">
              <a:lnSpc>
                <a:spcPct val="150000"/>
              </a:lnSpc>
              <a:buNone/>
            </a:pPr>
            <a:r>
              <a:rPr b="0" lang="en-US" sz="1200" spc="-1" strike="noStrike">
                <a:solidFill>
                  <a:srgbClr val="888888"/>
                </a:solidFill>
                <a:latin typeface="Calibri"/>
                <a:ea typeface="DejaVu Sans"/>
              </a:rPr>
              <a:t>Helpi Inference (TOS, TG) — testowanie klasyfikatorów i rozkład prawdopodobieństw</a:t>
            </a:r>
            <a:endParaRPr b="0" lang="pl-PL" sz="1200" spc="-1" strike="noStrike">
              <a:latin typeface="Arial"/>
            </a:endParaRPr>
          </a:p>
        </p:txBody>
      </p:sp>
      <p:sp>
        <p:nvSpPr>
          <p:cNvPr id="284" name="Google Shape;83;p4"/>
          <p:cNvSpPr/>
          <p:nvPr/>
        </p:nvSpPr>
        <p:spPr>
          <a:xfrm>
            <a:off x="5691240" y="1323360"/>
            <a:ext cx="5843880" cy="92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rmAutofit fontScale="82000"/>
          </a:bodyPr>
          <a:p>
            <a:pPr>
              <a:lnSpc>
                <a:spcPct val="108000"/>
              </a:lnSpc>
              <a:buNone/>
            </a:pPr>
            <a:r>
              <a:rPr b="1" lang="en-US" sz="3300" spc="-1" strike="noStrike">
                <a:solidFill>
                  <a:srgbClr val="1a1a1a"/>
                </a:solidFill>
                <a:latin typeface="Calibri"/>
                <a:ea typeface="DejaVu Sans"/>
              </a:rPr>
              <a:t>Anotacja i trening modeli klasyfikacyjnych</a:t>
            </a:r>
            <a:endParaRPr b="0" lang="pl-PL" sz="3300" spc="-1" strike="noStrike">
              <a:latin typeface="Arial"/>
            </a:endParaRPr>
          </a:p>
        </p:txBody>
      </p:sp>
      <p:sp>
        <p:nvSpPr>
          <p:cNvPr id="285" name="Google Shape;84;p4"/>
          <p:cNvSpPr/>
          <p:nvPr/>
        </p:nvSpPr>
        <p:spPr>
          <a:xfrm>
            <a:off x="5691240" y="2418840"/>
            <a:ext cx="5843880" cy="88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rmAutofit fontScale="82000"/>
          </a:bodyPr>
          <a:p>
            <a:pPr>
              <a:lnSpc>
                <a:spcPct val="150000"/>
              </a:lnSpc>
              <a:buNone/>
            </a:pPr>
            <a:r>
              <a:rPr b="0" lang="en-US" sz="1500" spc="-1" strike="noStrike">
                <a:solidFill>
                  <a:srgbClr val="555555"/>
                </a:solidFill>
                <a:latin typeface="Calibri"/>
                <a:ea typeface="DejaVu Sans"/>
              </a:rPr>
              <a:t>Model </a:t>
            </a:r>
            <a:r>
              <a:rPr b="1" lang="en-US" sz="1500" spc="-1" strike="noStrike">
                <a:solidFill>
                  <a:srgbClr val="1a1a1a"/>
                </a:solidFill>
                <a:latin typeface="Calibri"/>
                <a:ea typeface="DejaVu Sans"/>
              </a:rPr>
              <a:t>GPT-OSS:120b </a:t>
            </a:r>
            <a:r>
              <a:rPr b="0" lang="en-US" sz="1500" spc="-1" strike="noStrike">
                <a:solidFill>
                  <a:srgbClr val="555555"/>
                </a:solidFill>
                <a:latin typeface="Calibri"/>
                <a:ea typeface="DejaVu Sans"/>
              </a:rPr>
              <a:t>generował wstępne klasyfikacje (typ usługi TOS + grupa docelowa TG), a ludzie weryfikowali i korygowali je w aplikacji </a:t>
            </a:r>
            <a:r>
              <a:rPr b="1" lang="en-US" sz="1500" spc="-1" strike="noStrike">
                <a:solidFill>
                  <a:srgbClr val="1a1a1a"/>
                </a:solidFill>
                <a:latin typeface="Calibri"/>
                <a:ea typeface="DejaVu Sans"/>
              </a:rPr>
              <a:t>Helpi-Lab-Chat-Anno</a:t>
            </a:r>
            <a:r>
              <a:rPr b="0" lang="en-US" sz="1500" spc="-1" strike="noStrike">
                <a:solidFill>
                  <a:srgbClr val="555555"/>
                </a:solidFill>
                <a:latin typeface="Calibri"/>
                <a:ea typeface="DejaVu Sans"/>
              </a:rPr>
              <a:t>.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286" name="Google Shape;85;p4"/>
          <p:cNvSpPr/>
          <p:nvPr/>
        </p:nvSpPr>
        <p:spPr>
          <a:xfrm>
            <a:off x="5691240" y="3467880"/>
            <a:ext cx="2747160" cy="1683360"/>
          </a:xfrm>
          <a:prstGeom prst="roundRect">
            <a:avLst>
              <a:gd name="adj" fmla="val 6030"/>
            </a:avLst>
          </a:prstGeom>
          <a:solidFill>
            <a:srgbClr val="ffffff"/>
          </a:solidFill>
          <a:ln w="11900">
            <a:solidFill>
              <a:srgbClr val="e8e2d4"/>
            </a:solidFill>
            <a:round/>
          </a:ln>
          <a:effectLst>
            <a:outerShdw algn="bl" blurRad="152280" dir="5400000" dist="19080" rotWithShape="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7" name="Google Shape;86;p4"/>
          <p:cNvSpPr/>
          <p:nvPr/>
        </p:nvSpPr>
        <p:spPr>
          <a:xfrm>
            <a:off x="5927400" y="3687120"/>
            <a:ext cx="234216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rmAutofit fontScale="82000"/>
          </a:bodyPr>
          <a:p>
            <a:pPr>
              <a:lnSpc>
                <a:spcPct val="90000"/>
              </a:lnSpc>
              <a:buNone/>
            </a:pPr>
            <a:r>
              <a:rPr b="1" lang="en-US" sz="6400" spc="-1" strike="noStrike">
                <a:solidFill>
                  <a:srgbClr val="b58827"/>
                </a:solidFill>
                <a:latin typeface="Calibri"/>
                <a:ea typeface="DejaVu Sans"/>
              </a:rPr>
              <a:t>4933</a:t>
            </a:r>
            <a:endParaRPr b="0" lang="pl-PL" sz="6400" spc="-1" strike="noStrike">
              <a:latin typeface="Arial"/>
            </a:endParaRPr>
          </a:p>
        </p:txBody>
      </p:sp>
      <p:sp>
        <p:nvSpPr>
          <p:cNvPr id="288" name="Google Shape;87;p4"/>
          <p:cNvSpPr/>
          <p:nvPr/>
        </p:nvSpPr>
        <p:spPr>
          <a:xfrm>
            <a:off x="5791680" y="4507200"/>
            <a:ext cx="2646360" cy="45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rmAutofit fontScale="80000"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555555"/>
                </a:solidFill>
                <a:latin typeface="Calibri"/>
                <a:ea typeface="DejaVu Sans"/>
              </a:rPr>
              <a:t>sprawdzone anotacje (etykietowanie) — pierwszy „oficjalny” dataset.</a:t>
            </a:r>
            <a:endParaRPr b="0" lang="pl-PL" sz="1200" spc="-1" strike="noStrike">
              <a:latin typeface="Arial"/>
            </a:endParaRPr>
          </a:p>
        </p:txBody>
      </p:sp>
      <p:sp>
        <p:nvSpPr>
          <p:cNvPr id="289" name="Google Shape;88;p4"/>
          <p:cNvSpPr/>
          <p:nvPr/>
        </p:nvSpPr>
        <p:spPr>
          <a:xfrm>
            <a:off x="8617680" y="3467880"/>
            <a:ext cx="2747160" cy="1683360"/>
          </a:xfrm>
          <a:prstGeom prst="roundRect">
            <a:avLst>
              <a:gd name="adj" fmla="val 6030"/>
            </a:avLst>
          </a:prstGeom>
          <a:solidFill>
            <a:srgbClr val="ffffff"/>
          </a:solidFill>
          <a:ln w="11900">
            <a:solidFill>
              <a:srgbClr val="e8e2d4"/>
            </a:solidFill>
            <a:round/>
          </a:ln>
          <a:effectLst>
            <a:outerShdw algn="bl" blurRad="152280" dir="5400000" dist="19080" rotWithShape="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0" name="Google Shape;89;p4"/>
          <p:cNvSpPr/>
          <p:nvPr/>
        </p:nvSpPr>
        <p:spPr>
          <a:xfrm>
            <a:off x="8854200" y="3678840"/>
            <a:ext cx="234216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rmAutofit fontScale="82000"/>
          </a:bodyPr>
          <a:p>
            <a:pPr>
              <a:lnSpc>
                <a:spcPct val="90000"/>
              </a:lnSpc>
              <a:buNone/>
            </a:pPr>
            <a:r>
              <a:rPr b="1" lang="en-US" sz="6400" spc="-1" strike="noStrike">
                <a:solidFill>
                  <a:srgbClr val="1867aa"/>
                </a:solidFill>
                <a:latin typeface="Calibri"/>
                <a:ea typeface="DejaVu Sans"/>
              </a:rPr>
              <a:t>2</a:t>
            </a:r>
            <a:endParaRPr b="0" lang="pl-PL" sz="6400" spc="-1" strike="noStrike">
              <a:latin typeface="Arial"/>
            </a:endParaRPr>
          </a:p>
        </p:txBody>
      </p:sp>
      <p:sp>
        <p:nvSpPr>
          <p:cNvPr id="291" name="Google Shape;90;p4"/>
          <p:cNvSpPr/>
          <p:nvPr/>
        </p:nvSpPr>
        <p:spPr>
          <a:xfrm>
            <a:off x="8854200" y="4499280"/>
            <a:ext cx="2342160" cy="46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rmAutofit fontScale="83000"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555555"/>
                </a:solidFill>
                <a:latin typeface="Calibri"/>
                <a:ea typeface="DejaVu Sans"/>
              </a:rPr>
              <a:t>modele klasyfikacyjne: </a:t>
            </a:r>
            <a:r>
              <a:rPr b="1" lang="en-US" sz="1200" spc="-1" strike="noStrike">
                <a:solidFill>
                  <a:srgbClr val="555555"/>
                </a:solidFill>
                <a:latin typeface="Calibri"/>
                <a:ea typeface="DejaVu Sans"/>
              </a:rPr>
              <a:t>TOS </a:t>
            </a:r>
            <a:r>
              <a:rPr b="0" lang="en-US" sz="1200" spc="-1" strike="noStrike">
                <a:solidFill>
                  <a:srgbClr val="555555"/>
                </a:solidFill>
                <a:latin typeface="Calibri"/>
                <a:ea typeface="DejaVu Sans"/>
              </a:rPr>
              <a:t>(typy usług) i </a:t>
            </a:r>
            <a:r>
              <a:rPr b="1" lang="en-US" sz="1200" spc="-1" strike="noStrike">
                <a:solidFill>
                  <a:srgbClr val="555555"/>
                </a:solidFill>
                <a:latin typeface="Calibri"/>
                <a:ea typeface="DejaVu Sans"/>
              </a:rPr>
              <a:t>TG </a:t>
            </a:r>
            <a:r>
              <a:rPr b="0" lang="en-US" sz="1200" spc="-1" strike="noStrike">
                <a:solidFill>
                  <a:srgbClr val="555555"/>
                </a:solidFill>
                <a:latin typeface="Calibri"/>
                <a:ea typeface="DejaVu Sans"/>
              </a:rPr>
              <a:t>(grupy docelowe).</a:t>
            </a:r>
            <a:endParaRPr b="0" lang="pl-PL" sz="1200" spc="-1" strike="noStrike">
              <a:latin typeface="Arial"/>
            </a:endParaRPr>
          </a:p>
        </p:txBody>
      </p:sp>
      <p:sp>
        <p:nvSpPr>
          <p:cNvPr id="292" name="Google Shape;91;p4"/>
          <p:cNvSpPr/>
          <p:nvPr/>
        </p:nvSpPr>
        <p:spPr>
          <a:xfrm>
            <a:off x="5691240" y="5346720"/>
            <a:ext cx="5843880" cy="53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rmAutofit fontScale="82000"/>
          </a:bodyPr>
          <a:p>
            <a:pPr>
              <a:lnSpc>
                <a:spcPct val="155000"/>
              </a:lnSpc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DejaVu Sans"/>
              </a:rPr>
              <a:t>Te modele stały się </a:t>
            </a:r>
            <a:r>
              <a:rPr b="1" lang="en-US" sz="1300" spc="-1" strike="noStrike">
                <a:solidFill>
                  <a:srgbClr val="1a1a1a"/>
                </a:solidFill>
                <a:latin typeface="Calibri"/>
                <a:ea typeface="DejaVu Sans"/>
              </a:rPr>
              <a:t>rdzeniem logiki Helpi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DejaVu Sans"/>
              </a:rPr>
              <a:t>— one decydują, jakie placówki zaproponować użytkownikowi na podstawie opisu problemu.</a:t>
            </a:r>
            <a:endParaRPr b="0" lang="pl-PL" sz="1300" spc="-1" strike="noStrike">
              <a:latin typeface="Arial"/>
            </a:endParaRPr>
          </a:p>
        </p:txBody>
      </p:sp>
      <p:sp>
        <p:nvSpPr>
          <p:cNvPr id="293" name="Rectangle 91"/>
          <p:cNvSpPr/>
          <p:nvPr/>
        </p:nvSpPr>
        <p:spPr>
          <a:xfrm>
            <a:off x="0" y="6437520"/>
            <a:ext cx="12189960" cy="13320"/>
          </a:xfrm>
          <a:prstGeom prst="rect">
            <a:avLst/>
          </a:prstGeom>
          <a:solidFill>
            <a:srgbClr val="f2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4" name="TextBox 92"/>
          <p:cNvSpPr/>
          <p:nvPr/>
        </p:nvSpPr>
        <p:spPr>
          <a:xfrm>
            <a:off x="3514320" y="6473880"/>
            <a:ext cx="273528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b6478"/>
                </a:solidFill>
                <a:latin typeface="Arial"/>
                <a:ea typeface="DejaVu Sans"/>
              </a:rPr>
              <a:t>DSS 2026 AI Edition  ·  Studium przypadku · Helpi</a:t>
            </a:r>
            <a:endParaRPr b="0" lang="pl-PL" sz="900" spc="-1" strike="noStrike">
              <a:latin typeface="Arial"/>
            </a:endParaRPr>
          </a:p>
        </p:txBody>
      </p:sp>
      <p:sp>
        <p:nvSpPr>
          <p:cNvPr id="295" name="TextBox 93"/>
          <p:cNvSpPr/>
          <p:nvPr/>
        </p:nvSpPr>
        <p:spPr>
          <a:xfrm>
            <a:off x="10863720" y="6473880"/>
            <a:ext cx="3078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b6478"/>
                </a:solidFill>
                <a:latin typeface="Arial"/>
                <a:ea typeface="DejaVu Sans"/>
              </a:rPr>
              <a:t>14</a:t>
            </a:r>
            <a:endParaRPr b="0" lang="pl-PL" sz="900" spc="-1" strike="noStrike">
              <a:latin typeface="Arial"/>
            </a:endParaRPr>
          </a:p>
        </p:txBody>
      </p:sp>
      <p:sp>
        <p:nvSpPr>
          <p:cNvPr id="296" name="Rectangle 94"/>
          <p:cNvSpPr/>
          <p:nvPr/>
        </p:nvSpPr>
        <p:spPr>
          <a:xfrm>
            <a:off x="5691240" y="2299320"/>
            <a:ext cx="1369800" cy="42480"/>
          </a:xfrm>
          <a:prstGeom prst="rect">
            <a:avLst/>
          </a:prstGeom>
          <a:solidFill>
            <a:srgbClr val="00be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98;p5"/>
          <p:cNvSpPr/>
          <p:nvPr/>
        </p:nvSpPr>
        <p:spPr>
          <a:xfrm>
            <a:off x="825480" y="852480"/>
            <a:ext cx="10855440" cy="47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rmAutofit fontScale="80000"/>
          </a:bodyPr>
          <a:p>
            <a:pPr>
              <a:lnSpc>
                <a:spcPct val="108000"/>
              </a:lnSpc>
              <a:buNone/>
            </a:pPr>
            <a:r>
              <a:rPr b="1" lang="en-US" sz="3300" spc="-1" strike="noStrike">
                <a:solidFill>
                  <a:srgbClr val="1a1a1a"/>
                </a:solidFill>
                <a:latin typeface="Calibri"/>
                <a:ea typeface="DejaVu Sans"/>
              </a:rPr>
              <a:t> </a:t>
            </a:r>
            <a:r>
              <a:rPr b="1" lang="en-US" sz="3300" spc="-1" strike="noStrike">
                <a:solidFill>
                  <a:srgbClr val="1a1a1a"/>
                </a:solidFill>
                <a:latin typeface="Calibri"/>
                <a:ea typeface="DejaVu Sans"/>
              </a:rPr>
              <a:t>Balans - skalowanie danych i doskonalenie modeli</a:t>
            </a:r>
            <a:endParaRPr b="0" lang="pl-PL" sz="3300" spc="-1" strike="noStrike">
              <a:latin typeface="Arial"/>
            </a:endParaRPr>
          </a:p>
        </p:txBody>
      </p:sp>
      <p:sp>
        <p:nvSpPr>
          <p:cNvPr id="298" name="Google Shape;99;p5"/>
          <p:cNvSpPr/>
          <p:nvPr/>
        </p:nvSpPr>
        <p:spPr>
          <a:xfrm>
            <a:off x="825480" y="1548360"/>
            <a:ext cx="9154800" cy="59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rmAutofit fontScale="82000"/>
          </a:bodyPr>
          <a:p>
            <a:pPr>
              <a:lnSpc>
                <a:spcPct val="150000"/>
              </a:lnSpc>
              <a:buNone/>
            </a:pPr>
            <a:r>
              <a:rPr b="0" lang="en-US" sz="1500" spc="-1" strike="noStrike">
                <a:solidFill>
                  <a:srgbClr val="555555"/>
                </a:solidFill>
                <a:latin typeface="Calibri"/>
                <a:ea typeface="DejaVu Sans"/>
              </a:rPr>
              <a:t>Wytrenowane klasyfikatory same anotowały nowo wygenerowane przypadki, a ludzie weryfikowali wyniki — pętla, która systematycznie podnosiła precyzję klasyfikacji.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299" name="Google Shape;100;p5"/>
          <p:cNvSpPr/>
          <p:nvPr/>
        </p:nvSpPr>
        <p:spPr>
          <a:xfrm>
            <a:off x="825480" y="2435040"/>
            <a:ext cx="4717440" cy="3888000"/>
          </a:xfrm>
          <a:prstGeom prst="roundRect">
            <a:avLst>
              <a:gd name="adj" fmla="val 2612"/>
            </a:avLst>
          </a:prstGeom>
          <a:solidFill>
            <a:srgbClr val="ffffff"/>
          </a:solidFill>
          <a:ln w="11900">
            <a:solidFill>
              <a:srgbClr val="e8e2d4"/>
            </a:solidFill>
            <a:round/>
          </a:ln>
          <a:effectLst>
            <a:outerShdw algn="bl" blurRad="152280" dir="5400000" dist="19080" rotWithShape="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0" name="Google Shape;101;p5"/>
          <p:cNvSpPr/>
          <p:nvPr/>
        </p:nvSpPr>
        <p:spPr>
          <a:xfrm>
            <a:off x="1138320" y="3220920"/>
            <a:ext cx="4092120" cy="258480"/>
          </a:xfrm>
          <a:prstGeom prst="roundRect">
            <a:avLst>
              <a:gd name="adj" fmla="val 19523"/>
            </a:avLst>
          </a:prstGeom>
          <a:solidFill>
            <a:srgbClr val="eaf1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1" name="Google Shape;102;p5"/>
          <p:cNvSpPr/>
          <p:nvPr/>
        </p:nvSpPr>
        <p:spPr>
          <a:xfrm>
            <a:off x="1239840" y="3271680"/>
            <a:ext cx="40114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ctr">
            <a:normAutofit fontScale="98000"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1867aa"/>
                </a:solidFill>
                <a:latin typeface="Calibri"/>
                <a:ea typeface="DejaVu Sans"/>
              </a:rPr>
              <a:t>PĘTLA DOSKONALENIA MODELI</a:t>
            </a:r>
            <a:endParaRPr b="0" lang="pl-PL" sz="1000" spc="-1" strike="noStrike">
              <a:latin typeface="Arial"/>
            </a:endParaRPr>
          </a:p>
        </p:txBody>
      </p:sp>
      <p:sp>
        <p:nvSpPr>
          <p:cNvPr id="302" name="Google Shape;103;p5"/>
          <p:cNvSpPr/>
          <p:nvPr/>
        </p:nvSpPr>
        <p:spPr>
          <a:xfrm>
            <a:off x="1138320" y="3620880"/>
            <a:ext cx="21168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rmAutofit fontScale="80000"/>
          </a:bodyPr>
          <a:p>
            <a:pPr>
              <a:lnSpc>
                <a:spcPct val="90000"/>
              </a:lnSpc>
              <a:buNone/>
            </a:pPr>
            <a:r>
              <a:rPr b="1" lang="en-US" sz="2300" spc="-1" strike="noStrike">
                <a:solidFill>
                  <a:srgbClr val="b58827"/>
                </a:solidFill>
                <a:latin typeface="Calibri"/>
                <a:ea typeface="DejaVu Sans"/>
              </a:rPr>
              <a:t>1</a:t>
            </a:r>
            <a:endParaRPr b="0" lang="pl-PL" sz="2300" spc="-1" strike="noStrike">
              <a:latin typeface="Arial"/>
            </a:endParaRPr>
          </a:p>
        </p:txBody>
      </p:sp>
      <p:sp>
        <p:nvSpPr>
          <p:cNvPr id="303" name="Google Shape;104;p5"/>
          <p:cNvSpPr/>
          <p:nvPr/>
        </p:nvSpPr>
        <p:spPr>
          <a:xfrm>
            <a:off x="1415160" y="3624120"/>
            <a:ext cx="1161000" cy="2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rmAutofit fontScale="79000"/>
          </a:bodyPr>
          <a:p>
            <a:pPr>
              <a:lnSpc>
                <a:spcPct val="155000"/>
              </a:lnSpc>
              <a:buNone/>
            </a:pPr>
            <a:r>
              <a:rPr b="1" lang="en-US" sz="1300" spc="-1" strike="noStrike">
                <a:solidFill>
                  <a:srgbClr val="1a1a1a"/>
                </a:solidFill>
                <a:latin typeface="Calibri"/>
                <a:ea typeface="DejaVu Sans"/>
              </a:rPr>
              <a:t>Model trenuje</a:t>
            </a:r>
            <a:endParaRPr b="0" lang="pl-PL" sz="1300" spc="-1" strike="noStrike">
              <a:latin typeface="Arial"/>
            </a:endParaRPr>
          </a:p>
        </p:txBody>
      </p:sp>
      <p:sp>
        <p:nvSpPr>
          <p:cNvPr id="304" name="Google Shape;105;p5"/>
          <p:cNvSpPr/>
          <p:nvPr/>
        </p:nvSpPr>
        <p:spPr>
          <a:xfrm>
            <a:off x="1886040" y="3972240"/>
            <a:ext cx="390960" cy="25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rmAutofit fontScale="80000"/>
          </a:bodyPr>
          <a:p>
            <a:pPr>
              <a:lnSpc>
                <a:spcPct val="150000"/>
              </a:lnSpc>
              <a:buNone/>
            </a:pPr>
            <a:r>
              <a:rPr b="1" lang="en-US" sz="1200" spc="-1" strike="noStrike">
                <a:solidFill>
                  <a:srgbClr val="b58827"/>
                </a:solidFill>
                <a:latin typeface="Calibri"/>
                <a:ea typeface="DejaVu Sans"/>
              </a:rPr>
              <a:t>↓</a:t>
            </a:r>
            <a:endParaRPr b="0" lang="pl-PL" sz="1200" spc="-1" strike="noStrike">
              <a:latin typeface="Arial"/>
            </a:endParaRPr>
          </a:p>
        </p:txBody>
      </p:sp>
      <p:sp>
        <p:nvSpPr>
          <p:cNvPr id="305" name="Google Shape;106;p5"/>
          <p:cNvSpPr/>
          <p:nvPr/>
        </p:nvSpPr>
        <p:spPr>
          <a:xfrm>
            <a:off x="1138320" y="4289760"/>
            <a:ext cx="21168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rmAutofit fontScale="80000"/>
          </a:bodyPr>
          <a:p>
            <a:pPr>
              <a:lnSpc>
                <a:spcPct val="90000"/>
              </a:lnSpc>
              <a:buNone/>
            </a:pPr>
            <a:r>
              <a:rPr b="1" lang="en-US" sz="2300" spc="-1" strike="noStrike">
                <a:solidFill>
                  <a:srgbClr val="b58827"/>
                </a:solidFill>
                <a:latin typeface="Calibri"/>
                <a:ea typeface="DejaVu Sans"/>
              </a:rPr>
              <a:t>2</a:t>
            </a:r>
            <a:endParaRPr b="0" lang="pl-PL" sz="2300" spc="-1" strike="noStrike">
              <a:latin typeface="Arial"/>
            </a:endParaRPr>
          </a:p>
        </p:txBody>
      </p:sp>
      <p:sp>
        <p:nvSpPr>
          <p:cNvPr id="306" name="Google Shape;107;p5"/>
          <p:cNvSpPr/>
          <p:nvPr/>
        </p:nvSpPr>
        <p:spPr>
          <a:xfrm>
            <a:off x="1415160" y="4293360"/>
            <a:ext cx="1600200" cy="2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rmAutofit fontScale="79000"/>
          </a:bodyPr>
          <a:p>
            <a:pPr>
              <a:lnSpc>
                <a:spcPct val="155000"/>
              </a:lnSpc>
              <a:buNone/>
            </a:pPr>
            <a:r>
              <a:rPr b="1" lang="en-US" sz="1300" spc="-1" strike="noStrike">
                <a:solidFill>
                  <a:srgbClr val="1a1a1a"/>
                </a:solidFill>
                <a:latin typeface="Calibri"/>
                <a:ea typeface="DejaVu Sans"/>
              </a:rPr>
              <a:t>Anotuje nowe dane</a:t>
            </a:r>
            <a:endParaRPr b="0" lang="pl-PL" sz="1300" spc="-1" strike="noStrike">
              <a:latin typeface="Arial"/>
            </a:endParaRPr>
          </a:p>
        </p:txBody>
      </p:sp>
      <p:sp>
        <p:nvSpPr>
          <p:cNvPr id="307" name="Google Shape;108;p5"/>
          <p:cNvSpPr/>
          <p:nvPr/>
        </p:nvSpPr>
        <p:spPr>
          <a:xfrm>
            <a:off x="1886040" y="4641480"/>
            <a:ext cx="390960" cy="25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rmAutofit fontScale="80000"/>
          </a:bodyPr>
          <a:p>
            <a:pPr>
              <a:lnSpc>
                <a:spcPct val="150000"/>
              </a:lnSpc>
              <a:buNone/>
            </a:pPr>
            <a:r>
              <a:rPr b="1" lang="en-US" sz="1200" spc="-1" strike="noStrike">
                <a:solidFill>
                  <a:srgbClr val="b58827"/>
                </a:solidFill>
                <a:latin typeface="Calibri"/>
                <a:ea typeface="DejaVu Sans"/>
              </a:rPr>
              <a:t>↓</a:t>
            </a:r>
            <a:endParaRPr b="0" lang="pl-PL" sz="1200" spc="-1" strike="noStrike">
              <a:latin typeface="Arial"/>
            </a:endParaRPr>
          </a:p>
        </p:txBody>
      </p:sp>
      <p:sp>
        <p:nvSpPr>
          <p:cNvPr id="308" name="Google Shape;109;p5"/>
          <p:cNvSpPr/>
          <p:nvPr/>
        </p:nvSpPr>
        <p:spPr>
          <a:xfrm>
            <a:off x="1138320" y="4958640"/>
            <a:ext cx="21168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rmAutofit fontScale="80000"/>
          </a:bodyPr>
          <a:p>
            <a:pPr>
              <a:lnSpc>
                <a:spcPct val="90000"/>
              </a:lnSpc>
              <a:buNone/>
            </a:pPr>
            <a:r>
              <a:rPr b="1" lang="en-US" sz="2300" spc="-1" strike="noStrike">
                <a:solidFill>
                  <a:srgbClr val="b58827"/>
                </a:solidFill>
                <a:latin typeface="Calibri"/>
                <a:ea typeface="DejaVu Sans"/>
              </a:rPr>
              <a:t>3</a:t>
            </a:r>
            <a:endParaRPr b="0" lang="pl-PL" sz="2300" spc="-1" strike="noStrike">
              <a:latin typeface="Arial"/>
            </a:endParaRPr>
          </a:p>
        </p:txBody>
      </p:sp>
      <p:sp>
        <p:nvSpPr>
          <p:cNvPr id="309" name="Google Shape;110;p5"/>
          <p:cNvSpPr/>
          <p:nvPr/>
        </p:nvSpPr>
        <p:spPr>
          <a:xfrm>
            <a:off x="1415160" y="4962240"/>
            <a:ext cx="1333440" cy="2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rmAutofit fontScale="79000"/>
          </a:bodyPr>
          <a:p>
            <a:pPr>
              <a:lnSpc>
                <a:spcPct val="155000"/>
              </a:lnSpc>
              <a:buNone/>
            </a:pPr>
            <a:r>
              <a:rPr b="1" lang="en-US" sz="1300" spc="-1" strike="noStrike">
                <a:solidFill>
                  <a:srgbClr val="1a1a1a"/>
                </a:solidFill>
                <a:latin typeface="Calibri"/>
                <a:ea typeface="DejaVu Sans"/>
              </a:rPr>
              <a:t>Ludzie korygują</a:t>
            </a:r>
            <a:endParaRPr b="0" lang="pl-PL" sz="1300" spc="-1" strike="noStrike">
              <a:latin typeface="Arial"/>
            </a:endParaRPr>
          </a:p>
        </p:txBody>
      </p:sp>
      <p:sp>
        <p:nvSpPr>
          <p:cNvPr id="310" name="Google Shape;111;p5"/>
          <p:cNvSpPr/>
          <p:nvPr/>
        </p:nvSpPr>
        <p:spPr>
          <a:xfrm>
            <a:off x="1290600" y="5310360"/>
            <a:ext cx="4062240" cy="2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rmAutofit fontScale="80000"/>
          </a:bodyPr>
          <a:p>
            <a:pPr>
              <a:lnSpc>
                <a:spcPct val="150000"/>
              </a:lnSpc>
              <a:buNone/>
            </a:pPr>
            <a:r>
              <a:rPr b="1" lang="en-US" sz="1200" spc="-1" strike="noStrike">
                <a:solidFill>
                  <a:srgbClr val="b58827"/>
                </a:solidFill>
                <a:latin typeface="Calibri"/>
                <a:ea typeface="DejaVu Sans"/>
              </a:rPr>
              <a:t>↺ </a:t>
            </a:r>
            <a:r>
              <a:rPr b="1" lang="en-US" sz="1200" spc="-1" strike="noStrike">
                <a:solidFill>
                  <a:srgbClr val="b58827"/>
                </a:solidFill>
                <a:latin typeface="Calibri"/>
                <a:ea typeface="DejaVu Sans"/>
              </a:rPr>
              <a:t>model trenuje ponownie</a:t>
            </a:r>
            <a:endParaRPr b="0" lang="pl-PL" sz="1200" spc="-1" strike="noStrike">
              <a:latin typeface="Arial"/>
            </a:endParaRPr>
          </a:p>
        </p:txBody>
      </p:sp>
      <p:sp>
        <p:nvSpPr>
          <p:cNvPr id="311" name="Google Shape;112;p5"/>
          <p:cNvSpPr/>
          <p:nvPr/>
        </p:nvSpPr>
        <p:spPr>
          <a:xfrm>
            <a:off x="5849280" y="2435040"/>
            <a:ext cx="2680560" cy="1655640"/>
          </a:xfrm>
          <a:prstGeom prst="roundRect">
            <a:avLst>
              <a:gd name="adj" fmla="val 6129"/>
            </a:avLst>
          </a:prstGeom>
          <a:solidFill>
            <a:srgbClr val="ffffff"/>
          </a:solidFill>
          <a:ln w="11900">
            <a:solidFill>
              <a:srgbClr val="e8e2d4"/>
            </a:solidFill>
            <a:round/>
          </a:ln>
          <a:effectLst>
            <a:outerShdw algn="bl" blurRad="152280" dir="5400000" dist="19080" rotWithShape="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12" name="Google Shape;113;p5"/>
          <p:cNvSpPr/>
          <p:nvPr/>
        </p:nvSpPr>
        <p:spPr>
          <a:xfrm>
            <a:off x="6073200" y="2777400"/>
            <a:ext cx="2300040" cy="48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rmAutofit fontScale="81000"/>
          </a:bodyPr>
          <a:p>
            <a:pPr>
              <a:lnSpc>
                <a:spcPct val="90000"/>
              </a:lnSpc>
              <a:buNone/>
            </a:pPr>
            <a:r>
              <a:rPr b="1" lang="en-US" sz="4000" spc="-1" strike="noStrike">
                <a:solidFill>
                  <a:srgbClr val="b58827"/>
                </a:solidFill>
                <a:latin typeface="Calibri"/>
                <a:ea typeface="DejaVu Sans"/>
              </a:rPr>
              <a:t>~700</a:t>
            </a:r>
            <a:endParaRPr b="0" lang="pl-PL" sz="4000" spc="-1" strike="noStrike">
              <a:latin typeface="Arial"/>
            </a:endParaRPr>
          </a:p>
        </p:txBody>
      </p:sp>
      <p:sp>
        <p:nvSpPr>
          <p:cNvPr id="313" name="Google Shape;114;p5"/>
          <p:cNvSpPr/>
          <p:nvPr/>
        </p:nvSpPr>
        <p:spPr>
          <a:xfrm>
            <a:off x="6073200" y="3323520"/>
            <a:ext cx="2300040" cy="45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rmAutofit fontScale="83000"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555555"/>
                </a:solidFill>
                <a:latin typeface="Calibri"/>
                <a:ea typeface="DejaVu Sans"/>
              </a:rPr>
              <a:t>podtura A — przypadki typów usług</a:t>
            </a:r>
            <a:endParaRPr b="0" lang="pl-PL" sz="1200" spc="-1" strike="noStrike">
              <a:latin typeface="Arial"/>
            </a:endParaRPr>
          </a:p>
        </p:txBody>
      </p:sp>
      <p:sp>
        <p:nvSpPr>
          <p:cNvPr id="314" name="Google Shape;115;p5"/>
          <p:cNvSpPr/>
          <p:nvPr/>
        </p:nvSpPr>
        <p:spPr>
          <a:xfrm>
            <a:off x="8683920" y="2435040"/>
            <a:ext cx="2680560" cy="1655640"/>
          </a:xfrm>
          <a:prstGeom prst="roundRect">
            <a:avLst>
              <a:gd name="adj" fmla="val 6129"/>
            </a:avLst>
          </a:prstGeom>
          <a:solidFill>
            <a:srgbClr val="ffffff"/>
          </a:solidFill>
          <a:ln w="11900">
            <a:solidFill>
              <a:srgbClr val="e8e2d4"/>
            </a:solidFill>
            <a:round/>
          </a:ln>
          <a:effectLst>
            <a:outerShdw algn="bl" blurRad="152280" dir="5400000" dist="19080" rotWithShape="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15" name="Google Shape;116;p5"/>
          <p:cNvSpPr/>
          <p:nvPr/>
        </p:nvSpPr>
        <p:spPr>
          <a:xfrm>
            <a:off x="8907840" y="2777400"/>
            <a:ext cx="2300400" cy="48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rmAutofit fontScale="81000"/>
          </a:bodyPr>
          <a:p>
            <a:pPr>
              <a:lnSpc>
                <a:spcPct val="90000"/>
              </a:lnSpc>
              <a:buNone/>
            </a:pPr>
            <a:r>
              <a:rPr b="1" lang="en-US" sz="4000" spc="-1" strike="noStrike">
                <a:solidFill>
                  <a:srgbClr val="b58827"/>
                </a:solidFill>
                <a:latin typeface="Calibri"/>
                <a:ea typeface="DejaVu Sans"/>
              </a:rPr>
              <a:t>4354</a:t>
            </a:r>
            <a:endParaRPr b="0" lang="pl-PL" sz="4000" spc="-1" strike="noStrike">
              <a:latin typeface="Arial"/>
            </a:endParaRPr>
          </a:p>
        </p:txBody>
      </p:sp>
      <p:sp>
        <p:nvSpPr>
          <p:cNvPr id="316" name="Google Shape;117;p5"/>
          <p:cNvSpPr/>
          <p:nvPr/>
        </p:nvSpPr>
        <p:spPr>
          <a:xfrm>
            <a:off x="8907840" y="3323520"/>
            <a:ext cx="2300400" cy="45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rmAutofit fontScale="81000"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555555"/>
                </a:solidFill>
                <a:latin typeface="Calibri"/>
                <a:ea typeface="DejaVu Sans"/>
              </a:rPr>
              <a:t>podtura B — przypadki łącznie dla TOS i TG</a:t>
            </a:r>
            <a:endParaRPr b="0" lang="pl-PL" sz="1200" spc="-1" strike="noStrike">
              <a:latin typeface="Arial"/>
            </a:endParaRPr>
          </a:p>
        </p:txBody>
      </p:sp>
      <p:sp>
        <p:nvSpPr>
          <p:cNvPr id="317" name="Google Shape;118;p5"/>
          <p:cNvSpPr/>
          <p:nvPr/>
        </p:nvSpPr>
        <p:spPr>
          <a:xfrm>
            <a:off x="5849280" y="4245120"/>
            <a:ext cx="5515560" cy="2077920"/>
          </a:xfrm>
          <a:prstGeom prst="roundRect">
            <a:avLst>
              <a:gd name="adj" fmla="val 4885"/>
            </a:avLst>
          </a:prstGeom>
          <a:solidFill>
            <a:srgbClr val="ffffff"/>
          </a:solidFill>
          <a:ln w="11900">
            <a:solidFill>
              <a:srgbClr val="e8e2d4"/>
            </a:solidFill>
            <a:round/>
          </a:ln>
          <a:effectLst>
            <a:outerShdw algn="bl" blurRad="152280" dir="5400000" dist="19080" rotWithShape="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18" name="Google Shape;119;p5"/>
          <p:cNvSpPr/>
          <p:nvPr/>
        </p:nvSpPr>
        <p:spPr>
          <a:xfrm>
            <a:off x="6085800" y="4581360"/>
            <a:ext cx="1509480" cy="48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rmAutofit fontScale="80000"/>
          </a:bodyPr>
          <a:p>
            <a:pPr>
              <a:lnSpc>
                <a:spcPct val="90000"/>
              </a:lnSpc>
              <a:buNone/>
            </a:pPr>
            <a:r>
              <a:rPr b="1" lang="en-US" sz="4000" spc="-1" strike="noStrike">
                <a:solidFill>
                  <a:srgbClr val="1867aa"/>
                </a:solidFill>
                <a:latin typeface="Calibri"/>
                <a:ea typeface="DejaVu Sans"/>
              </a:rPr>
              <a:t>~5400</a:t>
            </a:r>
            <a:endParaRPr b="0" lang="pl-PL" sz="4000" spc="-1" strike="noStrike">
              <a:latin typeface="Arial"/>
            </a:endParaRPr>
          </a:p>
        </p:txBody>
      </p:sp>
      <p:sp>
        <p:nvSpPr>
          <p:cNvPr id="319" name="Google Shape;120;p5"/>
          <p:cNvSpPr/>
          <p:nvPr/>
        </p:nvSpPr>
        <p:spPr>
          <a:xfrm>
            <a:off x="7673400" y="4755960"/>
            <a:ext cx="66888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rmAutofit fontScale="78000"/>
          </a:bodyPr>
          <a:p>
            <a:pPr>
              <a:lnSpc>
                <a:spcPct val="90000"/>
              </a:lnSpc>
              <a:buNone/>
            </a:pPr>
            <a:r>
              <a:rPr b="1" lang="en-US" sz="2200" spc="-1" strike="noStrike">
                <a:solidFill>
                  <a:srgbClr val="b58827"/>
                </a:solidFill>
                <a:latin typeface="Calibri"/>
                <a:ea typeface="DejaVu Sans"/>
              </a:rPr>
              <a:t>+940</a:t>
            </a:r>
            <a:endParaRPr b="0" lang="pl-PL" sz="2200" spc="-1" strike="noStrike">
              <a:latin typeface="Arial"/>
            </a:endParaRPr>
          </a:p>
        </p:txBody>
      </p:sp>
      <p:sp>
        <p:nvSpPr>
          <p:cNvPr id="320" name="Google Shape;121;p5"/>
          <p:cNvSpPr/>
          <p:nvPr/>
        </p:nvSpPr>
        <p:spPr>
          <a:xfrm>
            <a:off x="6085800" y="5127120"/>
            <a:ext cx="5193720" cy="88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20" rIns="16920" tIns="16920" bIns="16920" anchor="t">
            <a:normAutofit fontScale="86000"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555555"/>
                </a:solidFill>
                <a:latin typeface="Calibri"/>
                <a:ea typeface="DejaVu Sans"/>
              </a:rPr>
              <a:t>Dataset grup docelowych był niezbalansowany (nadreprezentacja „dorosłych”, niedobór „seniorów” i „osób niebinarnych”), więc dogenerowano ok. </a:t>
            </a:r>
            <a:r>
              <a:rPr b="1" lang="en-US" sz="1200" spc="-1" strike="noStrike">
                <a:solidFill>
                  <a:srgbClr val="555555"/>
                </a:solidFill>
                <a:latin typeface="Calibri"/>
                <a:ea typeface="DejaVu Sans"/>
              </a:rPr>
              <a:t>940 </a:t>
            </a:r>
            <a:r>
              <a:rPr b="0" lang="en-US" sz="1200" spc="-1" strike="noStrike">
                <a:solidFill>
                  <a:srgbClr val="555555"/>
                </a:solidFill>
                <a:latin typeface="Calibri"/>
                <a:ea typeface="DejaVu Sans"/>
              </a:rPr>
              <a:t>przypadków — uzyskując </a:t>
            </a:r>
            <a:r>
              <a:rPr b="1" lang="en-US" sz="1200" spc="-1" strike="noStrike">
                <a:solidFill>
                  <a:srgbClr val="555555"/>
                </a:solidFill>
                <a:latin typeface="Calibri"/>
                <a:ea typeface="DejaVu Sans"/>
              </a:rPr>
              <a:t>~5400 </a:t>
            </a:r>
            <a:r>
              <a:rPr b="0" lang="en-US" sz="1200" spc="-1" strike="noStrike">
                <a:solidFill>
                  <a:srgbClr val="555555"/>
                </a:solidFill>
                <a:latin typeface="Calibri"/>
                <a:ea typeface="DejaVu Sans"/>
              </a:rPr>
              <a:t>zbalansowanych przykładów dla TG.</a:t>
            </a:r>
            <a:endParaRPr b="0" lang="pl-PL" sz="1200" spc="-1" strike="noStrike">
              <a:latin typeface="Arial"/>
            </a:endParaRPr>
          </a:p>
        </p:txBody>
      </p:sp>
      <p:sp>
        <p:nvSpPr>
          <p:cNvPr id="321" name="Rectangle 121"/>
          <p:cNvSpPr/>
          <p:nvPr/>
        </p:nvSpPr>
        <p:spPr>
          <a:xfrm>
            <a:off x="0" y="6437520"/>
            <a:ext cx="12189960" cy="13320"/>
          </a:xfrm>
          <a:prstGeom prst="rect">
            <a:avLst/>
          </a:prstGeom>
          <a:solidFill>
            <a:srgbClr val="f2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22" name="TextBox 122"/>
          <p:cNvSpPr/>
          <p:nvPr/>
        </p:nvSpPr>
        <p:spPr>
          <a:xfrm>
            <a:off x="3514320" y="6473880"/>
            <a:ext cx="273528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b6478"/>
                </a:solidFill>
                <a:latin typeface="Arial"/>
                <a:ea typeface="DejaVu Sans"/>
              </a:rPr>
              <a:t>DSS 2026 AI Edition  ·  Studium przypadku · Helpi</a:t>
            </a:r>
            <a:endParaRPr b="0" lang="pl-PL" sz="900" spc="-1" strike="noStrike">
              <a:latin typeface="Arial"/>
            </a:endParaRPr>
          </a:p>
        </p:txBody>
      </p:sp>
      <p:sp>
        <p:nvSpPr>
          <p:cNvPr id="323" name="TextBox 123"/>
          <p:cNvSpPr/>
          <p:nvPr/>
        </p:nvSpPr>
        <p:spPr>
          <a:xfrm>
            <a:off x="10863720" y="6473880"/>
            <a:ext cx="3078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b6478"/>
                </a:solidFill>
                <a:latin typeface="Arial"/>
                <a:ea typeface="DejaVu Sans"/>
              </a:rPr>
              <a:t>15</a:t>
            </a:r>
            <a:endParaRPr b="0" lang="pl-PL" sz="900" spc="-1" strike="noStrike">
              <a:latin typeface="Arial"/>
            </a:endParaRPr>
          </a:p>
        </p:txBody>
      </p:sp>
      <p:sp>
        <p:nvSpPr>
          <p:cNvPr id="324" name="Rectangle 124"/>
          <p:cNvSpPr/>
          <p:nvPr/>
        </p:nvSpPr>
        <p:spPr>
          <a:xfrm>
            <a:off x="825480" y="1375920"/>
            <a:ext cx="1369800" cy="42480"/>
          </a:xfrm>
          <a:prstGeom prst="rect">
            <a:avLst/>
          </a:prstGeom>
          <a:solidFill>
            <a:srgbClr val="00be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4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Rectangle 1"/>
          <p:cNvSpPr/>
          <p:nvPr/>
        </p:nvSpPr>
        <p:spPr>
          <a:xfrm>
            <a:off x="768240" y="1554480"/>
            <a:ext cx="1827000" cy="48960"/>
          </a:xfrm>
          <a:prstGeom prst="rect">
            <a:avLst/>
          </a:prstGeom>
          <a:solidFill>
            <a:srgbClr val="00be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26" name="TextBox 2"/>
          <p:cNvSpPr/>
          <p:nvPr/>
        </p:nvSpPr>
        <p:spPr>
          <a:xfrm>
            <a:off x="768240" y="1737360"/>
            <a:ext cx="10422360" cy="57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3800" spc="-1" strike="noStrike">
                <a:solidFill>
                  <a:srgbClr val="ffffff"/>
                </a:solidFill>
                <a:latin typeface="Play"/>
                <a:ea typeface="DejaVu Sans"/>
              </a:rPr>
              <a:t>Interaktywna sesja anotacyjna</a:t>
            </a:r>
            <a:endParaRPr b="0" lang="pl-PL" sz="3800" spc="-1" strike="noStrike">
              <a:latin typeface="Arial"/>
            </a:endParaRPr>
          </a:p>
        </p:txBody>
      </p:sp>
      <p:sp>
        <p:nvSpPr>
          <p:cNvPr id="327" name="TextBox 3"/>
          <p:cNvSpPr/>
          <p:nvPr/>
        </p:nvSpPr>
        <p:spPr>
          <a:xfrm>
            <a:off x="768240" y="2697480"/>
            <a:ext cx="10056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c9e9f5"/>
                </a:solidFill>
                <a:latin typeface="Arial"/>
                <a:ea typeface="DejaVu Sans"/>
              </a:rPr>
              <a:t>Spróbuj sam — przekonaj się, jak trudno dokładnie oznaczać tekst bez kontekstu biznesowego.</a:t>
            </a:r>
            <a:endParaRPr b="0" lang="pl-PL" sz="1800" spc="-1" strike="noStrike">
              <a:latin typeface="Arial"/>
            </a:endParaRPr>
          </a:p>
        </p:txBody>
      </p:sp>
      <p:sp>
        <p:nvSpPr>
          <p:cNvPr id="328" name="Rounded Rectangle 4"/>
          <p:cNvSpPr/>
          <p:nvPr/>
        </p:nvSpPr>
        <p:spPr>
          <a:xfrm>
            <a:off x="768240" y="3566160"/>
            <a:ext cx="6399000" cy="1004040"/>
          </a:xfrm>
          <a:prstGeom prst="roundRect">
            <a:avLst>
              <a:gd name="adj" fmla="val 16667"/>
            </a:avLst>
          </a:prstGeom>
          <a:solidFill>
            <a:srgbClr val="00be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29" name="TextBox 5"/>
          <p:cNvSpPr/>
          <p:nvPr/>
        </p:nvSpPr>
        <p:spPr>
          <a:xfrm>
            <a:off x="768240" y="3703320"/>
            <a:ext cx="639900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042733"/>
                </a:solidFill>
                <a:latin typeface="Arial"/>
                <a:ea typeface="DejaVu Sans"/>
              </a:rPr>
              <a:t>Link do sesji (~5 min):</a:t>
            </a:r>
            <a:endParaRPr b="0" lang="pl-PL" sz="1300" spc="-1" strike="noStrike">
              <a:latin typeface="Arial"/>
            </a:endParaRPr>
          </a:p>
        </p:txBody>
      </p:sp>
      <p:sp>
        <p:nvSpPr>
          <p:cNvPr id="330" name="TextBox 6"/>
          <p:cNvSpPr/>
          <p:nvPr/>
        </p:nvSpPr>
        <p:spPr>
          <a:xfrm>
            <a:off x="768240" y="4041720"/>
            <a:ext cx="6399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042733"/>
                </a:solidFill>
                <a:latin typeface="Play"/>
                <a:ea typeface="DejaVu Sans"/>
              </a:rPr>
              <a:t>https://dss2026.radlab.dev/</a:t>
            </a:r>
            <a:endParaRPr b="0" lang="pl-PL" sz="2400" spc="-1" strike="noStrike">
              <a:latin typeface="Arial"/>
            </a:endParaRPr>
          </a:p>
        </p:txBody>
      </p:sp>
      <p:sp>
        <p:nvSpPr>
          <p:cNvPr id="331" name="TextBox 7"/>
          <p:cNvSpPr/>
          <p:nvPr/>
        </p:nvSpPr>
        <p:spPr>
          <a:xfrm>
            <a:off x="768240" y="5120640"/>
            <a:ext cx="25585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00befe"/>
                </a:solidFill>
                <a:latin typeface="Arial"/>
                <a:ea typeface="DejaVu Sans"/>
              </a:rPr>
              <a:t>Przeczytaj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332" name="TextBox 8"/>
          <p:cNvSpPr/>
          <p:nvPr/>
        </p:nvSpPr>
        <p:spPr>
          <a:xfrm>
            <a:off x="768240" y="5486400"/>
            <a:ext cx="255852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c9e9f5"/>
                </a:solidFill>
                <a:latin typeface="Arial"/>
                <a:ea typeface="DejaVu Sans"/>
              </a:rPr>
              <a:t>każdy tweet uważnie</a:t>
            </a:r>
            <a:endParaRPr b="0" lang="pl-PL" sz="1300" spc="-1" strike="noStrike">
              <a:latin typeface="Arial"/>
            </a:endParaRPr>
          </a:p>
        </p:txBody>
      </p:sp>
      <p:sp>
        <p:nvSpPr>
          <p:cNvPr id="333" name="TextBox 9"/>
          <p:cNvSpPr/>
          <p:nvPr/>
        </p:nvSpPr>
        <p:spPr>
          <a:xfrm>
            <a:off x="3465720" y="5120640"/>
            <a:ext cx="25585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00befe"/>
                </a:solidFill>
                <a:latin typeface="Arial"/>
                <a:ea typeface="DejaVu Sans"/>
              </a:rPr>
              <a:t>Zastanów się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334" name="TextBox 10"/>
          <p:cNvSpPr/>
          <p:nvPr/>
        </p:nvSpPr>
        <p:spPr>
          <a:xfrm>
            <a:off x="3465720" y="5486400"/>
            <a:ext cx="255852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c9e9f5"/>
                </a:solidFill>
                <a:latin typeface="Arial"/>
                <a:ea typeface="DejaVu Sans"/>
              </a:rPr>
              <a:t>jaka jest intencja I dominująca emocja z jaką polaryzacją</a:t>
            </a:r>
            <a:endParaRPr b="0" lang="pl-PL" sz="1300" spc="-1" strike="noStrike">
              <a:latin typeface="Arial"/>
            </a:endParaRPr>
          </a:p>
        </p:txBody>
      </p:sp>
      <p:sp>
        <p:nvSpPr>
          <p:cNvPr id="335" name="TextBox 11"/>
          <p:cNvSpPr/>
          <p:nvPr/>
        </p:nvSpPr>
        <p:spPr>
          <a:xfrm>
            <a:off x="6163200" y="5120640"/>
            <a:ext cx="25585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00befe"/>
                </a:solidFill>
                <a:latin typeface="Arial"/>
                <a:ea typeface="DejaVu Sans"/>
              </a:rPr>
              <a:t>Wybierz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336" name="TextBox 12"/>
          <p:cNvSpPr/>
          <p:nvPr/>
        </p:nvSpPr>
        <p:spPr>
          <a:xfrm>
            <a:off x="6163200" y="5486400"/>
            <a:ext cx="255852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c9e9f5"/>
                </a:solidFill>
                <a:latin typeface="Arial"/>
                <a:ea typeface="DejaVu Sans"/>
              </a:rPr>
              <a:t>najlepiej dopasowaną klasę</a:t>
            </a:r>
            <a:endParaRPr b="0" lang="pl-PL" sz="1300" spc="-1" strike="noStrike">
              <a:latin typeface="Arial"/>
            </a:endParaRPr>
          </a:p>
        </p:txBody>
      </p:sp>
      <p:sp>
        <p:nvSpPr>
          <p:cNvPr id="337" name="TextBox 13"/>
          <p:cNvSpPr/>
          <p:nvPr/>
        </p:nvSpPr>
        <p:spPr>
          <a:xfrm>
            <a:off x="8860680" y="5120640"/>
            <a:ext cx="25585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00befe"/>
                </a:solidFill>
                <a:latin typeface="Arial"/>
                <a:ea typeface="DejaVu Sans"/>
              </a:rPr>
              <a:t>Zwróć uwagę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338" name="TextBox 14"/>
          <p:cNvSpPr/>
          <p:nvPr/>
        </p:nvSpPr>
        <p:spPr>
          <a:xfrm>
            <a:off x="8860680" y="5486400"/>
            <a:ext cx="255852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c9e9f5"/>
                </a:solidFill>
                <a:latin typeface="Arial"/>
                <a:ea typeface="DejaVu Sans"/>
              </a:rPr>
              <a:t>na niuanse i kontekst (jeżeli jest)</a:t>
            </a:r>
            <a:endParaRPr b="0" lang="pl-PL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4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TextBox 1"/>
          <p:cNvSpPr/>
          <p:nvPr/>
        </p:nvSpPr>
        <p:spPr>
          <a:xfrm>
            <a:off x="768240" y="2240280"/>
            <a:ext cx="1827000" cy="97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6400" spc="-1" strike="noStrike">
                <a:solidFill>
                  <a:srgbClr val="8b19fe"/>
                </a:solidFill>
                <a:latin typeface="Play"/>
                <a:ea typeface="DejaVu Sans"/>
              </a:rPr>
              <a:t>03</a:t>
            </a:r>
            <a:endParaRPr b="0" lang="pl-PL" sz="6400" spc="-1" strike="noStrike">
              <a:latin typeface="Arial"/>
            </a:endParaRPr>
          </a:p>
        </p:txBody>
      </p:sp>
      <p:sp>
        <p:nvSpPr>
          <p:cNvPr id="340" name="Rectangle 2"/>
          <p:cNvSpPr/>
          <p:nvPr/>
        </p:nvSpPr>
        <p:spPr>
          <a:xfrm>
            <a:off x="768240" y="3246120"/>
            <a:ext cx="1827000" cy="48960"/>
          </a:xfrm>
          <a:prstGeom prst="rect">
            <a:avLst/>
          </a:prstGeom>
          <a:solidFill>
            <a:srgbClr val="00be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41" name="TextBox 3"/>
          <p:cNvSpPr/>
          <p:nvPr/>
        </p:nvSpPr>
        <p:spPr>
          <a:xfrm>
            <a:off x="768240" y="3429000"/>
            <a:ext cx="104223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buNone/>
            </a:pPr>
            <a:r>
              <a:rPr b="0" lang="en-US" sz="4000" spc="-1" strike="noStrike">
                <a:solidFill>
                  <a:srgbClr val="ffffff"/>
                </a:solidFill>
                <a:latin typeface="Play"/>
                <a:ea typeface="DejaVu Sans"/>
              </a:rPr>
              <a:t>Część techniczna</a:t>
            </a:r>
            <a:endParaRPr b="0" lang="pl-PL" sz="4000" spc="-1" strike="noStrike">
              <a:latin typeface="Arial"/>
            </a:endParaRPr>
          </a:p>
        </p:txBody>
      </p:sp>
      <p:sp>
        <p:nvSpPr>
          <p:cNvPr id="342" name="TextBox 4"/>
          <p:cNvSpPr/>
          <p:nvPr/>
        </p:nvSpPr>
        <p:spPr>
          <a:xfrm>
            <a:off x="768240" y="4754880"/>
            <a:ext cx="73134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00befe"/>
                </a:solidFill>
                <a:latin typeface="Arial"/>
                <a:ea typeface="DejaVu Sans"/>
              </a:rPr>
              <a:t>~22 min · od sprzętu po trening klasyfikatora</a:t>
            </a:r>
            <a:endParaRPr b="0" lang="pl-PL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TextBox 1"/>
          <p:cNvSpPr/>
          <p:nvPr/>
        </p:nvSpPr>
        <p:spPr>
          <a:xfrm>
            <a:off x="768240" y="420480"/>
            <a:ext cx="1060524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900" spc="-1" strike="noStrike">
                <a:solidFill>
                  <a:srgbClr val="1b0532"/>
                </a:solidFill>
                <a:latin typeface="Play"/>
                <a:ea typeface="DejaVu Sans"/>
              </a:rPr>
              <a:t>Wymagania sprzętowe</a:t>
            </a:r>
            <a:endParaRPr b="0" lang="pl-PL" sz="2900" spc="-1" strike="noStrike">
              <a:latin typeface="Arial"/>
            </a:endParaRPr>
          </a:p>
        </p:txBody>
      </p:sp>
      <p:sp>
        <p:nvSpPr>
          <p:cNvPr id="344" name="Rectangle 2"/>
          <p:cNvSpPr/>
          <p:nvPr/>
        </p:nvSpPr>
        <p:spPr>
          <a:xfrm>
            <a:off x="768240" y="1170360"/>
            <a:ext cx="1369800" cy="42480"/>
          </a:xfrm>
          <a:prstGeom prst="rect">
            <a:avLst/>
          </a:prstGeom>
          <a:solidFill>
            <a:srgbClr val="00be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45" name="Rectangle 3"/>
          <p:cNvSpPr/>
          <p:nvPr/>
        </p:nvSpPr>
        <p:spPr>
          <a:xfrm>
            <a:off x="0" y="6437520"/>
            <a:ext cx="12189960" cy="13320"/>
          </a:xfrm>
          <a:prstGeom prst="rect">
            <a:avLst/>
          </a:prstGeom>
          <a:solidFill>
            <a:srgbClr val="f2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46" name="TextBox 4"/>
          <p:cNvSpPr/>
          <p:nvPr/>
        </p:nvSpPr>
        <p:spPr>
          <a:xfrm>
            <a:off x="768240" y="6473880"/>
            <a:ext cx="82278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b6478"/>
                </a:solidFill>
                <a:latin typeface="Arial"/>
                <a:ea typeface="DejaVu Sans"/>
              </a:rPr>
              <a:t>DSS 2026 AI Edition  ·  Technika · Sprzęt</a:t>
            </a:r>
            <a:endParaRPr b="0" lang="pl-PL" sz="900" spc="-1" strike="noStrike">
              <a:latin typeface="Arial"/>
            </a:endParaRPr>
          </a:p>
        </p:txBody>
      </p:sp>
      <p:sp>
        <p:nvSpPr>
          <p:cNvPr id="347" name="TextBox 5"/>
          <p:cNvSpPr/>
          <p:nvPr/>
        </p:nvSpPr>
        <p:spPr>
          <a:xfrm>
            <a:off x="10607040" y="6473880"/>
            <a:ext cx="8211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b6478"/>
                </a:solidFill>
                <a:latin typeface="Arial"/>
                <a:ea typeface="DejaVu Sans"/>
              </a:rPr>
              <a:t>18</a:t>
            </a:r>
            <a:endParaRPr b="0" lang="pl-PL" sz="900" spc="-1" strike="noStrike">
              <a:latin typeface="Arial"/>
            </a:endParaRPr>
          </a:p>
        </p:txBody>
      </p:sp>
      <p:graphicFrame>
        <p:nvGraphicFramePr>
          <p:cNvPr id="348" name="Table 6"/>
          <p:cNvGraphicFramePr/>
          <p:nvPr/>
        </p:nvGraphicFramePr>
        <p:xfrm>
          <a:off x="768240" y="1417320"/>
          <a:ext cx="10652400" cy="2742840"/>
        </p:xfrm>
        <a:graphic>
          <a:graphicData uri="http://schemas.openxmlformats.org/drawingml/2006/table">
            <a:tbl>
              <a:tblPr/>
              <a:tblGrid>
                <a:gridCol w="1554480"/>
                <a:gridCol w="2011680"/>
                <a:gridCol w="2194560"/>
                <a:gridCol w="4892040"/>
              </a:tblGrid>
              <a:tr h="457200"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50" spc="-1" strike="noStrike">
                          <a:solidFill>
                            <a:srgbClr val="00befe"/>
                          </a:solidFill>
                          <a:latin typeface="Arial"/>
                        </a:rPr>
                        <a:t>Komponent</a:t>
                      </a:r>
                      <a:endParaRPr b="0" lang="pl-PL" sz="125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42733"/>
                    </a:solidFill>
                  </a:tcPr>
                </a:tc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50" spc="-1" strike="noStrike">
                          <a:solidFill>
                            <a:srgbClr val="00befe"/>
                          </a:solidFill>
                          <a:latin typeface="Arial"/>
                        </a:rPr>
                        <a:t>Minimalne</a:t>
                      </a:r>
                      <a:endParaRPr b="0" lang="pl-PL" sz="125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42733"/>
                    </a:solidFill>
                  </a:tcPr>
                </a:tc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50" spc="-1" strike="noStrike">
                          <a:solidFill>
                            <a:srgbClr val="00befe"/>
                          </a:solidFill>
                          <a:latin typeface="Arial"/>
                        </a:rPr>
                        <a:t>Zalecane</a:t>
                      </a:r>
                      <a:endParaRPr b="0" lang="pl-PL" sz="125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42733"/>
                    </a:solidFill>
                  </a:tcPr>
                </a:tc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50" spc="-1" strike="noStrike">
                          <a:solidFill>
                            <a:srgbClr val="00befe"/>
                          </a:solidFill>
                          <a:latin typeface="Arial"/>
                        </a:rPr>
                        <a:t>Uwagi</a:t>
                      </a:r>
                      <a:endParaRPr b="0" lang="pl-PL" sz="125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42733"/>
                    </a:solidFill>
                  </a:tcPr>
                </a:tc>
              </a:tr>
              <a:tr h="457200"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CPU</a:t>
                      </a:r>
                      <a:endParaRPr b="0" lang="pl-PL" sz="120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4 rdzenie</a:t>
                      </a:r>
                      <a:endParaRPr b="0" lang="pl-PL" sz="120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8+ rdzeni</a:t>
                      </a:r>
                      <a:endParaRPr b="0" lang="pl-PL" sz="120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batch wielowątkowy: więcej rdzeni = szybciej</a:t>
                      </a:r>
                      <a:endParaRPr b="0" lang="pl-PL" sz="120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RAM</a:t>
                      </a:r>
                      <a:endParaRPr b="0" lang="pl-PL" sz="120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1f6"/>
                    </a:solidFill>
                  </a:tcPr>
                </a:tc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16 GB</a:t>
                      </a:r>
                      <a:endParaRPr b="0" lang="pl-PL" sz="120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1f6"/>
                    </a:solidFill>
                  </a:tcPr>
                </a:tc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32–128 GB+</a:t>
                      </a:r>
                      <a:endParaRPr b="0" lang="pl-PL" sz="120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1f6"/>
                    </a:solidFill>
                  </a:tcPr>
                </a:tc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7B: 16GB · 70B: 64GB+ · 120B: 96GB+</a:t>
                      </a:r>
                      <a:endParaRPr b="0" lang="pl-PL" sz="120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1f6"/>
                    </a:solidFill>
                  </a:tcPr>
                </a:tc>
              </a:tr>
              <a:tr h="457200"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Dysk</a:t>
                      </a:r>
                      <a:endParaRPr b="0" lang="pl-PL" sz="120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50 GB</a:t>
                      </a:r>
                      <a:endParaRPr b="0" lang="pl-PL" sz="120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250 GB+</a:t>
                      </a:r>
                      <a:endParaRPr b="0" lang="pl-PL" sz="120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Bielik ~5GB · PLLuM ~40GB · gpt-oss ~65GB</a:t>
                      </a:r>
                      <a:endParaRPr b="0" lang="pl-PL" sz="120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GPU</a:t>
                      </a:r>
                      <a:endParaRPr b="0" lang="pl-PL" sz="120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1f6"/>
                    </a:solidFill>
                  </a:tcPr>
                </a:tc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opcjonalne</a:t>
                      </a:r>
                      <a:endParaRPr b="0" lang="pl-PL" sz="120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1f6"/>
                    </a:solidFill>
                  </a:tcPr>
                </a:tc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24–80 GB VRAM</a:t>
                      </a:r>
                      <a:endParaRPr b="0" lang="pl-PL" sz="120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1f6"/>
                    </a:solidFill>
                  </a:tcPr>
                </a:tc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Bielik 8GB · PLLuM 48GB+ · gpt-oss 80GB</a:t>
                      </a:r>
                      <a:endParaRPr b="0" lang="pl-PL" sz="120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1f6"/>
                    </a:solidFill>
                  </a:tcPr>
                </a:tc>
              </a:tr>
              <a:tr h="457200"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System</a:t>
                      </a:r>
                      <a:endParaRPr b="0" lang="pl-PL" sz="120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Linux / macOS 13+</a:t>
                      </a:r>
                      <a:endParaRPr b="0" lang="pl-PL" sz="120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Ubuntu 22.04+</a:t>
                      </a:r>
                      <a:endParaRPr b="0" lang="pl-PL" sz="120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Linux docelowy; vLLM tylko Linux+NVIDIA</a:t>
                      </a:r>
                      <a:endParaRPr b="0" lang="pl-PL" sz="120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9" name="Rounded Rectangle 7"/>
          <p:cNvSpPr/>
          <p:nvPr/>
        </p:nvSpPr>
        <p:spPr>
          <a:xfrm>
            <a:off x="768240" y="4480560"/>
            <a:ext cx="10650960" cy="684000"/>
          </a:xfrm>
          <a:prstGeom prst="roundRect">
            <a:avLst>
              <a:gd name="adj" fmla="val 16667"/>
            </a:avLst>
          </a:prstGeom>
          <a:solidFill>
            <a:srgbClr val="f2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50" name="Rectangle 8"/>
          <p:cNvSpPr/>
          <p:nvPr/>
        </p:nvSpPr>
        <p:spPr>
          <a:xfrm>
            <a:off x="768240" y="4480560"/>
            <a:ext cx="48960" cy="684000"/>
          </a:xfrm>
          <a:prstGeom prst="rect">
            <a:avLst/>
          </a:prstGeom>
          <a:solidFill>
            <a:srgbClr val="00be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51" name="TextBox 9"/>
          <p:cNvSpPr/>
          <p:nvPr/>
        </p:nvSpPr>
        <p:spPr>
          <a:xfrm>
            <a:off x="1024200" y="4633560"/>
            <a:ext cx="10193760" cy="41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5000"/>
              </a:lnSpc>
              <a:buNone/>
            </a:pPr>
            <a:r>
              <a:rPr b="0" lang="en-US" sz="1300" spc="-1" strike="noStrike">
                <a:solidFill>
                  <a:srgbClr val="6b6478"/>
                </a:solidFill>
                <a:latin typeface="Arial"/>
                <a:ea typeface="DejaVu Sans"/>
              </a:rPr>
              <a:t>Wymagania zależą od modelu i vendora. Bez GPU używaj Ollama / llama.cpp (CPU-only). Python 3.10+ (zalecane 3.12+), izolowany venv, zależności z requirements.txt.</a:t>
            </a:r>
            <a:endParaRPr b="0" lang="pl-PL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TextBox 1"/>
          <p:cNvSpPr/>
          <p:nvPr/>
        </p:nvSpPr>
        <p:spPr>
          <a:xfrm>
            <a:off x="768240" y="420480"/>
            <a:ext cx="1060524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900" spc="-1" strike="noStrike">
                <a:solidFill>
                  <a:srgbClr val="1b0532"/>
                </a:solidFill>
                <a:latin typeface="Play"/>
                <a:ea typeface="DejaVu Sans"/>
              </a:rPr>
              <a:t>Lokalne silniki (vendorzy)</a:t>
            </a:r>
            <a:endParaRPr b="0" lang="pl-PL" sz="2900" spc="-1" strike="noStrike">
              <a:latin typeface="Arial"/>
            </a:endParaRPr>
          </a:p>
        </p:txBody>
      </p:sp>
      <p:sp>
        <p:nvSpPr>
          <p:cNvPr id="353" name="Rectangle 2"/>
          <p:cNvSpPr/>
          <p:nvPr/>
        </p:nvSpPr>
        <p:spPr>
          <a:xfrm>
            <a:off x="768240" y="1170360"/>
            <a:ext cx="1369800" cy="42480"/>
          </a:xfrm>
          <a:prstGeom prst="rect">
            <a:avLst/>
          </a:prstGeom>
          <a:solidFill>
            <a:srgbClr val="00be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54" name="TextBox 3"/>
          <p:cNvSpPr/>
          <p:nvPr/>
        </p:nvSpPr>
        <p:spPr>
          <a:xfrm>
            <a:off x="768240" y="1298520"/>
            <a:ext cx="106052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1500" spc="-1" strike="noStrike">
                <a:solidFill>
                  <a:srgbClr val="6b6478"/>
                </a:solidFill>
                <a:latin typeface="Arial"/>
                <a:ea typeface="DejaVu Sans"/>
              </a:rPr>
              <a:t>Trzy sposoby serwowania modeli lokalnie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355" name="Rectangle 4"/>
          <p:cNvSpPr/>
          <p:nvPr/>
        </p:nvSpPr>
        <p:spPr>
          <a:xfrm>
            <a:off x="0" y="6437520"/>
            <a:ext cx="12189960" cy="13320"/>
          </a:xfrm>
          <a:prstGeom prst="rect">
            <a:avLst/>
          </a:prstGeom>
          <a:solidFill>
            <a:srgbClr val="f2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56" name="TextBox 5"/>
          <p:cNvSpPr/>
          <p:nvPr/>
        </p:nvSpPr>
        <p:spPr>
          <a:xfrm>
            <a:off x="768240" y="6473880"/>
            <a:ext cx="82278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b6478"/>
                </a:solidFill>
                <a:latin typeface="Arial"/>
                <a:ea typeface="DejaVu Sans"/>
              </a:rPr>
              <a:t>DSS 2026 AI Edition  ·  Technika · Vendorzy</a:t>
            </a:r>
            <a:endParaRPr b="0" lang="pl-PL" sz="900" spc="-1" strike="noStrike">
              <a:latin typeface="Arial"/>
            </a:endParaRPr>
          </a:p>
        </p:txBody>
      </p:sp>
      <p:sp>
        <p:nvSpPr>
          <p:cNvPr id="357" name="TextBox 6"/>
          <p:cNvSpPr/>
          <p:nvPr/>
        </p:nvSpPr>
        <p:spPr>
          <a:xfrm>
            <a:off x="10607040" y="6473880"/>
            <a:ext cx="8211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b6478"/>
                </a:solidFill>
                <a:latin typeface="Arial"/>
                <a:ea typeface="DejaVu Sans"/>
              </a:rPr>
              <a:t>19</a:t>
            </a:r>
            <a:endParaRPr b="0" lang="pl-PL" sz="900" spc="-1" strike="noStrike">
              <a:latin typeface="Arial"/>
            </a:endParaRPr>
          </a:p>
        </p:txBody>
      </p:sp>
      <p:sp>
        <p:nvSpPr>
          <p:cNvPr id="358" name="Rounded Rectangle 7"/>
          <p:cNvSpPr/>
          <p:nvPr/>
        </p:nvSpPr>
        <p:spPr>
          <a:xfrm>
            <a:off x="768240" y="1828800"/>
            <a:ext cx="10650960" cy="601560"/>
          </a:xfrm>
          <a:prstGeom prst="roundRect">
            <a:avLst>
              <a:gd name="adj" fmla="val 16667"/>
            </a:avLst>
          </a:prstGeom>
          <a:solidFill>
            <a:srgbClr val="f2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59" name="Rounded Rectangle 8"/>
          <p:cNvSpPr/>
          <p:nvPr/>
        </p:nvSpPr>
        <p:spPr>
          <a:xfrm>
            <a:off x="768240" y="1828800"/>
            <a:ext cx="1552680" cy="601560"/>
          </a:xfrm>
          <a:prstGeom prst="roundRect">
            <a:avLst>
              <a:gd name="adj" fmla="val 16667"/>
            </a:avLst>
          </a:prstGeom>
          <a:solidFill>
            <a:srgbClr val="00be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60" name="TextBox 9"/>
          <p:cNvSpPr/>
          <p:nvPr/>
        </p:nvSpPr>
        <p:spPr>
          <a:xfrm>
            <a:off x="768240" y="1938600"/>
            <a:ext cx="1552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vLLM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361" name="TextBox 10"/>
          <p:cNvSpPr/>
          <p:nvPr/>
        </p:nvSpPr>
        <p:spPr>
          <a:xfrm>
            <a:off x="2551320" y="2027160"/>
            <a:ext cx="859356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50" spc="-1" strike="noStrike">
                <a:solidFill>
                  <a:srgbClr val="1b0532"/>
                </a:solidFill>
                <a:latin typeface="Arial"/>
                <a:ea typeface="DejaVu Sans"/>
              </a:rPr>
              <a:t>wysokowydajny, GPU NVIDIA, tensor parallelism, multi-GPU</a:t>
            </a:r>
            <a:endParaRPr b="0" lang="pl-PL" sz="1350" spc="-1" strike="noStrike">
              <a:latin typeface="Arial"/>
            </a:endParaRPr>
          </a:p>
        </p:txBody>
      </p:sp>
      <p:sp>
        <p:nvSpPr>
          <p:cNvPr id="362" name="Rounded Rectangle 11"/>
          <p:cNvSpPr/>
          <p:nvPr/>
        </p:nvSpPr>
        <p:spPr>
          <a:xfrm>
            <a:off x="768240" y="2541960"/>
            <a:ext cx="10650960" cy="601560"/>
          </a:xfrm>
          <a:prstGeom prst="roundRect">
            <a:avLst>
              <a:gd name="adj" fmla="val 16667"/>
            </a:avLst>
          </a:prstGeom>
          <a:solidFill>
            <a:srgbClr val="f2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63" name="Rounded Rectangle 12"/>
          <p:cNvSpPr/>
          <p:nvPr/>
        </p:nvSpPr>
        <p:spPr>
          <a:xfrm>
            <a:off x="768240" y="2541960"/>
            <a:ext cx="1552680" cy="601560"/>
          </a:xfrm>
          <a:prstGeom prst="roundRect">
            <a:avLst>
              <a:gd name="adj" fmla="val 16667"/>
            </a:avLst>
          </a:prstGeom>
          <a:solidFill>
            <a:srgbClr val="8b19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64" name="TextBox 13"/>
          <p:cNvSpPr/>
          <p:nvPr/>
        </p:nvSpPr>
        <p:spPr>
          <a:xfrm>
            <a:off x="768240" y="2651760"/>
            <a:ext cx="1552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Ollama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365" name="TextBox 14"/>
          <p:cNvSpPr/>
          <p:nvPr/>
        </p:nvSpPr>
        <p:spPr>
          <a:xfrm>
            <a:off x="2551320" y="2740320"/>
            <a:ext cx="859356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50" spc="-1" strike="noStrike">
                <a:solidFill>
                  <a:srgbClr val="1b0532"/>
                </a:solidFill>
                <a:latin typeface="Arial"/>
                <a:ea typeface="DejaVu Sans"/>
              </a:rPr>
              <a:t>najprostszy, GGUF, NVIDIA/AMD/Apple/CPU, API :11434</a:t>
            </a:r>
            <a:endParaRPr b="0" lang="pl-PL" sz="1350" spc="-1" strike="noStrike">
              <a:latin typeface="Arial"/>
            </a:endParaRPr>
          </a:p>
        </p:txBody>
      </p:sp>
      <p:sp>
        <p:nvSpPr>
          <p:cNvPr id="366" name="Rounded Rectangle 15"/>
          <p:cNvSpPr/>
          <p:nvPr/>
        </p:nvSpPr>
        <p:spPr>
          <a:xfrm>
            <a:off x="768240" y="3255120"/>
            <a:ext cx="10650960" cy="601560"/>
          </a:xfrm>
          <a:prstGeom prst="roundRect">
            <a:avLst>
              <a:gd name="adj" fmla="val 16667"/>
            </a:avLst>
          </a:prstGeom>
          <a:solidFill>
            <a:srgbClr val="f2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67" name="Rounded Rectangle 16"/>
          <p:cNvSpPr/>
          <p:nvPr/>
        </p:nvSpPr>
        <p:spPr>
          <a:xfrm>
            <a:off x="768240" y="3255120"/>
            <a:ext cx="1552680" cy="601560"/>
          </a:xfrm>
          <a:prstGeom prst="roundRect">
            <a:avLst>
              <a:gd name="adj" fmla="val 16667"/>
            </a:avLst>
          </a:prstGeom>
          <a:solidFill>
            <a:srgbClr val="00be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68" name="TextBox 17"/>
          <p:cNvSpPr/>
          <p:nvPr/>
        </p:nvSpPr>
        <p:spPr>
          <a:xfrm>
            <a:off x="768240" y="3364920"/>
            <a:ext cx="1552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llama.cpp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369" name="TextBox 18"/>
          <p:cNvSpPr/>
          <p:nvPr/>
        </p:nvSpPr>
        <p:spPr>
          <a:xfrm>
            <a:off x="2551320" y="3453480"/>
            <a:ext cx="859356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50" spc="-1" strike="noStrike">
                <a:solidFill>
                  <a:srgbClr val="1b0532"/>
                </a:solidFill>
                <a:latin typeface="Arial"/>
                <a:ea typeface="DejaVu Sans"/>
              </a:rPr>
              <a:t>lekki C/C++, GGUF, największa kontrola, najwięcej konfiguracji</a:t>
            </a:r>
            <a:endParaRPr b="0" lang="pl-PL" sz="1350" spc="-1" strike="noStrike">
              <a:latin typeface="Arial"/>
            </a:endParaRPr>
          </a:p>
        </p:txBody>
      </p:sp>
      <p:graphicFrame>
        <p:nvGraphicFramePr>
          <p:cNvPr id="370" name="Table 19"/>
          <p:cNvGraphicFramePr/>
          <p:nvPr/>
        </p:nvGraphicFramePr>
        <p:xfrm>
          <a:off x="768240" y="4206240"/>
          <a:ext cx="10652400" cy="1974240"/>
        </p:xfrm>
        <a:graphic>
          <a:graphicData uri="http://schemas.openxmlformats.org/drawingml/2006/table">
            <a:tbl>
              <a:tblPr/>
              <a:tblGrid>
                <a:gridCol w="3063240"/>
                <a:gridCol w="2468880"/>
                <a:gridCol w="2560320"/>
                <a:gridCol w="2560320"/>
              </a:tblGrid>
              <a:tr h="329040"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50" spc="-1" strike="noStrike">
                          <a:solidFill>
                            <a:srgbClr val="00befe"/>
                          </a:solidFill>
                          <a:latin typeface="Arial"/>
                        </a:rPr>
                        <a:t>Cecha</a:t>
                      </a:r>
                      <a:endParaRPr b="0" lang="pl-PL" sz="125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42733"/>
                    </a:solidFill>
                  </a:tcPr>
                </a:tc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50" spc="-1" strike="noStrike">
                          <a:solidFill>
                            <a:srgbClr val="00befe"/>
                          </a:solidFill>
                          <a:latin typeface="Arial"/>
                        </a:rPr>
                        <a:t>vLLM</a:t>
                      </a:r>
                      <a:endParaRPr b="0" lang="pl-PL" sz="125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42733"/>
                    </a:solidFill>
                  </a:tcPr>
                </a:tc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50" spc="-1" strike="noStrike">
                          <a:solidFill>
                            <a:srgbClr val="00befe"/>
                          </a:solidFill>
                          <a:latin typeface="Arial"/>
                        </a:rPr>
                        <a:t>Ollama</a:t>
                      </a:r>
                      <a:endParaRPr b="0" lang="pl-PL" sz="125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42733"/>
                    </a:solidFill>
                  </a:tcPr>
                </a:tc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50" spc="-1" strike="noStrike">
                          <a:solidFill>
                            <a:srgbClr val="00befe"/>
                          </a:solidFill>
                          <a:latin typeface="Arial"/>
                        </a:rPr>
                        <a:t>llama.cpp</a:t>
                      </a:r>
                      <a:endParaRPr b="0" lang="pl-PL" sz="125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42733"/>
                    </a:solidFill>
                  </a:tcPr>
                </a:tc>
              </a:tr>
              <a:tr h="329040"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5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GPU</a:t>
                      </a:r>
                      <a:endParaRPr b="0" lang="pl-PL" sz="115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NVIDIA (CUDA)</a:t>
                      </a:r>
                      <a:endParaRPr b="0" lang="pl-PL" sz="115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ROCm/Metal/CUDA</a:t>
                      </a:r>
                      <a:endParaRPr b="0" lang="pl-PL" sz="115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CUDA/Metal/Vulkan</a:t>
                      </a:r>
                      <a:endParaRPr b="0" lang="pl-PL" sz="115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040"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5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CPU-only / macOS / Win</a:t>
                      </a:r>
                      <a:endParaRPr b="0" lang="pl-PL" sz="115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1f6"/>
                    </a:solidFill>
                  </a:tcPr>
                </a:tc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✗ </a:t>
                      </a:r>
                      <a:r>
                        <a:rPr b="0" lang="en-US" sz="115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/ ✗ / ✗</a:t>
                      </a:r>
                      <a:endParaRPr b="0" lang="pl-PL" sz="115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1f6"/>
                    </a:solidFill>
                  </a:tcPr>
                </a:tc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✓ </a:t>
                      </a:r>
                      <a:r>
                        <a:rPr b="0" lang="en-US" sz="115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/ ✓ / WSL2</a:t>
                      </a:r>
                      <a:endParaRPr b="0" lang="pl-PL" sz="115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1f6"/>
                    </a:solidFill>
                  </a:tcPr>
                </a:tc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✓ </a:t>
                      </a:r>
                      <a:r>
                        <a:rPr b="0" lang="en-US" sz="115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/ ✓ / ✓</a:t>
                      </a:r>
                      <a:endParaRPr b="0" lang="pl-PL" sz="115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1f6"/>
                    </a:solidFill>
                  </a:tcPr>
                </a:tc>
              </a:tr>
              <a:tr h="329040"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5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Łatwość konfiguracji</a:t>
                      </a:r>
                      <a:endParaRPr b="0" lang="pl-PL" sz="115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średnia</a:t>
                      </a:r>
                      <a:endParaRPr b="0" lang="pl-PL" sz="115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łatwa</a:t>
                      </a:r>
                      <a:endParaRPr b="0" lang="pl-PL" sz="115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trudna</a:t>
                      </a:r>
                      <a:endParaRPr b="0" lang="pl-PL" sz="115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040"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5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Wydajność GPU / CPU</a:t>
                      </a:r>
                      <a:endParaRPr b="0" lang="pl-PL" sz="115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1f6"/>
                    </a:solidFill>
                  </a:tcPr>
                </a:tc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b. wysoka / brak</a:t>
                      </a:r>
                      <a:endParaRPr b="0" lang="pl-PL" sz="115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1f6"/>
                    </a:solidFill>
                  </a:tcPr>
                </a:tc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wysoka / dobra</a:t>
                      </a:r>
                      <a:endParaRPr b="0" lang="pl-PL" sz="115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1f6"/>
                    </a:solidFill>
                  </a:tcPr>
                </a:tc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wysoka / b. dobra</a:t>
                      </a:r>
                      <a:endParaRPr b="0" lang="pl-PL" sz="115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1f6"/>
                    </a:solidFill>
                  </a:tcPr>
                </a:tc>
              </a:tr>
              <a:tr h="329400"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5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Modele 120B+</a:t>
                      </a:r>
                      <a:endParaRPr b="0" lang="pl-PL" sz="115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✓ </a:t>
                      </a:r>
                      <a:r>
                        <a:rPr b="0" lang="en-US" sz="115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multi-GPU</a:t>
                      </a:r>
                      <a:endParaRPr b="0" lang="pl-PL" sz="115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⚠ </a:t>
                      </a:r>
                      <a:r>
                        <a:rPr b="0" lang="en-US" sz="115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GGUF/RAM</a:t>
                      </a:r>
                      <a:endParaRPr b="0" lang="pl-PL" sz="115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⚠ </a:t>
                      </a:r>
                      <a:r>
                        <a:rPr b="0" lang="en-US" sz="115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GGUF/RAM</a:t>
                      </a:r>
                      <a:endParaRPr b="0" lang="pl-PL" sz="115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TextBox 1"/>
          <p:cNvSpPr/>
          <p:nvPr/>
        </p:nvSpPr>
        <p:spPr>
          <a:xfrm>
            <a:off x="768240" y="420480"/>
            <a:ext cx="1060524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900" spc="-1" strike="noStrike">
                <a:solidFill>
                  <a:srgbClr val="1b0532"/>
                </a:solidFill>
                <a:latin typeface="Play"/>
                <a:ea typeface="DejaVu Sans"/>
              </a:rPr>
              <a:t>vLLM — uruchomienie serwera</a:t>
            </a:r>
            <a:endParaRPr b="0" lang="pl-PL" sz="2900" spc="-1" strike="noStrike">
              <a:latin typeface="Arial"/>
            </a:endParaRPr>
          </a:p>
        </p:txBody>
      </p:sp>
      <p:sp>
        <p:nvSpPr>
          <p:cNvPr id="372" name="Rectangle 2"/>
          <p:cNvSpPr/>
          <p:nvPr/>
        </p:nvSpPr>
        <p:spPr>
          <a:xfrm>
            <a:off x="768240" y="1170360"/>
            <a:ext cx="1369800" cy="42480"/>
          </a:xfrm>
          <a:prstGeom prst="rect">
            <a:avLst/>
          </a:prstGeom>
          <a:solidFill>
            <a:srgbClr val="00be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73" name="TextBox 3"/>
          <p:cNvSpPr/>
          <p:nvPr/>
        </p:nvSpPr>
        <p:spPr>
          <a:xfrm>
            <a:off x="768240" y="1298520"/>
            <a:ext cx="106052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1500" spc="-1" strike="noStrike">
                <a:solidFill>
                  <a:srgbClr val="6b6478"/>
                </a:solidFill>
                <a:latin typeface="Arial"/>
                <a:ea typeface="DejaVu Sans"/>
              </a:rPr>
              <a:t>GPU NVIDIA (VRAM ≥ 24 GB), Linux, CUDA 12.x; format HF Safetensors / GGUF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374" name="Rectangle 4"/>
          <p:cNvSpPr/>
          <p:nvPr/>
        </p:nvSpPr>
        <p:spPr>
          <a:xfrm>
            <a:off x="0" y="6437520"/>
            <a:ext cx="12189960" cy="13320"/>
          </a:xfrm>
          <a:prstGeom prst="rect">
            <a:avLst/>
          </a:prstGeom>
          <a:solidFill>
            <a:srgbClr val="f2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75" name="TextBox 5"/>
          <p:cNvSpPr/>
          <p:nvPr/>
        </p:nvSpPr>
        <p:spPr>
          <a:xfrm>
            <a:off x="768240" y="6473880"/>
            <a:ext cx="82278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b6478"/>
                </a:solidFill>
                <a:latin typeface="Arial"/>
                <a:ea typeface="DejaVu Sans"/>
              </a:rPr>
              <a:t>DSS 2026 AI Edition  ·  Technika · Vendorzy</a:t>
            </a:r>
            <a:endParaRPr b="0" lang="pl-PL" sz="900" spc="-1" strike="noStrike">
              <a:latin typeface="Arial"/>
            </a:endParaRPr>
          </a:p>
        </p:txBody>
      </p:sp>
      <p:sp>
        <p:nvSpPr>
          <p:cNvPr id="376" name="TextBox 6"/>
          <p:cNvSpPr/>
          <p:nvPr/>
        </p:nvSpPr>
        <p:spPr>
          <a:xfrm>
            <a:off x="10607040" y="6473880"/>
            <a:ext cx="8211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b6478"/>
                </a:solidFill>
                <a:latin typeface="Arial"/>
                <a:ea typeface="DejaVu Sans"/>
              </a:rPr>
              <a:t>20</a:t>
            </a:r>
            <a:endParaRPr b="0" lang="pl-PL" sz="900" spc="-1" strike="noStrike">
              <a:latin typeface="Arial"/>
            </a:endParaRPr>
          </a:p>
        </p:txBody>
      </p:sp>
      <p:sp>
        <p:nvSpPr>
          <p:cNvPr id="377" name="TextBox 7"/>
          <p:cNvSpPr/>
          <p:nvPr/>
        </p:nvSpPr>
        <p:spPr>
          <a:xfrm>
            <a:off x="768240" y="1828800"/>
            <a:ext cx="502740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1b0532"/>
                </a:solidFill>
                <a:latin typeface="Arial"/>
                <a:ea typeface="DejaVu Sans"/>
              </a:rPr>
              <a:t>Instalacja:</a:t>
            </a:r>
            <a:endParaRPr b="0" lang="pl-PL" sz="1400" spc="-1" strike="noStrike">
              <a:latin typeface="Arial"/>
            </a:endParaRPr>
          </a:p>
        </p:txBody>
      </p:sp>
      <p:sp>
        <p:nvSpPr>
          <p:cNvPr id="378" name="Rounded Rectangle 8"/>
          <p:cNvSpPr/>
          <p:nvPr/>
        </p:nvSpPr>
        <p:spPr>
          <a:xfrm>
            <a:off x="768240" y="2194560"/>
            <a:ext cx="5118840" cy="862200"/>
          </a:xfrm>
          <a:prstGeom prst="roundRect">
            <a:avLst>
              <a:gd name="adj" fmla="val 16667"/>
            </a:avLst>
          </a:prstGeom>
          <a:solidFill>
            <a:srgbClr val="110a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79" name="TextBox 9"/>
          <p:cNvSpPr/>
          <p:nvPr/>
        </p:nvSpPr>
        <p:spPr>
          <a:xfrm>
            <a:off x="1989720" y="2277000"/>
            <a:ext cx="2675880" cy="66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50" spc="-1" strike="noStrike">
                <a:solidFill>
                  <a:srgbClr val="e8e6f0"/>
                </a:solidFill>
                <a:latin typeface="Consolas"/>
                <a:ea typeface="DejaVu Sans"/>
              </a:rPr>
              <a:t>pip install vllm</a:t>
            </a:r>
            <a:endParaRPr b="0" lang="pl-PL" sz="12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50" spc="-1" strike="noStrike">
                <a:solidFill>
                  <a:srgbClr val="e8e6f0"/>
                </a:solidFill>
                <a:latin typeface="Consolas"/>
                <a:ea typeface="DejaVu Sans"/>
              </a:rPr>
              <a:t>python3 -c "import vllm; \</a:t>
            </a:r>
            <a:endParaRPr b="0" lang="pl-PL" sz="12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50" spc="-1" strike="noStrike">
                <a:solidFill>
                  <a:srgbClr val="e8e6f0"/>
                </a:solidFill>
                <a:latin typeface="Consolas"/>
                <a:ea typeface="DejaVu Sans"/>
              </a:rPr>
              <a:t>  </a:t>
            </a:r>
            <a:r>
              <a:rPr b="0" lang="en-US" sz="1250" spc="-1" strike="noStrike">
                <a:solidFill>
                  <a:srgbClr val="e8e6f0"/>
                </a:solidFill>
                <a:latin typeface="Consolas"/>
                <a:ea typeface="DejaVu Sans"/>
              </a:rPr>
              <a:t>print(vllm.__version__)"</a:t>
            </a:r>
            <a:endParaRPr b="0" lang="pl-PL" sz="1250" spc="-1" strike="noStrike">
              <a:latin typeface="Arial"/>
            </a:endParaRPr>
          </a:p>
        </p:txBody>
      </p:sp>
      <p:sp>
        <p:nvSpPr>
          <p:cNvPr id="380" name="TextBox 10"/>
          <p:cNvSpPr/>
          <p:nvPr/>
        </p:nvSpPr>
        <p:spPr>
          <a:xfrm>
            <a:off x="6400800" y="1828800"/>
            <a:ext cx="502740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1b0532"/>
                </a:solidFill>
                <a:latin typeface="Arial"/>
                <a:ea typeface="DejaVu Sans"/>
              </a:rPr>
              <a:t>Serwowanie (PLLuM-70B):</a:t>
            </a:r>
            <a:endParaRPr b="0" lang="pl-PL" sz="1400" spc="-1" strike="noStrike">
              <a:latin typeface="Arial"/>
            </a:endParaRPr>
          </a:p>
        </p:txBody>
      </p:sp>
      <p:sp>
        <p:nvSpPr>
          <p:cNvPr id="381" name="Rounded Rectangle 11"/>
          <p:cNvSpPr/>
          <p:nvPr/>
        </p:nvSpPr>
        <p:spPr>
          <a:xfrm>
            <a:off x="6400800" y="2194560"/>
            <a:ext cx="5027400" cy="1328760"/>
          </a:xfrm>
          <a:prstGeom prst="roundRect">
            <a:avLst>
              <a:gd name="adj" fmla="val 16667"/>
            </a:avLst>
          </a:prstGeom>
          <a:solidFill>
            <a:srgbClr val="110a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82" name="TextBox 12"/>
          <p:cNvSpPr/>
          <p:nvPr/>
        </p:nvSpPr>
        <p:spPr>
          <a:xfrm>
            <a:off x="6904440" y="2277000"/>
            <a:ext cx="4020120" cy="10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50" spc="-1" strike="noStrike">
                <a:solidFill>
                  <a:srgbClr val="e8e6f0"/>
                </a:solidFill>
                <a:latin typeface="Consolas"/>
                <a:ea typeface="DejaVu Sans"/>
              </a:rPr>
              <a:t>vllm serve \</a:t>
            </a:r>
            <a:endParaRPr b="0" lang="pl-PL" sz="12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50" spc="-1" strike="noStrike">
                <a:solidFill>
                  <a:srgbClr val="e8e6f0"/>
                </a:solidFill>
                <a:latin typeface="Consolas"/>
                <a:ea typeface="DejaVu Sans"/>
              </a:rPr>
              <a:t>  </a:t>
            </a:r>
            <a:r>
              <a:rPr b="0" lang="en-US" sz="1250" spc="-1" strike="noStrike">
                <a:solidFill>
                  <a:srgbClr val="e8e6f0"/>
                </a:solidFill>
                <a:latin typeface="Consolas"/>
                <a:ea typeface="DejaVu Sans"/>
              </a:rPr>
              <a:t>CYFRAGOVPL/Llama-PLLuM-70B-chat-2512 \</a:t>
            </a:r>
            <a:endParaRPr b="0" lang="pl-PL" sz="12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50" spc="-1" strike="noStrike">
                <a:solidFill>
                  <a:srgbClr val="e8e6f0"/>
                </a:solidFill>
                <a:latin typeface="Consolas"/>
                <a:ea typeface="DejaVu Sans"/>
              </a:rPr>
              <a:t>  </a:t>
            </a:r>
            <a:r>
              <a:rPr b="0" lang="en-US" sz="1250" spc="-1" strike="noStrike">
                <a:solidFill>
                  <a:srgbClr val="e8e6f0"/>
                </a:solidFill>
                <a:latin typeface="Consolas"/>
                <a:ea typeface="DejaVu Sans"/>
              </a:rPr>
              <a:t>--tensor-parallel-size 2 \</a:t>
            </a:r>
            <a:endParaRPr b="0" lang="pl-PL" sz="12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50" spc="-1" strike="noStrike">
                <a:solidFill>
                  <a:srgbClr val="e8e6f0"/>
                </a:solidFill>
                <a:latin typeface="Consolas"/>
                <a:ea typeface="DejaVu Sans"/>
              </a:rPr>
              <a:t>  </a:t>
            </a:r>
            <a:r>
              <a:rPr b="0" lang="en-US" sz="1250" spc="-1" strike="noStrike">
                <a:solidFill>
                  <a:srgbClr val="e8e6f0"/>
                </a:solidFill>
                <a:latin typeface="Consolas"/>
                <a:ea typeface="DejaVu Sans"/>
              </a:rPr>
              <a:t>--max-model-len 8192 \</a:t>
            </a:r>
            <a:endParaRPr b="0" lang="pl-PL" sz="12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50" spc="-1" strike="noStrike">
                <a:solidFill>
                  <a:srgbClr val="e8e6f0"/>
                </a:solidFill>
                <a:latin typeface="Consolas"/>
                <a:ea typeface="DejaVu Sans"/>
              </a:rPr>
              <a:t>  </a:t>
            </a:r>
            <a:r>
              <a:rPr b="0" lang="en-US" sz="1250" spc="-1" strike="noStrike">
                <a:solidFill>
                  <a:srgbClr val="e8e6f0"/>
                </a:solidFill>
                <a:latin typeface="Consolas"/>
                <a:ea typeface="DejaVu Sans"/>
              </a:rPr>
              <a:t>--port 8080</a:t>
            </a:r>
            <a:endParaRPr b="0" lang="pl-PL" sz="1250" spc="-1" strike="noStrike">
              <a:latin typeface="Arial"/>
            </a:endParaRPr>
          </a:p>
        </p:txBody>
      </p:sp>
      <p:sp>
        <p:nvSpPr>
          <p:cNvPr id="383" name="Rounded Rectangle 13"/>
          <p:cNvSpPr/>
          <p:nvPr/>
        </p:nvSpPr>
        <p:spPr>
          <a:xfrm>
            <a:off x="768240" y="4206240"/>
            <a:ext cx="10650960" cy="729720"/>
          </a:xfrm>
          <a:prstGeom prst="roundRect">
            <a:avLst>
              <a:gd name="adj" fmla="val 16667"/>
            </a:avLst>
          </a:prstGeom>
          <a:solidFill>
            <a:srgbClr val="f2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84" name="Rectangle 14"/>
          <p:cNvSpPr/>
          <p:nvPr/>
        </p:nvSpPr>
        <p:spPr>
          <a:xfrm>
            <a:off x="768240" y="4206240"/>
            <a:ext cx="48960" cy="729720"/>
          </a:xfrm>
          <a:prstGeom prst="rect">
            <a:avLst/>
          </a:prstGeom>
          <a:solidFill>
            <a:srgbClr val="8b19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85" name="TextBox 15"/>
          <p:cNvSpPr/>
          <p:nvPr/>
        </p:nvSpPr>
        <p:spPr>
          <a:xfrm>
            <a:off x="1024200" y="4271040"/>
            <a:ext cx="101937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5000"/>
              </a:lnSpc>
              <a:buNone/>
            </a:pPr>
            <a:r>
              <a:rPr b="1" lang="en-US" sz="1400" spc="-1" strike="noStrike">
                <a:solidFill>
                  <a:srgbClr val="1b0532"/>
                </a:solidFill>
                <a:latin typeface="Arial"/>
                <a:ea typeface="DejaVu Sans"/>
              </a:rPr>
              <a:t>▸  </a:t>
            </a:r>
            <a:r>
              <a:rPr b="1" lang="en-US" sz="1400" spc="-1" strike="noStrike">
                <a:solidFill>
                  <a:srgbClr val="1b0532"/>
                </a:solidFill>
                <a:latin typeface="Arial"/>
                <a:ea typeface="DejaVu Sans"/>
              </a:rPr>
              <a:t>Pozostali vendorzy w skrócie</a:t>
            </a:r>
            <a:endParaRPr b="0" lang="pl-PL" sz="14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US" sz="1300" spc="-1" strike="noStrike">
                <a:solidFill>
                  <a:srgbClr val="6b6478"/>
                </a:solidFill>
                <a:latin typeface="Arial"/>
                <a:ea typeface="DejaVu Sans"/>
              </a:rPr>
              <a:t>Po starcie serwer dostępny pod http://localhost:8080. Ollama: `ollama run SpeakLeash/bielik-…` lub `ollama run gpt-oss:120b`; llama.cpp: `cmake -B build -DGGML_CUDA=ON` → `llama-server --model model.gguf`.</a:t>
            </a:r>
            <a:endParaRPr b="0" lang="pl-PL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TextBox 1"/>
          <p:cNvSpPr/>
          <p:nvPr/>
        </p:nvSpPr>
        <p:spPr>
          <a:xfrm>
            <a:off x="768240" y="420480"/>
            <a:ext cx="1060524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900" spc="-1" strike="noStrike">
                <a:solidFill>
                  <a:srgbClr val="1b0532"/>
                </a:solidFill>
                <a:latin typeface="Play"/>
                <a:ea typeface="DejaVu Sans"/>
              </a:rPr>
              <a:t>LLM Router — AI Gateway</a:t>
            </a:r>
            <a:endParaRPr b="0" lang="pl-PL" sz="2900" spc="-1" strike="noStrike">
              <a:latin typeface="Arial"/>
            </a:endParaRPr>
          </a:p>
        </p:txBody>
      </p:sp>
      <p:sp>
        <p:nvSpPr>
          <p:cNvPr id="387" name="Rectangle 2"/>
          <p:cNvSpPr/>
          <p:nvPr/>
        </p:nvSpPr>
        <p:spPr>
          <a:xfrm>
            <a:off x="768240" y="1170360"/>
            <a:ext cx="1369800" cy="42480"/>
          </a:xfrm>
          <a:prstGeom prst="rect">
            <a:avLst/>
          </a:prstGeom>
          <a:solidFill>
            <a:srgbClr val="00be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88" name="TextBox 3"/>
          <p:cNvSpPr/>
          <p:nvPr/>
        </p:nvSpPr>
        <p:spPr>
          <a:xfrm>
            <a:off x="768240" y="1298520"/>
            <a:ext cx="106052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1500" spc="-1" strike="noStrike">
                <a:solidFill>
                  <a:srgbClr val="6b6478"/>
                </a:solidFill>
                <a:latin typeface="Arial"/>
                <a:ea typeface="DejaVu Sans"/>
              </a:rPr>
              <a:t>Open-source (Apache 2.0) warstwa pośrednicząca: aplikacja ↔ dostawca LLM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389" name="Rectangle 4"/>
          <p:cNvSpPr/>
          <p:nvPr/>
        </p:nvSpPr>
        <p:spPr>
          <a:xfrm>
            <a:off x="0" y="6437520"/>
            <a:ext cx="12189960" cy="13320"/>
          </a:xfrm>
          <a:prstGeom prst="rect">
            <a:avLst/>
          </a:prstGeom>
          <a:solidFill>
            <a:srgbClr val="f2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90" name="TextBox 5"/>
          <p:cNvSpPr/>
          <p:nvPr/>
        </p:nvSpPr>
        <p:spPr>
          <a:xfrm>
            <a:off x="768240" y="6473880"/>
            <a:ext cx="82278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b6478"/>
                </a:solidFill>
                <a:latin typeface="Arial"/>
                <a:ea typeface="DejaVu Sans"/>
              </a:rPr>
              <a:t>DSS 2026 AI Edition  ·  Technika · LLM Router</a:t>
            </a:r>
            <a:endParaRPr b="0" lang="pl-PL" sz="900" spc="-1" strike="noStrike">
              <a:latin typeface="Arial"/>
            </a:endParaRPr>
          </a:p>
        </p:txBody>
      </p:sp>
      <p:sp>
        <p:nvSpPr>
          <p:cNvPr id="391" name="TextBox 6"/>
          <p:cNvSpPr/>
          <p:nvPr/>
        </p:nvSpPr>
        <p:spPr>
          <a:xfrm>
            <a:off x="10607040" y="6473880"/>
            <a:ext cx="8211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b6478"/>
                </a:solidFill>
                <a:latin typeface="Arial"/>
                <a:ea typeface="DejaVu Sans"/>
              </a:rPr>
              <a:t>21</a:t>
            </a:r>
            <a:endParaRPr b="0" lang="pl-PL" sz="900" spc="-1" strike="noStrike">
              <a:latin typeface="Arial"/>
            </a:endParaRPr>
          </a:p>
        </p:txBody>
      </p:sp>
      <p:sp>
        <p:nvSpPr>
          <p:cNvPr id="392" name="TextBox 7"/>
          <p:cNvSpPr/>
          <p:nvPr/>
        </p:nvSpPr>
        <p:spPr>
          <a:xfrm>
            <a:off x="768240" y="1828800"/>
            <a:ext cx="5393160" cy="12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5000"/>
              </a:lnSpc>
              <a:spcAft>
                <a:spcPts val="700"/>
              </a:spcAft>
              <a:buNone/>
            </a:pPr>
            <a:r>
              <a:rPr b="0" lang="en-US" sz="1450" spc="-1" strike="noStrike">
                <a:solidFill>
                  <a:srgbClr val="1b0532"/>
                </a:solidFill>
                <a:latin typeface="Arial"/>
                <a:ea typeface="DejaVu Sans"/>
              </a:rPr>
              <a:t>▸  </a:t>
            </a:r>
            <a:r>
              <a:rPr b="0" lang="en-US" sz="1450" spc="-1" strike="noStrike">
                <a:solidFill>
                  <a:srgbClr val="1b0532"/>
                </a:solidFill>
                <a:latin typeface="Arial"/>
                <a:ea typeface="DejaVu Sans"/>
              </a:rPr>
              <a:t>jeden endpoint dla wielu providerów</a:t>
            </a:r>
            <a:endParaRPr b="0" lang="pl-PL" sz="145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700"/>
              </a:spcAft>
              <a:buNone/>
            </a:pPr>
            <a:r>
              <a:rPr b="0" lang="en-US" sz="1450" spc="-1" strike="noStrike">
                <a:solidFill>
                  <a:srgbClr val="1b0532"/>
                </a:solidFill>
                <a:latin typeface="Arial"/>
                <a:ea typeface="DejaVu Sans"/>
              </a:rPr>
              <a:t>▸  </a:t>
            </a:r>
            <a:r>
              <a:rPr b="0" lang="en-US" sz="1450" spc="-1" strike="noStrike">
                <a:solidFill>
                  <a:srgbClr val="1b0532"/>
                </a:solidFill>
                <a:latin typeface="Arial"/>
                <a:ea typeface="DejaVu Sans"/>
              </a:rPr>
              <a:t>load balancing + health checks + streaming</a:t>
            </a:r>
            <a:endParaRPr b="0" lang="pl-PL" sz="145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700"/>
              </a:spcAft>
              <a:buNone/>
            </a:pPr>
            <a:r>
              <a:rPr b="0" lang="en-US" sz="1450" spc="-1" strike="noStrike">
                <a:solidFill>
                  <a:srgbClr val="1b0532"/>
                </a:solidFill>
                <a:latin typeface="Arial"/>
                <a:ea typeface="DejaVu Sans"/>
              </a:rPr>
              <a:t>▸  </a:t>
            </a:r>
            <a:r>
              <a:rPr b="0" lang="en-US" sz="1450" spc="-1" strike="noStrike">
                <a:solidFill>
                  <a:srgbClr val="1b0532"/>
                </a:solidFill>
                <a:latin typeface="Arial"/>
                <a:ea typeface="DejaVu Sans"/>
              </a:rPr>
              <a:t>maskowanie / anonimizacja PII</a:t>
            </a:r>
            <a:endParaRPr b="0" lang="pl-PL" sz="145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700"/>
              </a:spcAft>
              <a:buNone/>
            </a:pPr>
            <a:r>
              <a:rPr b="0" lang="en-US" sz="1450" spc="-1" strike="noStrike">
                <a:solidFill>
                  <a:srgbClr val="1b0532"/>
                </a:solidFill>
                <a:latin typeface="Arial"/>
                <a:ea typeface="DejaVu Sans"/>
              </a:rPr>
              <a:t>▸  </a:t>
            </a:r>
            <a:r>
              <a:rPr b="0" lang="en-US" sz="1450" spc="-1" strike="noStrike">
                <a:solidFill>
                  <a:srgbClr val="1b0532"/>
                </a:solidFill>
                <a:latin typeface="Arial"/>
                <a:ea typeface="DejaVu Sans"/>
              </a:rPr>
              <a:t>guardrails (treści zabronione)</a:t>
            </a:r>
            <a:endParaRPr b="0" lang="pl-PL" sz="1450" spc="-1" strike="noStrike">
              <a:latin typeface="Arial"/>
            </a:endParaRPr>
          </a:p>
        </p:txBody>
      </p:sp>
      <p:sp>
        <p:nvSpPr>
          <p:cNvPr id="393" name="TextBox 8"/>
          <p:cNvSpPr/>
          <p:nvPr/>
        </p:nvSpPr>
        <p:spPr>
          <a:xfrm>
            <a:off x="6400800" y="1783080"/>
            <a:ext cx="502740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1b0532"/>
                </a:solidFill>
                <a:latin typeface="Arial"/>
                <a:ea typeface="DejaVu Sans"/>
              </a:rPr>
              <a:t>Ekosystem (repozytoria):</a:t>
            </a:r>
            <a:endParaRPr b="0" lang="pl-PL" sz="1400" spc="-1" strike="noStrike">
              <a:latin typeface="Arial"/>
            </a:endParaRPr>
          </a:p>
        </p:txBody>
      </p:sp>
      <p:graphicFrame>
        <p:nvGraphicFramePr>
          <p:cNvPr id="394" name="Table 9"/>
          <p:cNvGraphicFramePr/>
          <p:nvPr/>
        </p:nvGraphicFramePr>
        <p:xfrm>
          <a:off x="6400800" y="2148840"/>
          <a:ext cx="5028840" cy="2687760"/>
        </p:xfrm>
        <a:graphic>
          <a:graphicData uri="http://schemas.openxmlformats.org/drawingml/2006/table">
            <a:tbl>
              <a:tblPr/>
              <a:tblGrid>
                <a:gridCol w="2103120"/>
                <a:gridCol w="2926080"/>
              </a:tblGrid>
              <a:tr h="383760"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50" spc="-1" strike="noStrike">
                          <a:solidFill>
                            <a:srgbClr val="00befe"/>
                          </a:solidFill>
                          <a:latin typeface="Arial"/>
                        </a:rPr>
                        <a:t>Repo</a:t>
                      </a:r>
                      <a:endParaRPr b="0" lang="pl-PL" sz="125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42733"/>
                    </a:solidFill>
                  </a:tcPr>
                </a:tc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50" spc="-1" strike="noStrike">
                          <a:solidFill>
                            <a:srgbClr val="00befe"/>
                          </a:solidFill>
                          <a:latin typeface="Arial"/>
                        </a:rPr>
                        <a:t>Rola</a:t>
                      </a:r>
                      <a:endParaRPr b="0" lang="pl-PL" sz="125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42733"/>
                    </a:solidFill>
                  </a:tcPr>
                </a:tc>
              </a:tr>
              <a:tr h="383760"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llm-router-api</a:t>
                      </a:r>
                      <a:endParaRPr b="0" lang="pl-PL" sz="110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REST proxy do backendów</a:t>
                      </a:r>
                      <a:endParaRPr b="0" lang="pl-PL" sz="110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llm-router-lib</a:t>
                      </a:r>
                      <a:endParaRPr b="0" lang="pl-PL" sz="110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1f6"/>
                    </a:solidFill>
                  </a:tcPr>
                </a:tc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Python SDK (typowane)</a:t>
                      </a:r>
                      <a:endParaRPr b="0" lang="pl-PL" sz="110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1f6"/>
                    </a:solidFill>
                  </a:tcPr>
                </a:tc>
              </a:tr>
              <a:tr h="383760"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llm-router-web</a:t>
                      </a:r>
                      <a:endParaRPr b="0" lang="pl-PL" sz="110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Flask UI: config + anonymizer</a:t>
                      </a:r>
                      <a:endParaRPr b="0" lang="pl-PL" sz="110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llm-router-plugins</a:t>
                      </a:r>
                      <a:endParaRPr b="0" lang="pl-PL" sz="110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1f6"/>
                    </a:solidFill>
                  </a:tcPr>
                </a:tc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maskery, guardrails, routing, RAG</a:t>
                      </a:r>
                      <a:endParaRPr b="0" lang="pl-PL" sz="110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1f6"/>
                    </a:solidFill>
                  </a:tcPr>
                </a:tc>
              </a:tr>
              <a:tr h="383760"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llm-router-services</a:t>
                      </a:r>
                      <a:endParaRPr b="0" lang="pl-PL" sz="110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guardrails + PII masker (HTTP)</a:t>
                      </a:r>
                      <a:endParaRPr b="0" lang="pl-PL" sz="110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5560"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llm-router-utils</a:t>
                      </a:r>
                      <a:endParaRPr b="0" lang="pl-PL" sz="110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1f6"/>
                    </a:solidFill>
                  </a:tcPr>
                </a:tc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CLI: genai-classifier, augmentation</a:t>
                      </a:r>
                      <a:endParaRPr b="0" lang="pl-PL" sz="110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1f6"/>
                    </a:solidFill>
                  </a:tcPr>
                </a:tc>
              </a:tr>
            </a:tbl>
          </a:graphicData>
        </a:graphic>
      </p:graphicFrame>
      <p:sp>
        <p:nvSpPr>
          <p:cNvPr id="395" name="Rounded Rectangle 10"/>
          <p:cNvSpPr/>
          <p:nvPr/>
        </p:nvSpPr>
        <p:spPr>
          <a:xfrm>
            <a:off x="768240" y="3931920"/>
            <a:ext cx="5393160" cy="862200"/>
          </a:xfrm>
          <a:prstGeom prst="roundRect">
            <a:avLst>
              <a:gd name="adj" fmla="val 16667"/>
            </a:avLst>
          </a:prstGeom>
          <a:solidFill>
            <a:srgbClr val="110a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96" name="TextBox 11"/>
          <p:cNvSpPr/>
          <p:nvPr/>
        </p:nvSpPr>
        <p:spPr>
          <a:xfrm>
            <a:off x="1911960" y="4014360"/>
            <a:ext cx="3105720" cy="63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e8e6f0"/>
                </a:solidFill>
                <a:latin typeface="Consolas"/>
                <a:ea typeface="DejaVu Sans"/>
              </a:rPr>
              <a:t>Request → MaskerPipeline →</a:t>
            </a:r>
            <a:endParaRPr b="0" lang="pl-PL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e8e6f0"/>
                </a:solidFill>
                <a:latin typeface="Consolas"/>
                <a:ea typeface="DejaVu Sans"/>
              </a:rPr>
              <a:t>  </a:t>
            </a:r>
            <a:r>
              <a:rPr b="0" lang="en-US" sz="1200" spc="-1" strike="noStrike">
                <a:solidFill>
                  <a:srgbClr val="e8e6f0"/>
                </a:solidFill>
                <a:latin typeface="Consolas"/>
                <a:ea typeface="DejaVu Sans"/>
              </a:rPr>
              <a:t>GuardrailPipeline →</a:t>
            </a:r>
            <a:endParaRPr b="0" lang="pl-PL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e8e6f0"/>
                </a:solidFill>
                <a:latin typeface="Consolas"/>
                <a:ea typeface="DejaVu Sans"/>
              </a:rPr>
              <a:t>  </a:t>
            </a:r>
            <a:r>
              <a:rPr b="0" lang="en-US" sz="1200" spc="-1" strike="noStrike">
                <a:solidFill>
                  <a:srgbClr val="e8e6f0"/>
                </a:solidFill>
                <a:latin typeface="Consolas"/>
                <a:ea typeface="DejaVu Sans"/>
              </a:rPr>
              <a:t>UtilsPipeline → Model Provider</a:t>
            </a:r>
            <a:endParaRPr b="0" lang="pl-PL" sz="1200" spc="-1" strike="noStrike">
              <a:latin typeface="Arial"/>
            </a:endParaRPr>
          </a:p>
        </p:txBody>
      </p:sp>
      <p:sp>
        <p:nvSpPr>
          <p:cNvPr id="397" name="Rounded Rectangle 12"/>
          <p:cNvSpPr/>
          <p:nvPr/>
        </p:nvSpPr>
        <p:spPr>
          <a:xfrm>
            <a:off x="768240" y="5074920"/>
            <a:ext cx="5393160" cy="729720"/>
          </a:xfrm>
          <a:prstGeom prst="roundRect">
            <a:avLst>
              <a:gd name="adj" fmla="val 16667"/>
            </a:avLst>
          </a:prstGeom>
          <a:solidFill>
            <a:srgbClr val="f2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98" name="Rectangle 13"/>
          <p:cNvSpPr/>
          <p:nvPr/>
        </p:nvSpPr>
        <p:spPr>
          <a:xfrm>
            <a:off x="768240" y="5074920"/>
            <a:ext cx="48960" cy="729720"/>
          </a:xfrm>
          <a:prstGeom prst="rect">
            <a:avLst/>
          </a:prstGeom>
          <a:solidFill>
            <a:srgbClr val="00be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99" name="TextBox 14"/>
          <p:cNvSpPr/>
          <p:nvPr/>
        </p:nvSpPr>
        <p:spPr>
          <a:xfrm>
            <a:off x="1024200" y="5139720"/>
            <a:ext cx="49359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5000"/>
              </a:lnSpc>
              <a:buNone/>
            </a:pPr>
            <a:r>
              <a:rPr b="1" lang="en-US" sz="1400" spc="-1" strike="noStrike">
                <a:solidFill>
                  <a:srgbClr val="1b0532"/>
                </a:solidFill>
                <a:latin typeface="Arial"/>
                <a:ea typeface="DejaVu Sans"/>
              </a:rPr>
              <a:t>▸  </a:t>
            </a:r>
            <a:r>
              <a:rPr b="1" lang="en-US" sz="1400" spc="-1" strike="noStrike">
                <a:solidFill>
                  <a:srgbClr val="1b0532"/>
                </a:solidFill>
                <a:latin typeface="Arial"/>
                <a:ea typeface="DejaVu Sans"/>
              </a:rPr>
              <a:t>Pluginy</a:t>
            </a:r>
            <a:endParaRPr b="0" lang="pl-PL" sz="14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US" sz="1300" spc="-1" strike="noStrike">
                <a:solidFill>
                  <a:srgbClr val="6b6478"/>
                </a:solidFill>
                <a:latin typeface="Arial"/>
                <a:ea typeface="DejaVu Sans"/>
              </a:rPr>
              <a:t>fast_masker (regex, 30+ typów PII) · pii_masker (transformer) · nask_guard / sojka_guard · RAG, semantic routing.</a:t>
            </a:r>
            <a:endParaRPr b="0" lang="pl-PL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extBox 1"/>
          <p:cNvSpPr/>
          <p:nvPr/>
        </p:nvSpPr>
        <p:spPr>
          <a:xfrm>
            <a:off x="768240" y="420480"/>
            <a:ext cx="1060524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900" spc="-1" strike="noStrike">
                <a:solidFill>
                  <a:srgbClr val="1b0532"/>
                </a:solidFill>
                <a:latin typeface="Play"/>
                <a:ea typeface="DejaVu Sans"/>
              </a:rPr>
              <a:t>Automatyczne labelowanie — genai-classifier</a:t>
            </a:r>
            <a:endParaRPr b="0" lang="pl-PL" sz="2900" spc="-1" strike="noStrike">
              <a:latin typeface="Arial"/>
            </a:endParaRPr>
          </a:p>
        </p:txBody>
      </p:sp>
      <p:sp>
        <p:nvSpPr>
          <p:cNvPr id="401" name="Rectangle 2"/>
          <p:cNvSpPr/>
          <p:nvPr/>
        </p:nvSpPr>
        <p:spPr>
          <a:xfrm>
            <a:off x="768240" y="1170360"/>
            <a:ext cx="1369800" cy="42480"/>
          </a:xfrm>
          <a:prstGeom prst="rect">
            <a:avLst/>
          </a:prstGeom>
          <a:solidFill>
            <a:srgbClr val="00be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02" name="TextBox 3"/>
          <p:cNvSpPr/>
          <p:nvPr/>
        </p:nvSpPr>
        <p:spPr>
          <a:xfrm>
            <a:off x="768240" y="1298520"/>
            <a:ext cx="106052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1500" spc="-1" strike="noStrike">
                <a:solidFill>
                  <a:srgbClr val="6b6478"/>
                </a:solidFill>
                <a:latin typeface="Arial"/>
                <a:ea typeface="DejaVu Sans"/>
              </a:rPr>
              <a:t>CLI z llm-router-utils: JSONL bez etykiet → JSONL z polem labels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403" name="Rectangle 4"/>
          <p:cNvSpPr/>
          <p:nvPr/>
        </p:nvSpPr>
        <p:spPr>
          <a:xfrm>
            <a:off x="0" y="6437520"/>
            <a:ext cx="12189960" cy="13320"/>
          </a:xfrm>
          <a:prstGeom prst="rect">
            <a:avLst/>
          </a:prstGeom>
          <a:solidFill>
            <a:srgbClr val="f2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04" name="TextBox 5"/>
          <p:cNvSpPr/>
          <p:nvPr/>
        </p:nvSpPr>
        <p:spPr>
          <a:xfrm>
            <a:off x="768240" y="6473880"/>
            <a:ext cx="82278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b6478"/>
                </a:solidFill>
                <a:latin typeface="Arial"/>
                <a:ea typeface="DejaVu Sans"/>
              </a:rPr>
              <a:t>DSS 2026 AI Edition  ·  Technika · Labelowanie</a:t>
            </a:r>
            <a:endParaRPr b="0" lang="pl-PL" sz="900" spc="-1" strike="noStrike">
              <a:latin typeface="Arial"/>
            </a:endParaRPr>
          </a:p>
        </p:txBody>
      </p:sp>
      <p:sp>
        <p:nvSpPr>
          <p:cNvPr id="405" name="TextBox 6"/>
          <p:cNvSpPr/>
          <p:nvPr/>
        </p:nvSpPr>
        <p:spPr>
          <a:xfrm>
            <a:off x="10607040" y="6473880"/>
            <a:ext cx="8211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b6478"/>
                </a:solidFill>
                <a:latin typeface="Arial"/>
                <a:ea typeface="DejaVu Sans"/>
              </a:rPr>
              <a:t>22</a:t>
            </a:r>
            <a:endParaRPr b="0" lang="pl-PL" sz="900" spc="-1" strike="noStrike">
              <a:latin typeface="Arial"/>
            </a:endParaRPr>
          </a:p>
        </p:txBody>
      </p:sp>
      <p:sp>
        <p:nvSpPr>
          <p:cNvPr id="406" name="Rounded Rectangle 7"/>
          <p:cNvSpPr/>
          <p:nvPr/>
        </p:nvSpPr>
        <p:spPr>
          <a:xfrm>
            <a:off x="768240" y="1828800"/>
            <a:ext cx="5850360" cy="2028240"/>
          </a:xfrm>
          <a:prstGeom prst="roundRect">
            <a:avLst>
              <a:gd name="adj" fmla="val 16667"/>
            </a:avLst>
          </a:prstGeom>
          <a:solidFill>
            <a:srgbClr val="110a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07" name="TextBox 8"/>
          <p:cNvSpPr/>
          <p:nvPr/>
        </p:nvSpPr>
        <p:spPr>
          <a:xfrm>
            <a:off x="1703160" y="1911240"/>
            <a:ext cx="3980520" cy="149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50" spc="-1" strike="noStrike">
                <a:solidFill>
                  <a:srgbClr val="e8e6f0"/>
                </a:solidFill>
                <a:latin typeface="Consolas"/>
                <a:ea typeface="DejaVu Sans"/>
              </a:rPr>
              <a:t>genai-classifier \</a:t>
            </a:r>
            <a:endParaRPr b="0" lang="pl-PL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50" spc="-1" strike="noStrike">
                <a:solidFill>
                  <a:srgbClr val="e8e6f0"/>
                </a:solidFill>
                <a:latin typeface="Consolas"/>
                <a:ea typeface="DejaVu Sans"/>
              </a:rPr>
              <a:t>  </a:t>
            </a:r>
            <a:r>
              <a:rPr b="0" lang="en-US" sz="1150" spc="-1" strike="noStrike">
                <a:solidFill>
                  <a:srgbClr val="e8e6f0"/>
                </a:solidFill>
                <a:latin typeface="Consolas"/>
                <a:ea typeface="DejaVu Sans"/>
              </a:rPr>
              <a:t>--dataset-dir=resources/.../twitteremo/ \</a:t>
            </a:r>
            <a:endParaRPr b="0" lang="pl-PL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50" spc="-1" strike="noStrike">
                <a:solidFill>
                  <a:srgbClr val="e8e6f0"/>
                </a:solidFill>
                <a:latin typeface="Consolas"/>
                <a:ea typeface="DejaVu Sans"/>
              </a:rPr>
              <a:t>  </a:t>
            </a:r>
            <a:r>
              <a:rPr b="0" lang="en-US" sz="1150" spc="-1" strike="noStrike">
                <a:solidFill>
                  <a:srgbClr val="e8e6f0"/>
                </a:solidFill>
                <a:latin typeface="Consolas"/>
                <a:ea typeface="DejaVu Sans"/>
              </a:rPr>
              <a:t>--prompts-dir=.../classifier \</a:t>
            </a:r>
            <a:endParaRPr b="0" lang="pl-PL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50" spc="-1" strike="noStrike">
                <a:solidFill>
                  <a:srgbClr val="e8e6f0"/>
                </a:solidFill>
                <a:latin typeface="Consolas"/>
                <a:ea typeface="DejaVu Sans"/>
              </a:rPr>
              <a:t>  </a:t>
            </a:r>
            <a:r>
              <a:rPr b="0" lang="en-US" sz="1150" spc="-1" strike="noStrike">
                <a:solidFill>
                  <a:srgbClr val="e8e6f0"/>
                </a:solidFill>
                <a:latin typeface="Consolas"/>
                <a:ea typeface="DejaVu Sans"/>
              </a:rPr>
              <a:t>--output-dir=.../genailabelled \</a:t>
            </a:r>
            <a:endParaRPr b="0" lang="pl-PL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50" spc="-1" strike="noStrike">
                <a:solidFill>
                  <a:srgbClr val="e8e6f0"/>
                </a:solidFill>
                <a:latin typeface="Consolas"/>
                <a:ea typeface="DejaVu Sans"/>
              </a:rPr>
              <a:t>  </a:t>
            </a:r>
            <a:r>
              <a:rPr b="0" lang="en-US" sz="1150" spc="-1" strike="noStrike">
                <a:solidFill>
                  <a:srgbClr val="e8e6f0"/>
                </a:solidFill>
                <a:latin typeface="Consolas"/>
                <a:ea typeface="DejaVu Sans"/>
              </a:rPr>
              <a:t>--llm-router-url=http://localhost:8080 \</a:t>
            </a:r>
            <a:endParaRPr b="0" lang="pl-PL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50" spc="-1" strike="noStrike">
                <a:solidFill>
                  <a:srgbClr val="e8e6f0"/>
                </a:solidFill>
                <a:latin typeface="Consolas"/>
                <a:ea typeface="DejaVu Sans"/>
              </a:rPr>
              <a:t>  </a:t>
            </a:r>
            <a:r>
              <a:rPr b="0" lang="en-US" sz="1150" spc="-1" strike="noStrike">
                <a:solidFill>
                  <a:srgbClr val="e8e6f0"/>
                </a:solidFill>
                <a:latin typeface="Consolas"/>
                <a:ea typeface="DejaVu Sans"/>
              </a:rPr>
              <a:t>--model-name=gpt-oss:120b \</a:t>
            </a:r>
            <a:endParaRPr b="0" lang="pl-PL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50" spc="-1" strike="noStrike">
                <a:solidFill>
                  <a:srgbClr val="e8e6f0"/>
                </a:solidFill>
                <a:latin typeface="Consolas"/>
                <a:ea typeface="DejaVu Sans"/>
              </a:rPr>
              <a:t>  </a:t>
            </a:r>
            <a:r>
              <a:rPr b="0" lang="en-US" sz="1150" spc="-1" strike="noStrike">
                <a:solidFill>
                  <a:srgbClr val="e8e6f0"/>
                </a:solidFill>
                <a:latin typeface="Consolas"/>
                <a:ea typeface="DejaVu Sans"/>
              </a:rPr>
              <a:t>--temperature=0.0 --num-workers=2 \</a:t>
            </a:r>
            <a:endParaRPr b="0" lang="pl-PL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50" spc="-1" strike="noStrike">
                <a:solidFill>
                  <a:srgbClr val="e8e6f0"/>
                </a:solidFill>
                <a:latin typeface="Consolas"/>
                <a:ea typeface="DejaVu Sans"/>
              </a:rPr>
              <a:t>  </a:t>
            </a:r>
            <a:r>
              <a:rPr b="0" lang="en-US" sz="1150" spc="-1" strike="noStrike">
                <a:solidFill>
                  <a:srgbClr val="e8e6f0"/>
                </a:solidFill>
                <a:latin typeface="Consolas"/>
                <a:ea typeface="DejaVu Sans"/>
              </a:rPr>
              <a:t>--n-sample=0 --text-column-name=tekst</a:t>
            </a:r>
            <a:endParaRPr b="0" lang="pl-PL" sz="1150" spc="-1" strike="noStrike">
              <a:latin typeface="Arial"/>
            </a:endParaRPr>
          </a:p>
        </p:txBody>
      </p:sp>
      <p:sp>
        <p:nvSpPr>
          <p:cNvPr id="408" name="TextBox 9"/>
          <p:cNvSpPr/>
          <p:nvPr/>
        </p:nvSpPr>
        <p:spPr>
          <a:xfrm>
            <a:off x="6446520" y="1783080"/>
            <a:ext cx="493596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1b0532"/>
                </a:solidFill>
                <a:latin typeface="Arial"/>
                <a:ea typeface="DejaVu Sans"/>
              </a:rPr>
              <a:t>Jak działa:</a:t>
            </a:r>
            <a:endParaRPr b="0" lang="pl-PL" sz="1400" spc="-1" strike="noStrike">
              <a:latin typeface="Arial"/>
            </a:endParaRPr>
          </a:p>
        </p:txBody>
      </p:sp>
      <p:sp>
        <p:nvSpPr>
          <p:cNvPr id="409" name="TextBox 10"/>
          <p:cNvSpPr/>
          <p:nvPr/>
        </p:nvSpPr>
        <p:spPr>
          <a:xfrm>
            <a:off x="6446520" y="2148840"/>
            <a:ext cx="4935960" cy="12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5000"/>
              </a:lnSpc>
              <a:spcAft>
                <a:spcPts val="700"/>
              </a:spcAft>
              <a:buNone/>
            </a:pPr>
            <a:r>
              <a:rPr b="0" lang="en-US" sz="1350" spc="-1" strike="noStrike">
                <a:solidFill>
                  <a:srgbClr val="1b0532"/>
                </a:solidFill>
                <a:latin typeface="Arial"/>
                <a:ea typeface="DejaVu Sans"/>
              </a:rPr>
              <a:t>▸  </a:t>
            </a:r>
            <a:r>
              <a:rPr b="0" lang="en-US" sz="1350" spc="-1" strike="noStrike">
                <a:solidFill>
                  <a:srgbClr val="1b0532"/>
                </a:solidFill>
                <a:latin typeface="Arial"/>
                <a:ea typeface="DejaVu Sans"/>
              </a:rPr>
              <a:t>buduje prompt dla każdego przykładu</a:t>
            </a:r>
            <a:endParaRPr b="0" lang="pl-PL" sz="135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700"/>
              </a:spcAft>
              <a:buNone/>
            </a:pPr>
            <a:r>
              <a:rPr b="0" lang="en-US" sz="1350" spc="-1" strike="noStrike">
                <a:solidFill>
                  <a:srgbClr val="1b0532"/>
                </a:solidFill>
                <a:latin typeface="Arial"/>
                <a:ea typeface="DejaVu Sans"/>
              </a:rPr>
              <a:t>▸  </a:t>
            </a:r>
            <a:r>
              <a:rPr b="0" lang="en-US" sz="1350" spc="-1" strike="noStrike">
                <a:solidFill>
                  <a:srgbClr val="1b0532"/>
                </a:solidFill>
                <a:latin typeface="Arial"/>
                <a:ea typeface="DejaVu Sans"/>
              </a:rPr>
              <a:t>wysyła do LLM przez router</a:t>
            </a:r>
            <a:endParaRPr b="0" lang="pl-PL" sz="135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700"/>
              </a:spcAft>
              <a:buNone/>
            </a:pPr>
            <a:r>
              <a:rPr b="0" lang="en-US" sz="1350" spc="-1" strike="noStrike">
                <a:solidFill>
                  <a:srgbClr val="1b0532"/>
                </a:solidFill>
                <a:latin typeface="Arial"/>
                <a:ea typeface="DejaVu Sans"/>
              </a:rPr>
              <a:t>▸  </a:t>
            </a:r>
            <a:r>
              <a:rPr b="0" lang="en-US" sz="1350" spc="-1" strike="noStrike">
                <a:solidFill>
                  <a:srgbClr val="1b0532"/>
                </a:solidFill>
                <a:latin typeface="Arial"/>
                <a:ea typeface="DejaVu Sans"/>
              </a:rPr>
              <a:t>parsuje wynik (klasa + confidence + reason)</a:t>
            </a:r>
            <a:endParaRPr b="0" lang="pl-PL" sz="135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700"/>
              </a:spcAft>
              <a:buNone/>
            </a:pPr>
            <a:r>
              <a:rPr b="0" lang="en-US" sz="1350" spc="-1" strike="noStrike">
                <a:solidFill>
                  <a:srgbClr val="1b0532"/>
                </a:solidFill>
                <a:latin typeface="Arial"/>
                <a:ea typeface="DejaVu Sans"/>
              </a:rPr>
              <a:t>▸  </a:t>
            </a:r>
            <a:r>
              <a:rPr b="0" lang="en-US" sz="1350" spc="-1" strike="noStrike">
                <a:solidFill>
                  <a:srgbClr val="1b0532"/>
                </a:solidFill>
                <a:latin typeface="Arial"/>
                <a:ea typeface="DejaVu Sans"/>
              </a:rPr>
              <a:t>batch processing, wielowątkowość, retry</a:t>
            </a:r>
            <a:endParaRPr b="0" lang="pl-PL" sz="1350" spc="-1" strike="noStrike">
              <a:latin typeface="Arial"/>
            </a:endParaRPr>
          </a:p>
        </p:txBody>
      </p:sp>
      <p:sp>
        <p:nvSpPr>
          <p:cNvPr id="410" name="Rounded Rectangle 11"/>
          <p:cNvSpPr/>
          <p:nvPr/>
        </p:nvSpPr>
        <p:spPr>
          <a:xfrm>
            <a:off x="768240" y="4343400"/>
            <a:ext cx="10650960" cy="1095480"/>
          </a:xfrm>
          <a:prstGeom prst="roundRect">
            <a:avLst>
              <a:gd name="adj" fmla="val 16667"/>
            </a:avLst>
          </a:prstGeom>
          <a:solidFill>
            <a:srgbClr val="f2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11" name="Rectangle 12"/>
          <p:cNvSpPr/>
          <p:nvPr/>
        </p:nvSpPr>
        <p:spPr>
          <a:xfrm>
            <a:off x="768240" y="4343400"/>
            <a:ext cx="48960" cy="1095480"/>
          </a:xfrm>
          <a:prstGeom prst="rect">
            <a:avLst/>
          </a:prstGeom>
          <a:solidFill>
            <a:srgbClr val="8b19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12" name="TextBox 13"/>
          <p:cNvSpPr/>
          <p:nvPr/>
        </p:nvSpPr>
        <p:spPr>
          <a:xfrm>
            <a:off x="1024200" y="4590360"/>
            <a:ext cx="101937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5000"/>
              </a:lnSpc>
              <a:buNone/>
            </a:pPr>
            <a:r>
              <a:rPr b="1" lang="en-US" sz="1400" spc="-1" strike="noStrike">
                <a:solidFill>
                  <a:srgbClr val="1b0532"/>
                </a:solidFill>
                <a:latin typeface="Arial"/>
                <a:ea typeface="DejaVu Sans"/>
              </a:rPr>
              <a:t>◆  </a:t>
            </a:r>
            <a:r>
              <a:rPr b="1" lang="en-US" sz="1400" spc="-1" strike="noStrike">
                <a:solidFill>
                  <a:srgbClr val="1b0532"/>
                </a:solidFill>
                <a:latin typeface="Arial"/>
                <a:ea typeface="DejaVu Sans"/>
              </a:rPr>
              <a:t>Koszt / czas i dobre praktyki</a:t>
            </a:r>
            <a:endParaRPr b="0" lang="pl-PL" sz="14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US" sz="1300" spc="-1" strike="noStrike">
                <a:solidFill>
                  <a:srgbClr val="6b6478"/>
                </a:solidFill>
                <a:latin typeface="Arial"/>
                <a:ea typeface="DejaVu Sans"/>
              </a:rPr>
              <a:t>temperature=0.0 → determinizm i spójność etykiet · n-sample=0 → wszystkie (5k = 5k wywołań), n-sample=N do testów · num-workers ↑ = szybciej, ale większe obciążenie. Następnie konwersja do formatu treningowego (convert_genai_to_training.py).</a:t>
            </a:r>
            <a:endParaRPr b="0" lang="pl-PL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TextBox 1"/>
          <p:cNvSpPr/>
          <p:nvPr/>
        </p:nvSpPr>
        <p:spPr>
          <a:xfrm>
            <a:off x="768240" y="420480"/>
            <a:ext cx="1060524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900" spc="-1" strike="noStrike">
                <a:solidFill>
                  <a:srgbClr val="1b0532"/>
                </a:solidFill>
                <a:latin typeface="Play"/>
                <a:ea typeface="DejaVu Sans"/>
              </a:rPr>
              <a:t>Automatyczna augmentacja — genai-data-augmentation</a:t>
            </a:r>
            <a:endParaRPr b="0" lang="pl-PL" sz="2900" spc="-1" strike="noStrike">
              <a:latin typeface="Arial"/>
            </a:endParaRPr>
          </a:p>
        </p:txBody>
      </p:sp>
      <p:sp>
        <p:nvSpPr>
          <p:cNvPr id="414" name="Rectangle 2"/>
          <p:cNvSpPr/>
          <p:nvPr/>
        </p:nvSpPr>
        <p:spPr>
          <a:xfrm>
            <a:off x="768240" y="1170360"/>
            <a:ext cx="1369800" cy="42480"/>
          </a:xfrm>
          <a:prstGeom prst="rect">
            <a:avLst/>
          </a:prstGeom>
          <a:solidFill>
            <a:srgbClr val="00be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15" name="TextBox 3"/>
          <p:cNvSpPr/>
          <p:nvPr/>
        </p:nvSpPr>
        <p:spPr>
          <a:xfrm>
            <a:off x="768240" y="1298520"/>
            <a:ext cx="106052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1500" spc="-1" strike="noStrike">
                <a:solidFill>
                  <a:srgbClr val="6b6478"/>
                </a:solidFill>
                <a:latin typeface="Arial"/>
                <a:ea typeface="DejaVu Sans"/>
              </a:rPr>
              <a:t>CLI z llm-router-utils: wybór klasy → nowe warianty zachowujące etykietę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416" name="Rectangle 4"/>
          <p:cNvSpPr/>
          <p:nvPr/>
        </p:nvSpPr>
        <p:spPr>
          <a:xfrm>
            <a:off x="0" y="6437520"/>
            <a:ext cx="12189960" cy="13320"/>
          </a:xfrm>
          <a:prstGeom prst="rect">
            <a:avLst/>
          </a:prstGeom>
          <a:solidFill>
            <a:srgbClr val="f2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17" name="TextBox 5"/>
          <p:cNvSpPr/>
          <p:nvPr/>
        </p:nvSpPr>
        <p:spPr>
          <a:xfrm>
            <a:off x="768240" y="6473880"/>
            <a:ext cx="82278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b6478"/>
                </a:solidFill>
                <a:latin typeface="Arial"/>
                <a:ea typeface="DejaVu Sans"/>
              </a:rPr>
              <a:t>DSS 2026 AI Edition  ·  Technika · Augmentacja</a:t>
            </a:r>
            <a:endParaRPr b="0" lang="pl-PL" sz="900" spc="-1" strike="noStrike">
              <a:latin typeface="Arial"/>
            </a:endParaRPr>
          </a:p>
        </p:txBody>
      </p:sp>
      <p:sp>
        <p:nvSpPr>
          <p:cNvPr id="418" name="TextBox 6"/>
          <p:cNvSpPr/>
          <p:nvPr/>
        </p:nvSpPr>
        <p:spPr>
          <a:xfrm>
            <a:off x="10607040" y="6473880"/>
            <a:ext cx="8211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b6478"/>
                </a:solidFill>
                <a:latin typeface="Arial"/>
                <a:ea typeface="DejaVu Sans"/>
              </a:rPr>
              <a:t>23</a:t>
            </a:r>
            <a:endParaRPr b="0" lang="pl-PL" sz="900" spc="-1" strike="noStrike">
              <a:latin typeface="Arial"/>
            </a:endParaRPr>
          </a:p>
        </p:txBody>
      </p:sp>
      <p:sp>
        <p:nvSpPr>
          <p:cNvPr id="419" name="Rounded Rectangle 7"/>
          <p:cNvSpPr/>
          <p:nvPr/>
        </p:nvSpPr>
        <p:spPr>
          <a:xfrm>
            <a:off x="768240" y="1828800"/>
            <a:ext cx="5850360" cy="2028240"/>
          </a:xfrm>
          <a:prstGeom prst="roundRect">
            <a:avLst>
              <a:gd name="adj" fmla="val 16667"/>
            </a:avLst>
          </a:prstGeom>
          <a:solidFill>
            <a:srgbClr val="110a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0" name="TextBox 8"/>
          <p:cNvSpPr/>
          <p:nvPr/>
        </p:nvSpPr>
        <p:spPr>
          <a:xfrm>
            <a:off x="1835640" y="1911240"/>
            <a:ext cx="3715200" cy="149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50" spc="-1" strike="noStrike">
                <a:solidFill>
                  <a:srgbClr val="e8e6f0"/>
                </a:solidFill>
                <a:latin typeface="Consolas"/>
                <a:ea typeface="DejaVu Sans"/>
              </a:rPr>
              <a:t>genai-data-augmentation \</a:t>
            </a:r>
            <a:endParaRPr b="0" lang="pl-PL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50" spc="-1" strike="noStrike">
                <a:solidFill>
                  <a:srgbClr val="e8e6f0"/>
                </a:solidFill>
                <a:latin typeface="Consolas"/>
                <a:ea typeface="DejaVu Sans"/>
              </a:rPr>
              <a:t>  </a:t>
            </a:r>
            <a:r>
              <a:rPr b="0" lang="en-US" sz="1150" spc="-1" strike="noStrike">
                <a:solidFill>
                  <a:srgbClr val="e8e6f0"/>
                </a:solidFill>
                <a:latin typeface="Consolas"/>
                <a:ea typeface="DejaVu Sans"/>
              </a:rPr>
              <a:t>--dataset-path=..._labels.jsonl \</a:t>
            </a:r>
            <a:endParaRPr b="0" lang="pl-PL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50" spc="-1" strike="noStrike">
                <a:solidFill>
                  <a:srgbClr val="e8e6f0"/>
                </a:solidFill>
                <a:latin typeface="Consolas"/>
                <a:ea typeface="DejaVu Sans"/>
              </a:rPr>
              <a:t>  </a:t>
            </a:r>
            <a:r>
              <a:rPr b="0" lang="en-US" sz="1150" spc="-1" strike="noStrike">
                <a:solidFill>
                  <a:srgbClr val="e8e6f0"/>
                </a:solidFill>
                <a:latin typeface="Consolas"/>
                <a:ea typeface="DejaVu Sans"/>
              </a:rPr>
              <a:t>--labels=pozytywny \</a:t>
            </a:r>
            <a:endParaRPr b="0" lang="pl-PL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50" spc="-1" strike="noStrike">
                <a:solidFill>
                  <a:srgbClr val="e8e6f0"/>
                </a:solidFill>
                <a:latin typeface="Consolas"/>
                <a:ea typeface="DejaVu Sans"/>
              </a:rPr>
              <a:t>  </a:t>
            </a:r>
            <a:r>
              <a:rPr b="0" lang="en-US" sz="1150" spc="-1" strike="noStrike">
                <a:solidFill>
                  <a:srgbClr val="e8e6f0"/>
                </a:solidFill>
                <a:latin typeface="Consolas"/>
                <a:ea typeface="DejaVu Sans"/>
              </a:rPr>
              <a:t>--prompt-file=.../augmentator.prompt \</a:t>
            </a:r>
            <a:endParaRPr b="0" lang="pl-PL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50" spc="-1" strike="noStrike">
                <a:solidFill>
                  <a:srgbClr val="e8e6f0"/>
                </a:solidFill>
                <a:latin typeface="Consolas"/>
                <a:ea typeface="DejaVu Sans"/>
              </a:rPr>
              <a:t>  </a:t>
            </a:r>
            <a:r>
              <a:rPr b="0" lang="en-US" sz="1150" spc="-1" strike="noStrike">
                <a:solidFill>
                  <a:srgbClr val="e8e6f0"/>
                </a:solidFill>
                <a:latin typeface="Consolas"/>
                <a:ea typeface="DejaVu Sans"/>
              </a:rPr>
              <a:t>--model-name=gpt-oss:120b \</a:t>
            </a:r>
            <a:endParaRPr b="0" lang="pl-PL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50" spc="-1" strike="noStrike">
                <a:solidFill>
                  <a:srgbClr val="e8e6f0"/>
                </a:solidFill>
                <a:latin typeface="Consolas"/>
                <a:ea typeface="DejaVu Sans"/>
              </a:rPr>
              <a:t>  </a:t>
            </a:r>
            <a:r>
              <a:rPr b="0" lang="en-US" sz="1150" spc="-1" strike="noStrike">
                <a:solidFill>
                  <a:srgbClr val="e8e6f0"/>
                </a:solidFill>
                <a:latin typeface="Consolas"/>
                <a:ea typeface="DejaVu Sans"/>
              </a:rPr>
              <a:t>--n-sample=350 --n-examples=5 \</a:t>
            </a:r>
            <a:endParaRPr b="0" lang="pl-PL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50" spc="-1" strike="noStrike">
                <a:solidFill>
                  <a:srgbClr val="e8e6f0"/>
                </a:solidFill>
                <a:latin typeface="Consolas"/>
                <a:ea typeface="DejaVu Sans"/>
              </a:rPr>
              <a:t>  </a:t>
            </a:r>
            <a:r>
              <a:rPr b="0" lang="en-US" sz="1150" spc="-1" strike="noStrike">
                <a:solidFill>
                  <a:srgbClr val="e8e6f0"/>
                </a:solidFill>
                <a:latin typeface="Consolas"/>
                <a:ea typeface="DejaVu Sans"/>
              </a:rPr>
              <a:t>--samples-as-examples=2 \</a:t>
            </a:r>
            <a:endParaRPr b="0" lang="pl-PL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50" spc="-1" strike="noStrike">
                <a:solidFill>
                  <a:srgbClr val="e8e6f0"/>
                </a:solidFill>
                <a:latin typeface="Consolas"/>
                <a:ea typeface="DejaVu Sans"/>
              </a:rPr>
              <a:t>  </a:t>
            </a:r>
            <a:r>
              <a:rPr b="0" lang="en-US" sz="1150" spc="-1" strike="noStrike">
                <a:solidFill>
                  <a:srgbClr val="e8e6f0"/>
                </a:solidFill>
                <a:latin typeface="Consolas"/>
                <a:ea typeface="DejaVu Sans"/>
              </a:rPr>
              <a:t>--temperature=0.0</a:t>
            </a:r>
            <a:endParaRPr b="0" lang="pl-PL" sz="1150" spc="-1" strike="noStrike">
              <a:latin typeface="Arial"/>
            </a:endParaRPr>
          </a:p>
        </p:txBody>
      </p:sp>
      <p:sp>
        <p:nvSpPr>
          <p:cNvPr id="421" name="TextBox 9"/>
          <p:cNvSpPr/>
          <p:nvPr/>
        </p:nvSpPr>
        <p:spPr>
          <a:xfrm>
            <a:off x="6446520" y="1783080"/>
            <a:ext cx="493596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1b0532"/>
                </a:solidFill>
                <a:latin typeface="Arial"/>
                <a:ea typeface="DejaVu Sans"/>
              </a:rPr>
              <a:t>Przykład wyniku (1 input → 5 wariantów):</a:t>
            </a:r>
            <a:endParaRPr b="0" lang="pl-PL" sz="1300" spc="-1" strike="noStrike">
              <a:latin typeface="Arial"/>
            </a:endParaRPr>
          </a:p>
        </p:txBody>
      </p:sp>
      <p:sp>
        <p:nvSpPr>
          <p:cNvPr id="422" name="Rounded Rectangle 10"/>
          <p:cNvSpPr/>
          <p:nvPr/>
        </p:nvSpPr>
        <p:spPr>
          <a:xfrm>
            <a:off x="6446520" y="2194560"/>
            <a:ext cx="4935960" cy="1328760"/>
          </a:xfrm>
          <a:prstGeom prst="roundRect">
            <a:avLst>
              <a:gd name="adj" fmla="val 16667"/>
            </a:avLst>
          </a:prstGeom>
          <a:solidFill>
            <a:srgbClr val="110a2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3" name="TextBox 11"/>
          <p:cNvSpPr/>
          <p:nvPr/>
        </p:nvSpPr>
        <p:spPr>
          <a:xfrm>
            <a:off x="7734960" y="2277000"/>
            <a:ext cx="2359080" cy="92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e8e6f0"/>
                </a:solidFill>
                <a:latin typeface="Consolas"/>
                <a:ea typeface="DejaVu Sans"/>
              </a:rPr>
              <a:t>"tekst": "Super sprawa!",</a:t>
            </a:r>
            <a:endParaRPr b="0" lang="pl-PL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e8e6f0"/>
                </a:solidFill>
                <a:latin typeface="Consolas"/>
                <a:ea typeface="DejaVu Sans"/>
              </a:rPr>
              <a:t>"labels": ["pozytywny"],</a:t>
            </a:r>
            <a:endParaRPr b="0" lang="pl-PL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e8e6f0"/>
                </a:solidFill>
                <a:latin typeface="Consolas"/>
                <a:ea typeface="DejaVu Sans"/>
              </a:rPr>
              <a:t>"augmented": [</a:t>
            </a:r>
            <a:endParaRPr b="0" lang="pl-PL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e8e6f0"/>
                </a:solidFill>
                <a:latin typeface="Consolas"/>
                <a:ea typeface="DejaVu Sans"/>
              </a:rPr>
              <a:t>  </a:t>
            </a:r>
            <a:r>
              <a:rPr b="0" lang="en-US" sz="1100" spc="-1" strike="noStrike">
                <a:solidFill>
                  <a:srgbClr val="e8e6f0"/>
                </a:solidFill>
                <a:latin typeface="Consolas"/>
                <a:ea typeface="DejaVu Sans"/>
              </a:rPr>
              <a:t>"Rzeczywiście świetne!",</a:t>
            </a:r>
            <a:endParaRPr b="0" lang="pl-PL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e8e6f0"/>
                </a:solidFill>
                <a:latin typeface="Consolas"/>
                <a:ea typeface="DejaVu Sans"/>
              </a:rPr>
              <a:t>  </a:t>
            </a:r>
            <a:r>
              <a:rPr b="0" lang="en-US" sz="1100" spc="-1" strike="noStrike">
                <a:solidFill>
                  <a:srgbClr val="e8e6f0"/>
                </a:solidFill>
                <a:latin typeface="Consolas"/>
                <a:ea typeface="DejaVu Sans"/>
              </a:rPr>
              <a:t>"Podoba mi się!", ... ]</a:t>
            </a:r>
            <a:endParaRPr b="0" lang="pl-PL" sz="1100" spc="-1" strike="noStrike">
              <a:latin typeface="Arial"/>
            </a:endParaRPr>
          </a:p>
        </p:txBody>
      </p:sp>
      <p:sp>
        <p:nvSpPr>
          <p:cNvPr id="424" name="Rounded Rectangle 12"/>
          <p:cNvSpPr/>
          <p:nvPr/>
        </p:nvSpPr>
        <p:spPr>
          <a:xfrm>
            <a:off x="768240" y="4343400"/>
            <a:ext cx="10650960" cy="1095480"/>
          </a:xfrm>
          <a:prstGeom prst="roundRect">
            <a:avLst>
              <a:gd name="adj" fmla="val 16667"/>
            </a:avLst>
          </a:prstGeom>
          <a:solidFill>
            <a:srgbClr val="f2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5" name="Rectangle 13"/>
          <p:cNvSpPr/>
          <p:nvPr/>
        </p:nvSpPr>
        <p:spPr>
          <a:xfrm>
            <a:off x="768240" y="4343400"/>
            <a:ext cx="48960" cy="1095480"/>
          </a:xfrm>
          <a:prstGeom prst="rect">
            <a:avLst/>
          </a:prstGeom>
          <a:solidFill>
            <a:srgbClr val="00be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6" name="TextBox 14"/>
          <p:cNvSpPr/>
          <p:nvPr/>
        </p:nvSpPr>
        <p:spPr>
          <a:xfrm>
            <a:off x="1024200" y="4590360"/>
            <a:ext cx="101937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5000"/>
              </a:lnSpc>
              <a:buNone/>
            </a:pPr>
            <a:r>
              <a:rPr b="1" lang="en-US" sz="1400" spc="-1" strike="noStrike">
                <a:solidFill>
                  <a:srgbClr val="1b0532"/>
                </a:solidFill>
                <a:latin typeface="Arial"/>
                <a:ea typeface="DejaVu Sans"/>
              </a:rPr>
              <a:t>◆  </a:t>
            </a:r>
            <a:r>
              <a:rPr b="1" lang="en-US" sz="1400" spc="-1" strike="noStrike">
                <a:solidFill>
                  <a:srgbClr val="1b0532"/>
                </a:solidFill>
                <a:latin typeface="Arial"/>
                <a:ea typeface="DejaVu Sans"/>
              </a:rPr>
              <a:t>Merge i strojenie</a:t>
            </a:r>
            <a:endParaRPr b="0" lang="pl-PL" sz="14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US" sz="1300" spc="-1" strike="noStrike">
                <a:solidFill>
                  <a:srgbClr val="6b6478"/>
                </a:solidFill>
                <a:latin typeface="Arial"/>
                <a:ea typeface="DejaVu Sans"/>
              </a:rPr>
              <a:t>Merge: 5000 ręcznych + ~1750 (350×5) augmentowanych ≈ 6750 przykładów. n-examples=5 to dobry balans; samples-as-examples=2–3 (in-context); temperature 0.0 dla spójności, 0.3–0.7 dla różnorodności (ryzyko poprawności).</a:t>
            </a:r>
            <a:endParaRPr b="0" lang="pl-PL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TextBox 1"/>
          <p:cNvSpPr/>
          <p:nvPr/>
        </p:nvSpPr>
        <p:spPr>
          <a:xfrm>
            <a:off x="768240" y="420480"/>
            <a:ext cx="1060524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900" spc="-1" strike="noStrike">
                <a:solidFill>
                  <a:srgbClr val="1b0532"/>
                </a:solidFill>
                <a:latin typeface="Play"/>
                <a:ea typeface="DejaVu Sans"/>
              </a:rPr>
              <a:t>Trening klasyfikatora</a:t>
            </a:r>
            <a:endParaRPr b="0" lang="pl-PL" sz="2900" spc="-1" strike="noStrike">
              <a:latin typeface="Arial"/>
            </a:endParaRPr>
          </a:p>
        </p:txBody>
      </p:sp>
      <p:sp>
        <p:nvSpPr>
          <p:cNvPr id="428" name="Rectangle 2"/>
          <p:cNvSpPr/>
          <p:nvPr/>
        </p:nvSpPr>
        <p:spPr>
          <a:xfrm>
            <a:off x="768240" y="1170360"/>
            <a:ext cx="1369800" cy="42480"/>
          </a:xfrm>
          <a:prstGeom prst="rect">
            <a:avLst/>
          </a:prstGeom>
          <a:solidFill>
            <a:srgbClr val="00be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9" name="TextBox 3"/>
          <p:cNvSpPr/>
          <p:nvPr/>
        </p:nvSpPr>
        <p:spPr>
          <a:xfrm>
            <a:off x="768240" y="1298520"/>
            <a:ext cx="106052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1500" spc="-1" strike="noStrike">
                <a:solidFill>
                  <a:srgbClr val="6b6478"/>
                </a:solidFill>
                <a:latin typeface="Arial"/>
                <a:ea typeface="DejaVu Sans"/>
              </a:rPr>
              <a:t>clarin-pl/twitteremo · 5k train / 500 valid · fine-tuning allegro/herbert-base-cased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430" name="Rectangle 4"/>
          <p:cNvSpPr/>
          <p:nvPr/>
        </p:nvSpPr>
        <p:spPr>
          <a:xfrm>
            <a:off x="0" y="6437520"/>
            <a:ext cx="12189960" cy="13320"/>
          </a:xfrm>
          <a:prstGeom prst="rect">
            <a:avLst/>
          </a:prstGeom>
          <a:solidFill>
            <a:srgbClr val="f2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1" name="TextBox 5"/>
          <p:cNvSpPr/>
          <p:nvPr/>
        </p:nvSpPr>
        <p:spPr>
          <a:xfrm>
            <a:off x="768240" y="6473880"/>
            <a:ext cx="82278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b6478"/>
                </a:solidFill>
                <a:latin typeface="Arial"/>
                <a:ea typeface="DejaVu Sans"/>
              </a:rPr>
              <a:t>DSS 2026 AI Edition  ·  Technika · Uczenie</a:t>
            </a:r>
            <a:endParaRPr b="0" lang="pl-PL" sz="900" spc="-1" strike="noStrike">
              <a:latin typeface="Arial"/>
            </a:endParaRPr>
          </a:p>
        </p:txBody>
      </p:sp>
      <p:sp>
        <p:nvSpPr>
          <p:cNvPr id="432" name="TextBox 6"/>
          <p:cNvSpPr/>
          <p:nvPr/>
        </p:nvSpPr>
        <p:spPr>
          <a:xfrm>
            <a:off x="10607040" y="6473880"/>
            <a:ext cx="8211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b6478"/>
                </a:solidFill>
                <a:latin typeface="Arial"/>
                <a:ea typeface="DejaVu Sans"/>
              </a:rPr>
              <a:t>24</a:t>
            </a:r>
            <a:endParaRPr b="0" lang="pl-PL" sz="900" spc="-1" strike="noStrike">
              <a:latin typeface="Arial"/>
            </a:endParaRPr>
          </a:p>
        </p:txBody>
      </p:sp>
      <p:sp>
        <p:nvSpPr>
          <p:cNvPr id="433" name="TextBox 7"/>
          <p:cNvSpPr/>
          <p:nvPr/>
        </p:nvSpPr>
        <p:spPr>
          <a:xfrm>
            <a:off x="768240" y="1828800"/>
            <a:ext cx="539316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1b0532"/>
                </a:solidFill>
                <a:latin typeface="Arial"/>
                <a:ea typeface="DejaVu Sans"/>
              </a:rPr>
              <a:t>3 warianty (postęp pipeline'u):</a:t>
            </a:r>
            <a:endParaRPr b="0" lang="pl-PL" sz="1400" spc="-1" strike="noStrike">
              <a:latin typeface="Arial"/>
            </a:endParaRPr>
          </a:p>
        </p:txBody>
      </p:sp>
      <p:sp>
        <p:nvSpPr>
          <p:cNvPr id="434" name="Rounded Rectangle 8"/>
          <p:cNvSpPr/>
          <p:nvPr/>
        </p:nvSpPr>
        <p:spPr>
          <a:xfrm>
            <a:off x="768240" y="2240280"/>
            <a:ext cx="5393160" cy="473760"/>
          </a:xfrm>
          <a:prstGeom prst="roundRect">
            <a:avLst>
              <a:gd name="adj" fmla="val 16667"/>
            </a:avLst>
          </a:prstGeom>
          <a:solidFill>
            <a:srgbClr val="f2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5" name="Rectangle 9"/>
          <p:cNvSpPr/>
          <p:nvPr/>
        </p:nvSpPr>
        <p:spPr>
          <a:xfrm>
            <a:off x="768240" y="2240280"/>
            <a:ext cx="48960" cy="473760"/>
          </a:xfrm>
          <a:prstGeom prst="rect">
            <a:avLst/>
          </a:prstGeom>
          <a:solidFill>
            <a:srgbClr val="00be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6" name="TextBox 10"/>
          <p:cNvSpPr/>
          <p:nvPr/>
        </p:nvSpPr>
        <p:spPr>
          <a:xfrm>
            <a:off x="996840" y="2383200"/>
            <a:ext cx="146124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1b0532"/>
                </a:solidFill>
                <a:latin typeface="Arial"/>
                <a:ea typeface="DejaVu Sans"/>
              </a:rPr>
              <a:t>Wariant 1</a:t>
            </a:r>
            <a:endParaRPr b="0" lang="pl-PL" sz="1300" spc="-1" strike="noStrike">
              <a:latin typeface="Arial"/>
            </a:endParaRPr>
          </a:p>
        </p:txBody>
      </p:sp>
      <p:sp>
        <p:nvSpPr>
          <p:cNvPr id="437" name="TextBox 11"/>
          <p:cNvSpPr/>
          <p:nvPr/>
        </p:nvSpPr>
        <p:spPr>
          <a:xfrm>
            <a:off x="2368440" y="2389680"/>
            <a:ext cx="3701520" cy="17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50" spc="-1" strike="noStrike">
                <a:solidFill>
                  <a:srgbClr val="6b6478"/>
                </a:solidFill>
                <a:latin typeface="Arial"/>
                <a:ea typeface="DejaVu Sans"/>
              </a:rPr>
              <a:t>tylko dane manualne (5k) — baseline</a:t>
            </a:r>
            <a:endParaRPr b="0" lang="pl-PL" sz="1150" spc="-1" strike="noStrike">
              <a:latin typeface="Arial"/>
            </a:endParaRPr>
          </a:p>
        </p:txBody>
      </p:sp>
      <p:sp>
        <p:nvSpPr>
          <p:cNvPr id="438" name="Rounded Rectangle 12"/>
          <p:cNvSpPr/>
          <p:nvPr/>
        </p:nvSpPr>
        <p:spPr>
          <a:xfrm>
            <a:off x="768240" y="2807280"/>
            <a:ext cx="5393160" cy="473760"/>
          </a:xfrm>
          <a:prstGeom prst="roundRect">
            <a:avLst>
              <a:gd name="adj" fmla="val 16667"/>
            </a:avLst>
          </a:prstGeom>
          <a:solidFill>
            <a:srgbClr val="f2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9" name="Rectangle 13"/>
          <p:cNvSpPr/>
          <p:nvPr/>
        </p:nvSpPr>
        <p:spPr>
          <a:xfrm>
            <a:off x="768240" y="2807280"/>
            <a:ext cx="48960" cy="473760"/>
          </a:xfrm>
          <a:prstGeom prst="rect">
            <a:avLst/>
          </a:prstGeom>
          <a:solidFill>
            <a:srgbClr val="8b19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0" name="TextBox 14"/>
          <p:cNvSpPr/>
          <p:nvPr/>
        </p:nvSpPr>
        <p:spPr>
          <a:xfrm>
            <a:off x="996840" y="2949840"/>
            <a:ext cx="146124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1b0532"/>
                </a:solidFill>
                <a:latin typeface="Arial"/>
                <a:ea typeface="DejaVu Sans"/>
              </a:rPr>
              <a:t>Wariant 2</a:t>
            </a:r>
            <a:endParaRPr b="0" lang="pl-PL" sz="1300" spc="-1" strike="noStrike">
              <a:latin typeface="Arial"/>
            </a:endParaRPr>
          </a:p>
        </p:txBody>
      </p:sp>
      <p:sp>
        <p:nvSpPr>
          <p:cNvPr id="441" name="TextBox 15"/>
          <p:cNvSpPr/>
          <p:nvPr/>
        </p:nvSpPr>
        <p:spPr>
          <a:xfrm>
            <a:off x="2368440" y="2956680"/>
            <a:ext cx="3701520" cy="17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50" spc="-1" strike="noStrike">
                <a:solidFill>
                  <a:srgbClr val="6b6478"/>
                </a:solidFill>
                <a:latin typeface="Arial"/>
                <a:ea typeface="DejaVu Sans"/>
              </a:rPr>
              <a:t>manual + augmentacja (~1.7k, klasa pozytywny)</a:t>
            </a:r>
            <a:endParaRPr b="0" lang="pl-PL" sz="1150" spc="-1" strike="noStrike">
              <a:latin typeface="Arial"/>
            </a:endParaRPr>
          </a:p>
        </p:txBody>
      </p:sp>
      <p:sp>
        <p:nvSpPr>
          <p:cNvPr id="442" name="Rounded Rectangle 16"/>
          <p:cNvSpPr/>
          <p:nvPr/>
        </p:nvSpPr>
        <p:spPr>
          <a:xfrm>
            <a:off x="768240" y="3374280"/>
            <a:ext cx="5393160" cy="473760"/>
          </a:xfrm>
          <a:prstGeom prst="roundRect">
            <a:avLst>
              <a:gd name="adj" fmla="val 16667"/>
            </a:avLst>
          </a:prstGeom>
          <a:solidFill>
            <a:srgbClr val="f2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3" name="Rectangle 17"/>
          <p:cNvSpPr/>
          <p:nvPr/>
        </p:nvSpPr>
        <p:spPr>
          <a:xfrm>
            <a:off x="768240" y="3374280"/>
            <a:ext cx="48960" cy="473760"/>
          </a:xfrm>
          <a:prstGeom prst="rect">
            <a:avLst/>
          </a:prstGeom>
          <a:solidFill>
            <a:srgbClr val="1f9e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4" name="TextBox 18"/>
          <p:cNvSpPr/>
          <p:nvPr/>
        </p:nvSpPr>
        <p:spPr>
          <a:xfrm>
            <a:off x="996840" y="3516840"/>
            <a:ext cx="146124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1b0532"/>
                </a:solidFill>
                <a:latin typeface="Arial"/>
                <a:ea typeface="DejaVu Sans"/>
              </a:rPr>
              <a:t>Wariant 3</a:t>
            </a:r>
            <a:endParaRPr b="0" lang="pl-PL" sz="1300" spc="-1" strike="noStrike">
              <a:latin typeface="Arial"/>
            </a:endParaRPr>
          </a:p>
        </p:txBody>
      </p:sp>
      <p:sp>
        <p:nvSpPr>
          <p:cNvPr id="445" name="TextBox 19"/>
          <p:cNvSpPr/>
          <p:nvPr/>
        </p:nvSpPr>
        <p:spPr>
          <a:xfrm>
            <a:off x="2368440" y="3523680"/>
            <a:ext cx="3701520" cy="17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50" spc="-1" strike="noStrike">
                <a:solidFill>
                  <a:srgbClr val="6b6478"/>
                </a:solidFill>
                <a:latin typeface="Arial"/>
                <a:ea typeface="DejaVu Sans"/>
              </a:rPr>
              <a:t>manual + augmentacja + HIL/AL (dump z Web App)</a:t>
            </a:r>
            <a:endParaRPr b="0" lang="pl-PL" sz="1150" spc="-1" strike="noStrike">
              <a:latin typeface="Arial"/>
            </a:endParaRPr>
          </a:p>
        </p:txBody>
      </p:sp>
      <p:graphicFrame>
        <p:nvGraphicFramePr>
          <p:cNvPr id="446" name="Table 20"/>
          <p:cNvGraphicFramePr/>
          <p:nvPr/>
        </p:nvGraphicFramePr>
        <p:xfrm>
          <a:off x="6446520" y="1828800"/>
          <a:ext cx="4937400" cy="2925720"/>
        </p:xfrm>
        <a:graphic>
          <a:graphicData uri="http://schemas.openxmlformats.org/drawingml/2006/table">
            <a:tbl>
              <a:tblPr/>
              <a:tblGrid>
                <a:gridCol w="1920240"/>
                <a:gridCol w="3017520"/>
              </a:tblGrid>
              <a:tr h="365760"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50" spc="-1" strike="noStrike">
                          <a:solidFill>
                            <a:srgbClr val="00befe"/>
                          </a:solidFill>
                          <a:latin typeface="Arial"/>
                        </a:rPr>
                        <a:t>Parametr</a:t>
                      </a:r>
                      <a:endParaRPr b="0" lang="pl-PL" sz="125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42733"/>
                    </a:solidFill>
                  </a:tcPr>
                </a:tc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50" spc="-1" strike="noStrike">
                          <a:solidFill>
                            <a:srgbClr val="00befe"/>
                          </a:solidFill>
                          <a:latin typeface="Arial"/>
                        </a:rPr>
                        <a:t>Wartość</a:t>
                      </a:r>
                      <a:endParaRPr b="0" lang="pl-PL" sz="125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42733"/>
                    </a:solidFill>
                  </a:tcPr>
                </a:tc>
              </a:tr>
              <a:tr h="365760"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5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Epoki</a:t>
                      </a:r>
                      <a:endParaRPr b="0" lang="pl-PL" sz="115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5</a:t>
                      </a:r>
                      <a:endParaRPr b="0" lang="pl-PL" sz="115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5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Batch size</a:t>
                      </a:r>
                      <a:endParaRPr b="0" lang="pl-PL" sz="115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1f6"/>
                    </a:solidFill>
                  </a:tcPr>
                </a:tc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32 (eff. 64, grad-accum 2)</a:t>
                      </a:r>
                      <a:endParaRPr b="0" lang="pl-PL" sz="115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1f6"/>
                    </a:solidFill>
                  </a:tcPr>
                </a:tc>
              </a:tr>
              <a:tr h="365760"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5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Learning rate</a:t>
                      </a:r>
                      <a:endParaRPr b="0" lang="pl-PL" sz="115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3e-6</a:t>
                      </a:r>
                      <a:endParaRPr b="0" lang="pl-PL" sz="115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5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Max length</a:t>
                      </a:r>
                      <a:endParaRPr b="0" lang="pl-PL" sz="115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1f6"/>
                    </a:solidFill>
                  </a:tcPr>
                </a:tc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128</a:t>
                      </a:r>
                      <a:endParaRPr b="0" lang="pl-PL" sz="115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1f6"/>
                    </a:solidFill>
                  </a:tcPr>
                </a:tc>
              </a:tr>
              <a:tr h="365760"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5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Scheduler</a:t>
                      </a:r>
                      <a:endParaRPr b="0" lang="pl-PL" sz="115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cosine</a:t>
                      </a:r>
                      <a:endParaRPr b="0" lang="pl-PL" sz="115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5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Seed</a:t>
                      </a:r>
                      <a:endParaRPr b="0" lang="pl-PL" sz="115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1f6"/>
                    </a:solidFill>
                  </a:tcPr>
                </a:tc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42</a:t>
                      </a:r>
                      <a:endParaRPr b="0" lang="pl-PL" sz="115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2f1f6"/>
                    </a:solidFill>
                  </a:tcPr>
                </a:tc>
              </a:tr>
              <a:tr h="365760"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5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Logowanie</a:t>
                      </a:r>
                      <a:endParaRPr b="0" lang="pl-PL" sz="115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5960" rIns="759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1b0532"/>
                          </a:solidFill>
                          <a:latin typeface="Arial"/>
                        </a:rPr>
                        <a:t>W&amp;B (acc, F1, conf. matrix)</a:t>
                      </a:r>
                      <a:endParaRPr b="0" lang="pl-PL" sz="1150" spc="-1" strike="noStrike">
                        <a:latin typeface="Arial"/>
                      </a:endParaRPr>
                    </a:p>
                  </a:txBody>
                  <a:tcPr anchor="ctr" marL="75960" marR="759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47" name="Rounded Rectangle 21"/>
          <p:cNvSpPr/>
          <p:nvPr/>
        </p:nvSpPr>
        <p:spPr>
          <a:xfrm>
            <a:off x="768240" y="4434840"/>
            <a:ext cx="5393160" cy="1004040"/>
          </a:xfrm>
          <a:prstGeom prst="roundRect">
            <a:avLst>
              <a:gd name="adj" fmla="val 16667"/>
            </a:avLst>
          </a:prstGeom>
          <a:solidFill>
            <a:srgbClr val="f2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8" name="Rectangle 22"/>
          <p:cNvSpPr/>
          <p:nvPr/>
        </p:nvSpPr>
        <p:spPr>
          <a:xfrm>
            <a:off x="768240" y="4434840"/>
            <a:ext cx="48960" cy="1004040"/>
          </a:xfrm>
          <a:prstGeom prst="rect">
            <a:avLst/>
          </a:prstGeom>
          <a:solidFill>
            <a:srgbClr val="1f9e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9" name="TextBox 23"/>
          <p:cNvSpPr/>
          <p:nvPr/>
        </p:nvSpPr>
        <p:spPr>
          <a:xfrm>
            <a:off x="1024200" y="4636080"/>
            <a:ext cx="49359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5000"/>
              </a:lnSpc>
              <a:buNone/>
            </a:pPr>
            <a:r>
              <a:rPr b="1" lang="en-US" sz="1400" spc="-1" strike="noStrike">
                <a:solidFill>
                  <a:srgbClr val="1b0532"/>
                </a:solidFill>
                <a:latin typeface="Arial"/>
                <a:ea typeface="DejaVu Sans"/>
              </a:rPr>
              <a:t>✓  </a:t>
            </a:r>
            <a:r>
              <a:rPr b="1" lang="en-US" sz="1400" spc="-1" strike="noStrike">
                <a:solidFill>
                  <a:srgbClr val="1b0532"/>
                </a:solidFill>
                <a:latin typeface="Arial"/>
                <a:ea typeface="DejaVu Sans"/>
              </a:rPr>
              <a:t>HIL/AL — wybór etykiety</a:t>
            </a:r>
            <a:endParaRPr b="0" lang="pl-PL" sz="14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US" sz="1300" spc="-1" strike="noStrike">
                <a:solidFill>
                  <a:srgbClr val="6b6478"/>
                </a:solidFill>
                <a:latin typeface="Arial"/>
                <a:ea typeface="DejaVu Sans"/>
              </a:rPr>
              <a:t>Dump z Web App: brak anotacji → predykcja modelu; 1 ręczna → użyta; &gt;1 → majority voting; remis → tie-breaker predykcją modelu.</a:t>
            </a:r>
            <a:endParaRPr b="0" lang="pl-PL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4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TextBox 1"/>
          <p:cNvSpPr/>
          <p:nvPr/>
        </p:nvSpPr>
        <p:spPr>
          <a:xfrm>
            <a:off x="768240" y="2240280"/>
            <a:ext cx="1827000" cy="97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6400" spc="-1" strike="noStrike">
                <a:solidFill>
                  <a:srgbClr val="8b19fe"/>
                </a:solidFill>
                <a:latin typeface="Play"/>
                <a:ea typeface="DejaVu Sans"/>
              </a:rPr>
              <a:t>04</a:t>
            </a:r>
            <a:endParaRPr b="0" lang="pl-PL" sz="6400" spc="-1" strike="noStrike">
              <a:latin typeface="Arial"/>
            </a:endParaRPr>
          </a:p>
        </p:txBody>
      </p:sp>
      <p:sp>
        <p:nvSpPr>
          <p:cNvPr id="451" name="Rectangle 2"/>
          <p:cNvSpPr/>
          <p:nvPr/>
        </p:nvSpPr>
        <p:spPr>
          <a:xfrm>
            <a:off x="768240" y="3246120"/>
            <a:ext cx="1827000" cy="48960"/>
          </a:xfrm>
          <a:prstGeom prst="rect">
            <a:avLst/>
          </a:prstGeom>
          <a:solidFill>
            <a:srgbClr val="00be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52" name="TextBox 3"/>
          <p:cNvSpPr/>
          <p:nvPr/>
        </p:nvSpPr>
        <p:spPr>
          <a:xfrm>
            <a:off x="768240" y="3429000"/>
            <a:ext cx="104223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5000"/>
              </a:lnSpc>
              <a:buNone/>
            </a:pPr>
            <a:r>
              <a:rPr b="0" lang="en-US" sz="4000" spc="-1" strike="noStrike">
                <a:solidFill>
                  <a:srgbClr val="ffffff"/>
                </a:solidFill>
                <a:latin typeface="Play"/>
                <a:ea typeface="DejaVu Sans"/>
              </a:rPr>
              <a:t>Podsumowanie i wnioski</a:t>
            </a:r>
            <a:endParaRPr b="0" lang="pl-PL" sz="4000" spc="-1" strike="noStrike">
              <a:latin typeface="Arial"/>
            </a:endParaRPr>
          </a:p>
        </p:txBody>
      </p:sp>
      <p:sp>
        <p:nvSpPr>
          <p:cNvPr id="453" name="TextBox 4"/>
          <p:cNvSpPr/>
          <p:nvPr/>
        </p:nvSpPr>
        <p:spPr>
          <a:xfrm>
            <a:off x="768240" y="4754880"/>
            <a:ext cx="73134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00befe"/>
                </a:solidFill>
                <a:latin typeface="Arial"/>
                <a:ea typeface="DejaVu Sans"/>
              </a:rPr>
              <a:t>~6 min · ocena modelu i kierunki dalsze</a:t>
            </a:r>
            <a:endParaRPr b="0" lang="pl-PL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TextBox 1"/>
          <p:cNvSpPr/>
          <p:nvPr/>
        </p:nvSpPr>
        <p:spPr>
          <a:xfrm>
            <a:off x="768240" y="420480"/>
            <a:ext cx="1060524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900" spc="-1" strike="noStrike">
                <a:solidFill>
                  <a:srgbClr val="1b0532"/>
                </a:solidFill>
                <a:latin typeface="Play"/>
                <a:ea typeface="DejaVu Sans"/>
              </a:rPr>
              <a:t>Co zbudowaliśmy — kompletny pipeline</a:t>
            </a:r>
            <a:endParaRPr b="0" lang="pl-PL" sz="2900" spc="-1" strike="noStrike">
              <a:latin typeface="Arial"/>
            </a:endParaRPr>
          </a:p>
        </p:txBody>
      </p:sp>
      <p:sp>
        <p:nvSpPr>
          <p:cNvPr id="455" name="Rectangle 2"/>
          <p:cNvSpPr/>
          <p:nvPr/>
        </p:nvSpPr>
        <p:spPr>
          <a:xfrm>
            <a:off x="768240" y="1170360"/>
            <a:ext cx="1369800" cy="42480"/>
          </a:xfrm>
          <a:prstGeom prst="rect">
            <a:avLst/>
          </a:prstGeom>
          <a:solidFill>
            <a:srgbClr val="00be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56" name="Rectangle 3"/>
          <p:cNvSpPr/>
          <p:nvPr/>
        </p:nvSpPr>
        <p:spPr>
          <a:xfrm>
            <a:off x="0" y="6437520"/>
            <a:ext cx="12189960" cy="13320"/>
          </a:xfrm>
          <a:prstGeom prst="rect">
            <a:avLst/>
          </a:prstGeom>
          <a:solidFill>
            <a:srgbClr val="f2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57" name="TextBox 4"/>
          <p:cNvSpPr/>
          <p:nvPr/>
        </p:nvSpPr>
        <p:spPr>
          <a:xfrm>
            <a:off x="768240" y="6473880"/>
            <a:ext cx="82278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b6478"/>
                </a:solidFill>
                <a:latin typeface="Arial"/>
                <a:ea typeface="DejaVu Sans"/>
              </a:rPr>
              <a:t>DSS 2026 AI Edition  ·  Podsumowanie</a:t>
            </a:r>
            <a:endParaRPr b="0" lang="pl-PL" sz="900" spc="-1" strike="noStrike">
              <a:latin typeface="Arial"/>
            </a:endParaRPr>
          </a:p>
        </p:txBody>
      </p:sp>
      <p:sp>
        <p:nvSpPr>
          <p:cNvPr id="458" name="TextBox 5"/>
          <p:cNvSpPr/>
          <p:nvPr/>
        </p:nvSpPr>
        <p:spPr>
          <a:xfrm>
            <a:off x="10607040" y="6473880"/>
            <a:ext cx="8211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b6478"/>
                </a:solidFill>
                <a:latin typeface="Arial"/>
                <a:ea typeface="DejaVu Sans"/>
              </a:rPr>
              <a:t>26</a:t>
            </a:r>
            <a:endParaRPr b="0" lang="pl-PL" sz="900" spc="-1" strike="noStrike">
              <a:latin typeface="Arial"/>
            </a:endParaRPr>
          </a:p>
        </p:txBody>
      </p:sp>
      <p:sp>
        <p:nvSpPr>
          <p:cNvPr id="459" name="TextBox 6"/>
          <p:cNvSpPr/>
          <p:nvPr/>
        </p:nvSpPr>
        <p:spPr>
          <a:xfrm>
            <a:off x="768240" y="1417320"/>
            <a:ext cx="5576040" cy="232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5000"/>
              </a:lnSpc>
              <a:spcAft>
                <a:spcPts val="799"/>
              </a:spcAft>
              <a:buNone/>
            </a:pPr>
            <a:r>
              <a:rPr b="0" lang="en-US" sz="1450" spc="-1" strike="noStrike">
                <a:solidFill>
                  <a:srgbClr val="1b0532"/>
                </a:solidFill>
                <a:latin typeface="Arial"/>
                <a:ea typeface="DejaVu Sans"/>
              </a:rPr>
              <a:t>▸  </a:t>
            </a:r>
            <a:r>
              <a:rPr b="0" lang="en-US" sz="1450" spc="-1" strike="noStrike">
                <a:solidFill>
                  <a:srgbClr val="1b0532"/>
                </a:solidFill>
                <a:latin typeface="Arial"/>
                <a:ea typeface="DejaVu Sans"/>
              </a:rPr>
              <a:t>Przygotowanie datasetu (twitteremo 5k/500)</a:t>
            </a:r>
            <a:endParaRPr b="0" lang="pl-PL" sz="145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799"/>
              </a:spcAft>
              <a:buNone/>
            </a:pPr>
            <a:r>
              <a:rPr b="0" lang="en-US" sz="1450" spc="-1" strike="noStrike">
                <a:solidFill>
                  <a:srgbClr val="1b0532"/>
                </a:solidFill>
                <a:latin typeface="Arial"/>
                <a:ea typeface="DejaVu Sans"/>
              </a:rPr>
              <a:t>▸  </a:t>
            </a:r>
            <a:r>
              <a:rPr b="0" lang="en-US" sz="1450" spc="-1" strike="noStrike">
                <a:solidFill>
                  <a:srgbClr val="1b0532"/>
                </a:solidFill>
                <a:latin typeface="Arial"/>
                <a:ea typeface="DejaVu Sans"/>
              </a:rPr>
              <a:t>Labelowanie LLM (genai-classifier)</a:t>
            </a:r>
            <a:endParaRPr b="0" lang="pl-PL" sz="145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799"/>
              </a:spcAft>
              <a:buNone/>
            </a:pPr>
            <a:r>
              <a:rPr b="0" lang="en-US" sz="1450" spc="-1" strike="noStrike">
                <a:solidFill>
                  <a:srgbClr val="1b0532"/>
                </a:solidFill>
                <a:latin typeface="Arial"/>
                <a:ea typeface="DejaVu Sans"/>
              </a:rPr>
              <a:t>▸  </a:t>
            </a:r>
            <a:r>
              <a:rPr b="0" lang="en-US" sz="1450" spc="-1" strike="noStrike">
                <a:solidFill>
                  <a:srgbClr val="1b0532"/>
                </a:solidFill>
                <a:latin typeface="Arial"/>
                <a:ea typeface="DejaVu Sans"/>
              </a:rPr>
              <a:t>Augmentacja danych (~1.7k, klasa pozytywny)</a:t>
            </a:r>
            <a:endParaRPr b="0" lang="pl-PL" sz="145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799"/>
              </a:spcAft>
              <a:buNone/>
            </a:pPr>
            <a:r>
              <a:rPr b="0" lang="en-US" sz="1450" spc="-1" strike="noStrike">
                <a:solidFill>
                  <a:srgbClr val="1b0532"/>
                </a:solidFill>
                <a:latin typeface="Arial"/>
                <a:ea typeface="DejaVu Sans"/>
              </a:rPr>
              <a:t>▸  </a:t>
            </a:r>
            <a:r>
              <a:rPr b="0" lang="en-US" sz="1450" spc="-1" strike="noStrike">
                <a:solidFill>
                  <a:srgbClr val="1b0532"/>
                </a:solidFill>
                <a:latin typeface="Arial"/>
                <a:ea typeface="DejaVu Sans"/>
              </a:rPr>
              <a:t>Merge: 5k manual + ~1.7k augment ≈ 6.7k</a:t>
            </a:r>
            <a:endParaRPr b="0" lang="pl-PL" sz="145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799"/>
              </a:spcAft>
              <a:buNone/>
            </a:pPr>
            <a:r>
              <a:rPr b="0" lang="en-US" sz="1450" spc="-1" strike="noStrike">
                <a:solidFill>
                  <a:srgbClr val="1b0532"/>
                </a:solidFill>
                <a:latin typeface="Arial"/>
                <a:ea typeface="DejaVu Sans"/>
              </a:rPr>
              <a:t>▸  </a:t>
            </a:r>
            <a:r>
              <a:rPr b="0" lang="en-US" sz="1450" spc="-1" strike="noStrike">
                <a:solidFill>
                  <a:srgbClr val="1b0532"/>
                </a:solidFill>
                <a:latin typeface="Arial"/>
                <a:ea typeface="DejaVu Sans"/>
              </a:rPr>
              <a:t>Trening 3 wariantów (allegro/herbert-base-cased)</a:t>
            </a:r>
            <a:endParaRPr b="0" lang="pl-PL" sz="145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799"/>
              </a:spcAft>
              <a:buNone/>
            </a:pPr>
            <a:r>
              <a:rPr b="0" lang="en-US" sz="1450" spc="-1" strike="noStrike">
                <a:solidFill>
                  <a:srgbClr val="1b0532"/>
                </a:solidFill>
                <a:latin typeface="Arial"/>
                <a:ea typeface="DejaVu Sans"/>
              </a:rPr>
              <a:t>▸  </a:t>
            </a:r>
            <a:r>
              <a:rPr b="0" lang="en-US" sz="1450" spc="-1" strike="noStrike">
                <a:solidFill>
                  <a:srgbClr val="1b0532"/>
                </a:solidFill>
                <a:latin typeface="Arial"/>
                <a:ea typeface="DejaVu Sans"/>
              </a:rPr>
              <a:t>Web App: ocena + anotacja (Flask + SQLite)</a:t>
            </a:r>
            <a:endParaRPr b="0" lang="pl-PL" sz="145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799"/>
              </a:spcAft>
              <a:buNone/>
            </a:pPr>
            <a:r>
              <a:rPr b="0" lang="en-US" sz="1450" spc="-1" strike="noStrike">
                <a:solidFill>
                  <a:srgbClr val="1b0532"/>
                </a:solidFill>
                <a:latin typeface="Arial"/>
                <a:ea typeface="DejaVu Sans"/>
              </a:rPr>
              <a:t>▸  </a:t>
            </a:r>
            <a:r>
              <a:rPr b="0" lang="en-US" sz="1450" spc="-1" strike="noStrike">
                <a:solidFill>
                  <a:srgbClr val="1b0532"/>
                </a:solidFill>
                <a:latin typeface="Arial"/>
                <a:ea typeface="DejaVu Sans"/>
              </a:rPr>
              <a:t>HITL/AL: poprawki wracają do treningu</a:t>
            </a:r>
            <a:endParaRPr b="0" lang="pl-PL" sz="1450" spc="-1" strike="noStrike">
              <a:latin typeface="Arial"/>
            </a:endParaRPr>
          </a:p>
        </p:txBody>
      </p:sp>
      <p:sp>
        <p:nvSpPr>
          <p:cNvPr id="460" name="TextBox 7"/>
          <p:cNvSpPr/>
          <p:nvPr/>
        </p:nvSpPr>
        <p:spPr>
          <a:xfrm>
            <a:off x="6583680" y="1371600"/>
            <a:ext cx="484452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1b0532"/>
                </a:solidFill>
                <a:latin typeface="Arial"/>
                <a:ea typeface="DejaVu Sans"/>
              </a:rPr>
              <a:t>Ocena po HIL/AL — Weights &amp; Biases:</a:t>
            </a:r>
            <a:endParaRPr b="0" lang="pl-PL" sz="1400" spc="-1" strike="noStrike">
              <a:latin typeface="Arial"/>
            </a:endParaRPr>
          </a:p>
        </p:txBody>
      </p:sp>
      <p:sp>
        <p:nvSpPr>
          <p:cNvPr id="461" name="TextBox 8"/>
          <p:cNvSpPr/>
          <p:nvPr/>
        </p:nvSpPr>
        <p:spPr>
          <a:xfrm>
            <a:off x="6583680" y="1783080"/>
            <a:ext cx="4844520" cy="12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5000"/>
              </a:lnSpc>
              <a:spcAft>
                <a:spcPts val="700"/>
              </a:spcAft>
              <a:buNone/>
            </a:pPr>
            <a:r>
              <a:rPr b="0" lang="en-US" sz="1350" spc="-1" strike="noStrike">
                <a:solidFill>
                  <a:srgbClr val="1b0532"/>
                </a:solidFill>
                <a:latin typeface="Arial"/>
                <a:ea typeface="DejaVu Sans"/>
              </a:rPr>
              <a:t>▸  </a:t>
            </a:r>
            <a:r>
              <a:rPr b="0" lang="en-US" sz="1350" spc="-1" strike="noStrike">
                <a:solidFill>
                  <a:srgbClr val="1b0532"/>
                </a:solidFill>
                <a:latin typeface="Arial"/>
                <a:ea typeface="DejaVu Sans"/>
              </a:rPr>
              <a:t>Accuracy i Macro F1 (czułe na imbalance)</a:t>
            </a:r>
            <a:endParaRPr b="0" lang="pl-PL" sz="135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700"/>
              </a:spcAft>
              <a:buNone/>
            </a:pPr>
            <a:r>
              <a:rPr b="0" lang="en-US" sz="1350" spc="-1" strike="noStrike">
                <a:solidFill>
                  <a:srgbClr val="1b0532"/>
                </a:solidFill>
                <a:latin typeface="Arial"/>
                <a:ea typeface="DejaVu Sans"/>
              </a:rPr>
              <a:t>▸  </a:t>
            </a:r>
            <a:r>
              <a:rPr b="0" lang="en-US" sz="1350" spc="-1" strike="noStrike">
                <a:solidFill>
                  <a:srgbClr val="1b0532"/>
                </a:solidFill>
                <a:latin typeface="Arial"/>
                <a:ea typeface="DejaVu Sans"/>
              </a:rPr>
              <a:t>Confusion matrix — które klasy są mylone</a:t>
            </a:r>
            <a:endParaRPr b="0" lang="pl-PL" sz="135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700"/>
              </a:spcAft>
              <a:buNone/>
            </a:pPr>
            <a:r>
              <a:rPr b="0" lang="en-US" sz="1350" spc="-1" strike="noStrike">
                <a:solidFill>
                  <a:srgbClr val="1b0532"/>
                </a:solidFill>
                <a:latin typeface="Arial"/>
                <a:ea typeface="DejaVu Sans"/>
              </a:rPr>
              <a:t>▸  </a:t>
            </a:r>
            <a:r>
              <a:rPr b="0" lang="en-US" sz="1350" spc="-1" strike="noStrike">
                <a:solidFill>
                  <a:srgbClr val="1b0532"/>
                </a:solidFill>
                <a:latin typeface="Arial"/>
                <a:ea typeface="DejaVu Sans"/>
              </a:rPr>
              <a:t>porównanie 3 wariantów </a:t>
            </a:r>
            <a:endParaRPr b="0" lang="pl-PL" sz="135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700"/>
              </a:spcAft>
              <a:buNone/>
            </a:pPr>
            <a:r>
              <a:rPr b="0" lang="en-US" sz="1350" spc="-1" strike="noStrike">
                <a:solidFill>
                  <a:srgbClr val="1b0532"/>
                </a:solidFill>
                <a:latin typeface="Arial"/>
                <a:ea typeface="DejaVu Sans"/>
              </a:rPr>
              <a:t>▸  </a:t>
            </a:r>
            <a:r>
              <a:rPr b="0" lang="en-US" sz="1350" spc="-1" strike="noStrike">
                <a:solidFill>
                  <a:srgbClr val="1b0532"/>
                </a:solidFill>
                <a:latin typeface="Arial"/>
                <a:ea typeface="DejaVu Sans"/>
              </a:rPr>
              <a:t>dane z Web App: czy jest poprawa?</a:t>
            </a:r>
            <a:endParaRPr b="0" lang="pl-PL" sz="1350" spc="-1" strike="noStrike">
              <a:latin typeface="Arial"/>
            </a:endParaRPr>
          </a:p>
        </p:txBody>
      </p:sp>
      <p:sp>
        <p:nvSpPr>
          <p:cNvPr id="462" name="Rounded Rectangle 9"/>
          <p:cNvSpPr/>
          <p:nvPr/>
        </p:nvSpPr>
        <p:spPr>
          <a:xfrm>
            <a:off x="6583680" y="4069080"/>
            <a:ext cx="4844520" cy="866880"/>
          </a:xfrm>
          <a:prstGeom prst="roundRect">
            <a:avLst>
              <a:gd name="adj" fmla="val 16667"/>
            </a:avLst>
          </a:prstGeom>
          <a:solidFill>
            <a:srgbClr val="f2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63" name="Rectangle 10"/>
          <p:cNvSpPr/>
          <p:nvPr/>
        </p:nvSpPr>
        <p:spPr>
          <a:xfrm>
            <a:off x="6583680" y="4069080"/>
            <a:ext cx="48960" cy="866880"/>
          </a:xfrm>
          <a:prstGeom prst="rect">
            <a:avLst/>
          </a:prstGeom>
          <a:solidFill>
            <a:srgbClr val="00be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64" name="TextBox 11"/>
          <p:cNvSpPr/>
          <p:nvPr/>
        </p:nvSpPr>
        <p:spPr>
          <a:xfrm>
            <a:off x="6839640" y="4305600"/>
            <a:ext cx="4387320" cy="43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5000"/>
              </a:lnSpc>
              <a:buNone/>
            </a:pPr>
            <a:r>
              <a:rPr b="1" lang="en-US" sz="1400" spc="-1" strike="noStrike">
                <a:solidFill>
                  <a:srgbClr val="1b0532"/>
                </a:solidFill>
                <a:latin typeface="Arial"/>
                <a:ea typeface="DejaVu Sans"/>
              </a:rPr>
              <a:t>◎  </a:t>
            </a:r>
            <a:r>
              <a:rPr b="1" lang="en-US" sz="1400" spc="-1" strike="noStrike">
                <a:solidFill>
                  <a:srgbClr val="1b0532"/>
                </a:solidFill>
                <a:latin typeface="Arial"/>
                <a:ea typeface="DejaVu Sans"/>
              </a:rPr>
              <a:t>Anotacja w real-time</a:t>
            </a:r>
            <a:endParaRPr b="0" lang="pl-PL" sz="140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US" sz="1300" spc="-1" strike="noStrike">
                <a:solidFill>
                  <a:srgbClr val="6b6478"/>
                </a:solidFill>
                <a:latin typeface="Arial"/>
                <a:ea typeface="DejaVu Sans"/>
              </a:rPr>
              <a:t>Anotacja na żywo: dss2026.radlab.dev + Weights &amp; Biases.</a:t>
            </a:r>
            <a:endParaRPr b="0" lang="pl-PL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TextBox 1"/>
          <p:cNvSpPr/>
          <p:nvPr/>
        </p:nvSpPr>
        <p:spPr>
          <a:xfrm>
            <a:off x="768240" y="420480"/>
            <a:ext cx="1060524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900" spc="-1" strike="noStrike">
                <a:solidFill>
                  <a:srgbClr val="1b0532"/>
                </a:solidFill>
                <a:latin typeface="Play"/>
                <a:ea typeface="DejaVu Sans"/>
              </a:rPr>
              <a:t>Wnioski</a:t>
            </a:r>
            <a:endParaRPr b="0" lang="pl-PL" sz="2900" spc="-1" strike="noStrike">
              <a:latin typeface="Arial"/>
            </a:endParaRPr>
          </a:p>
        </p:txBody>
      </p:sp>
      <p:sp>
        <p:nvSpPr>
          <p:cNvPr id="466" name="Rectangle 2"/>
          <p:cNvSpPr/>
          <p:nvPr/>
        </p:nvSpPr>
        <p:spPr>
          <a:xfrm>
            <a:off x="768240" y="1170360"/>
            <a:ext cx="1369800" cy="42480"/>
          </a:xfrm>
          <a:prstGeom prst="rect">
            <a:avLst/>
          </a:prstGeom>
          <a:solidFill>
            <a:srgbClr val="00be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67" name="Rectangle 3"/>
          <p:cNvSpPr/>
          <p:nvPr/>
        </p:nvSpPr>
        <p:spPr>
          <a:xfrm>
            <a:off x="0" y="6437520"/>
            <a:ext cx="12189960" cy="13320"/>
          </a:xfrm>
          <a:prstGeom prst="rect">
            <a:avLst/>
          </a:prstGeom>
          <a:solidFill>
            <a:srgbClr val="f2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68" name="TextBox 4"/>
          <p:cNvSpPr/>
          <p:nvPr/>
        </p:nvSpPr>
        <p:spPr>
          <a:xfrm>
            <a:off x="768240" y="6473880"/>
            <a:ext cx="82278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b6478"/>
                </a:solidFill>
                <a:latin typeface="Arial"/>
                <a:ea typeface="DejaVu Sans"/>
              </a:rPr>
              <a:t>DSS 2026 AI Edition  ·  Podsumowanie</a:t>
            </a:r>
            <a:endParaRPr b="0" lang="pl-PL" sz="900" spc="-1" strike="noStrike">
              <a:latin typeface="Arial"/>
            </a:endParaRPr>
          </a:p>
        </p:txBody>
      </p:sp>
      <p:sp>
        <p:nvSpPr>
          <p:cNvPr id="469" name="TextBox 5"/>
          <p:cNvSpPr/>
          <p:nvPr/>
        </p:nvSpPr>
        <p:spPr>
          <a:xfrm>
            <a:off x="10607040" y="6473880"/>
            <a:ext cx="8211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b6478"/>
                </a:solidFill>
                <a:latin typeface="Arial"/>
                <a:ea typeface="DejaVu Sans"/>
              </a:rPr>
              <a:t>27</a:t>
            </a:r>
            <a:endParaRPr b="0" lang="pl-PL" sz="900" spc="-1" strike="noStrike">
              <a:latin typeface="Arial"/>
            </a:endParaRPr>
          </a:p>
        </p:txBody>
      </p:sp>
      <p:sp>
        <p:nvSpPr>
          <p:cNvPr id="470" name="Rounded Rectangle 6"/>
          <p:cNvSpPr/>
          <p:nvPr/>
        </p:nvSpPr>
        <p:spPr>
          <a:xfrm>
            <a:off x="768240" y="1417320"/>
            <a:ext cx="3427200" cy="3655800"/>
          </a:xfrm>
          <a:prstGeom prst="roundRect">
            <a:avLst>
              <a:gd name="adj" fmla="val 16667"/>
            </a:avLst>
          </a:prstGeom>
          <a:solidFill>
            <a:srgbClr val="f2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71" name="Rounded Rectangle 7"/>
          <p:cNvSpPr/>
          <p:nvPr/>
        </p:nvSpPr>
        <p:spPr>
          <a:xfrm>
            <a:off x="768240" y="1417320"/>
            <a:ext cx="3427200" cy="501120"/>
          </a:xfrm>
          <a:prstGeom prst="roundRect">
            <a:avLst>
              <a:gd name="adj" fmla="val 16667"/>
            </a:avLst>
          </a:prstGeom>
          <a:solidFill>
            <a:srgbClr val="1f9e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72" name="TextBox 8"/>
          <p:cNvSpPr/>
          <p:nvPr/>
        </p:nvSpPr>
        <p:spPr>
          <a:xfrm>
            <a:off x="768240" y="1490400"/>
            <a:ext cx="34272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Co zadziałało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473" name="TextBox 9"/>
          <p:cNvSpPr/>
          <p:nvPr/>
        </p:nvSpPr>
        <p:spPr>
          <a:xfrm>
            <a:off x="996840" y="2103120"/>
            <a:ext cx="3015720" cy="123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5000"/>
              </a:lnSpc>
              <a:spcAft>
                <a:spcPts val="901"/>
              </a:spcAft>
              <a:buNone/>
            </a:pPr>
            <a:r>
              <a:rPr b="0" lang="en-US" sz="1250" spc="-1" strike="noStrike">
                <a:solidFill>
                  <a:srgbClr val="1b0532"/>
                </a:solidFill>
                <a:latin typeface="Arial"/>
                <a:ea typeface="DejaVu Sans"/>
              </a:rPr>
              <a:t>▸  </a:t>
            </a:r>
            <a:r>
              <a:rPr b="0" lang="en-US" sz="1250" spc="-1" strike="noStrike">
                <a:solidFill>
                  <a:srgbClr val="1b0532"/>
                </a:solidFill>
                <a:latin typeface="Arial"/>
                <a:ea typeface="DejaVu Sans"/>
              </a:rPr>
              <a:t>auto-labelowanie ~10×+ szybciej</a:t>
            </a:r>
            <a:endParaRPr b="0" lang="pl-PL" sz="125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901"/>
              </a:spcAft>
              <a:buNone/>
            </a:pPr>
            <a:r>
              <a:rPr b="0" lang="en-US" sz="1250" spc="-1" strike="noStrike">
                <a:solidFill>
                  <a:srgbClr val="1b0532"/>
                </a:solidFill>
                <a:latin typeface="Arial"/>
                <a:ea typeface="DejaVu Sans"/>
              </a:rPr>
              <a:t>▸  </a:t>
            </a:r>
            <a:r>
              <a:rPr b="0" lang="en-US" sz="1250" spc="-1" strike="noStrike">
                <a:solidFill>
                  <a:srgbClr val="1b0532"/>
                </a:solidFill>
                <a:latin typeface="Arial"/>
                <a:ea typeface="DejaVu Sans"/>
              </a:rPr>
              <a:t>augmentacja ↑ recall klasy pozytywny</a:t>
            </a:r>
            <a:endParaRPr b="0" lang="pl-PL" sz="125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901"/>
              </a:spcAft>
              <a:buNone/>
            </a:pPr>
            <a:r>
              <a:rPr b="0" lang="en-US" sz="1250" spc="-1" strike="noStrike">
                <a:solidFill>
                  <a:srgbClr val="1b0532"/>
                </a:solidFill>
                <a:latin typeface="Arial"/>
                <a:ea typeface="DejaVu Sans"/>
              </a:rPr>
              <a:t>▸  </a:t>
            </a:r>
            <a:r>
              <a:rPr b="0" lang="en-US" sz="1250" spc="-1" strike="noStrike">
                <a:solidFill>
                  <a:srgbClr val="1b0532"/>
                </a:solidFill>
                <a:latin typeface="Arial"/>
                <a:ea typeface="DejaVu Sans"/>
              </a:rPr>
              <a:t>Web App — szybki wgląd w błędy</a:t>
            </a:r>
            <a:endParaRPr b="0" lang="pl-PL" sz="125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901"/>
              </a:spcAft>
              <a:buNone/>
            </a:pPr>
            <a:r>
              <a:rPr b="0" lang="en-US" sz="1250" spc="-1" strike="noStrike">
                <a:solidFill>
                  <a:srgbClr val="1b0532"/>
                </a:solidFill>
                <a:latin typeface="Arial"/>
                <a:ea typeface="DejaVu Sans"/>
              </a:rPr>
              <a:t>▸  </a:t>
            </a:r>
            <a:r>
              <a:rPr b="0" lang="en-US" sz="1250" spc="-1" strike="noStrike">
                <a:solidFill>
                  <a:srgbClr val="1b0532"/>
                </a:solidFill>
                <a:latin typeface="Arial"/>
                <a:ea typeface="DejaVu Sans"/>
              </a:rPr>
              <a:t>HIL/AL — najtrudniejsze przykłady</a:t>
            </a:r>
            <a:endParaRPr b="0" lang="pl-PL" sz="1250" spc="-1" strike="noStrike">
              <a:latin typeface="Arial"/>
            </a:endParaRPr>
          </a:p>
        </p:txBody>
      </p:sp>
      <p:sp>
        <p:nvSpPr>
          <p:cNvPr id="474" name="Rounded Rectangle 10"/>
          <p:cNvSpPr/>
          <p:nvPr/>
        </p:nvSpPr>
        <p:spPr>
          <a:xfrm>
            <a:off x="4380120" y="1417320"/>
            <a:ext cx="3427200" cy="3655800"/>
          </a:xfrm>
          <a:prstGeom prst="roundRect">
            <a:avLst>
              <a:gd name="adj" fmla="val 16667"/>
            </a:avLst>
          </a:prstGeom>
          <a:solidFill>
            <a:srgbClr val="f2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75" name="Rounded Rectangle 11"/>
          <p:cNvSpPr/>
          <p:nvPr/>
        </p:nvSpPr>
        <p:spPr>
          <a:xfrm>
            <a:off x="4380120" y="1417320"/>
            <a:ext cx="3427200" cy="501120"/>
          </a:xfrm>
          <a:prstGeom prst="roundRect">
            <a:avLst>
              <a:gd name="adj" fmla="val 16667"/>
            </a:avLst>
          </a:prstGeom>
          <a:solidFill>
            <a:srgbClr val="c97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76" name="TextBox 12"/>
          <p:cNvSpPr/>
          <p:nvPr/>
        </p:nvSpPr>
        <p:spPr>
          <a:xfrm>
            <a:off x="4380120" y="1490400"/>
            <a:ext cx="34272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Na co uważać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477" name="TextBox 13"/>
          <p:cNvSpPr/>
          <p:nvPr/>
        </p:nvSpPr>
        <p:spPr>
          <a:xfrm>
            <a:off x="4608720" y="2103120"/>
            <a:ext cx="3015720" cy="123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5000"/>
              </a:lnSpc>
              <a:spcAft>
                <a:spcPts val="901"/>
              </a:spcAft>
              <a:buNone/>
            </a:pPr>
            <a:r>
              <a:rPr b="0" lang="en-US" sz="1250" spc="-1" strike="noStrike">
                <a:solidFill>
                  <a:srgbClr val="1b0532"/>
                </a:solidFill>
                <a:latin typeface="Arial"/>
                <a:ea typeface="DejaVu Sans"/>
              </a:rPr>
              <a:t>▸  </a:t>
            </a:r>
            <a:r>
              <a:rPr b="0" lang="en-US" sz="1250" spc="-1" strike="noStrike">
                <a:solidFill>
                  <a:srgbClr val="1b0532"/>
                </a:solidFill>
                <a:latin typeface="Arial"/>
                <a:ea typeface="DejaVu Sans"/>
              </a:rPr>
              <a:t>augmentacja bez HIL może szkodzić</a:t>
            </a:r>
            <a:endParaRPr b="0" lang="pl-PL" sz="125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901"/>
              </a:spcAft>
              <a:buNone/>
            </a:pPr>
            <a:r>
              <a:rPr b="0" lang="en-US" sz="1250" spc="-1" strike="noStrike">
                <a:solidFill>
                  <a:srgbClr val="1b0532"/>
                </a:solidFill>
                <a:latin typeface="Arial"/>
                <a:ea typeface="DejaVu Sans"/>
              </a:rPr>
              <a:t>▸  </a:t>
            </a:r>
            <a:r>
              <a:rPr b="0" lang="en-US" sz="1250" spc="-1" strike="noStrike">
                <a:solidFill>
                  <a:srgbClr val="1b0532"/>
                </a:solidFill>
                <a:latin typeface="Arial"/>
                <a:ea typeface="DejaVu Sans"/>
              </a:rPr>
              <a:t>temperatura &gt;0 ryzykuje poprawność</a:t>
            </a:r>
            <a:endParaRPr b="0" lang="pl-PL" sz="125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901"/>
              </a:spcAft>
              <a:buNone/>
            </a:pPr>
            <a:r>
              <a:rPr b="0" lang="en-US" sz="1250" spc="-1" strike="noStrike">
                <a:solidFill>
                  <a:srgbClr val="1b0532"/>
                </a:solidFill>
                <a:latin typeface="Arial"/>
                <a:ea typeface="DejaVu Sans"/>
              </a:rPr>
              <a:t>▸  </a:t>
            </a:r>
            <a:r>
              <a:rPr b="0" lang="en-US" sz="1250" spc="-1" strike="noStrike">
                <a:solidFill>
                  <a:srgbClr val="1b0532"/>
                </a:solidFill>
                <a:latin typeface="Arial"/>
                <a:ea typeface="DejaVu Sans"/>
              </a:rPr>
              <a:t>tylko jedna klasa augmentowana</a:t>
            </a:r>
            <a:endParaRPr b="0" lang="pl-PL" sz="125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901"/>
              </a:spcAft>
              <a:buNone/>
            </a:pPr>
            <a:r>
              <a:rPr b="0" lang="en-US" sz="1250" spc="-1" strike="noStrike">
                <a:solidFill>
                  <a:srgbClr val="1b0532"/>
                </a:solidFill>
                <a:latin typeface="Arial"/>
                <a:ea typeface="DejaVu Sans"/>
              </a:rPr>
              <a:t>▸  </a:t>
            </a:r>
            <a:r>
              <a:rPr b="0" lang="en-US" sz="1250" spc="-1" strike="noStrike">
                <a:solidFill>
                  <a:srgbClr val="1b0532"/>
                </a:solidFill>
                <a:latin typeface="Arial"/>
                <a:ea typeface="DejaVu Sans"/>
              </a:rPr>
              <a:t>LLM może powielać bias danych</a:t>
            </a:r>
            <a:endParaRPr b="0" lang="pl-PL" sz="1250" spc="-1" strike="noStrike">
              <a:latin typeface="Arial"/>
            </a:endParaRPr>
          </a:p>
        </p:txBody>
      </p:sp>
      <p:sp>
        <p:nvSpPr>
          <p:cNvPr id="478" name="Rounded Rectangle 14"/>
          <p:cNvSpPr/>
          <p:nvPr/>
        </p:nvSpPr>
        <p:spPr>
          <a:xfrm>
            <a:off x="7992000" y="1417320"/>
            <a:ext cx="3427200" cy="3655800"/>
          </a:xfrm>
          <a:prstGeom prst="roundRect">
            <a:avLst>
              <a:gd name="adj" fmla="val 16667"/>
            </a:avLst>
          </a:prstGeom>
          <a:solidFill>
            <a:srgbClr val="f2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79" name="Rounded Rectangle 15"/>
          <p:cNvSpPr/>
          <p:nvPr/>
        </p:nvSpPr>
        <p:spPr>
          <a:xfrm>
            <a:off x="7992000" y="1417320"/>
            <a:ext cx="3427200" cy="501120"/>
          </a:xfrm>
          <a:prstGeom prst="roundRect">
            <a:avLst>
              <a:gd name="adj" fmla="val 16667"/>
            </a:avLst>
          </a:prstGeom>
          <a:solidFill>
            <a:srgbClr val="8b19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80" name="TextBox 16"/>
          <p:cNvSpPr/>
          <p:nvPr/>
        </p:nvSpPr>
        <p:spPr>
          <a:xfrm>
            <a:off x="7992000" y="1490400"/>
            <a:ext cx="34272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DejaVu Sans"/>
              </a:rPr>
              <a:t>Co dalej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481" name="TextBox 17"/>
          <p:cNvSpPr/>
          <p:nvPr/>
        </p:nvSpPr>
        <p:spPr>
          <a:xfrm>
            <a:off x="8220600" y="2103120"/>
            <a:ext cx="3015720" cy="123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5000"/>
              </a:lnSpc>
              <a:spcAft>
                <a:spcPts val="901"/>
              </a:spcAft>
              <a:buNone/>
            </a:pPr>
            <a:r>
              <a:rPr b="0" lang="en-US" sz="1250" spc="-1" strike="noStrike">
                <a:solidFill>
                  <a:srgbClr val="1b0532"/>
                </a:solidFill>
                <a:latin typeface="Arial"/>
                <a:ea typeface="DejaVu Sans"/>
              </a:rPr>
              <a:t>▸  </a:t>
            </a:r>
            <a:r>
              <a:rPr b="0" lang="en-US" sz="1250" spc="-1" strike="noStrike">
                <a:solidFill>
                  <a:srgbClr val="1b0532"/>
                </a:solidFill>
                <a:latin typeface="Arial"/>
                <a:ea typeface="DejaVu Sans"/>
              </a:rPr>
              <a:t>augmentacja wszystkich klas</a:t>
            </a:r>
            <a:endParaRPr b="0" lang="pl-PL" sz="125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901"/>
              </a:spcAft>
              <a:buNone/>
            </a:pPr>
            <a:r>
              <a:rPr b="0" lang="en-US" sz="1250" spc="-1" strike="noStrike">
                <a:solidFill>
                  <a:srgbClr val="1b0532"/>
                </a:solidFill>
                <a:latin typeface="Arial"/>
                <a:ea typeface="DejaVu Sans"/>
              </a:rPr>
              <a:t>▸  </a:t>
            </a:r>
            <a:r>
              <a:rPr b="0" lang="en-US" sz="1250" spc="-1" strike="noStrike">
                <a:solidFill>
                  <a:srgbClr val="1b0532"/>
                </a:solidFill>
                <a:latin typeface="Arial"/>
                <a:ea typeface="DejaVu Sans"/>
              </a:rPr>
              <a:t>multi-model routing zadaniowy</a:t>
            </a:r>
            <a:endParaRPr b="0" lang="pl-PL" sz="125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901"/>
              </a:spcAft>
              <a:buNone/>
            </a:pPr>
            <a:r>
              <a:rPr b="0" lang="en-US" sz="1250" spc="-1" strike="noStrike">
                <a:solidFill>
                  <a:srgbClr val="1b0532"/>
                </a:solidFill>
                <a:latin typeface="Arial"/>
                <a:ea typeface="DejaVu Sans"/>
              </a:rPr>
              <a:t>▸  </a:t>
            </a:r>
            <a:r>
              <a:rPr b="0" lang="en-US" sz="1250" spc="-1" strike="noStrike">
                <a:solidFill>
                  <a:srgbClr val="1b0532"/>
                </a:solidFill>
                <a:latin typeface="Arial"/>
                <a:ea typeface="DejaVu Sans"/>
              </a:rPr>
              <a:t>pipeline CI/CD dla datasetów</a:t>
            </a:r>
            <a:endParaRPr b="0" lang="pl-PL" sz="125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901"/>
              </a:spcAft>
              <a:buNone/>
            </a:pPr>
            <a:r>
              <a:rPr b="0" lang="en-US" sz="1250" spc="-1" strike="noStrike">
                <a:solidFill>
                  <a:srgbClr val="1b0532"/>
                </a:solidFill>
                <a:latin typeface="Arial"/>
                <a:ea typeface="DejaVu Sans"/>
              </a:rPr>
              <a:t>▸  </a:t>
            </a:r>
            <a:r>
              <a:rPr b="0" lang="en-US" sz="1250" spc="-1" strike="noStrike">
                <a:solidFill>
                  <a:srgbClr val="1b0532"/>
                </a:solidFill>
                <a:latin typeface="Arial"/>
                <a:ea typeface="DejaVu Sans"/>
              </a:rPr>
              <a:t>HIL/AL na strumieniu (online)</a:t>
            </a:r>
            <a:endParaRPr b="0" lang="pl-PL" sz="1250" spc="-1" strike="noStrike">
              <a:latin typeface="Arial"/>
            </a:endParaRPr>
          </a:p>
        </p:txBody>
      </p:sp>
      <p:sp>
        <p:nvSpPr>
          <p:cNvPr id="482" name="Rounded Rectangle 18"/>
          <p:cNvSpPr/>
          <p:nvPr/>
        </p:nvSpPr>
        <p:spPr>
          <a:xfrm>
            <a:off x="768240" y="5212080"/>
            <a:ext cx="10650960" cy="501120"/>
          </a:xfrm>
          <a:prstGeom prst="roundRect">
            <a:avLst>
              <a:gd name="adj" fmla="val 16667"/>
            </a:avLst>
          </a:prstGeom>
          <a:solidFill>
            <a:srgbClr val="f2f1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83" name="Rectangle 19"/>
          <p:cNvSpPr/>
          <p:nvPr/>
        </p:nvSpPr>
        <p:spPr>
          <a:xfrm>
            <a:off x="768240" y="5212080"/>
            <a:ext cx="48960" cy="501120"/>
          </a:xfrm>
          <a:prstGeom prst="rect">
            <a:avLst/>
          </a:prstGeom>
          <a:solidFill>
            <a:srgbClr val="00be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84" name="TextBox 20"/>
          <p:cNvSpPr/>
          <p:nvPr/>
        </p:nvSpPr>
        <p:spPr>
          <a:xfrm>
            <a:off x="1024200" y="5377320"/>
            <a:ext cx="10193760" cy="20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5000"/>
              </a:lnSpc>
              <a:buNone/>
            </a:pPr>
            <a:r>
              <a:rPr b="0" lang="en-US" sz="1300" spc="-1" strike="noStrike">
                <a:solidFill>
                  <a:srgbClr val="6b6478"/>
                </a:solidFill>
                <a:latin typeface="Arial"/>
                <a:ea typeface="DejaVu Sans"/>
              </a:rPr>
              <a:t>Kontrolowana augmentacja + Active Learning + Human in the Loop = bezpieczniejsza droga do lepszego modelu.</a:t>
            </a:r>
            <a:endParaRPr b="0" lang="pl-PL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4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Rectangle 1"/>
          <p:cNvSpPr/>
          <p:nvPr/>
        </p:nvSpPr>
        <p:spPr>
          <a:xfrm>
            <a:off x="0" y="2606040"/>
            <a:ext cx="1827000" cy="61560"/>
          </a:xfrm>
          <a:prstGeom prst="rect">
            <a:avLst/>
          </a:prstGeom>
          <a:solidFill>
            <a:srgbClr val="00be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86" name="TextBox 2"/>
          <p:cNvSpPr/>
          <p:nvPr/>
        </p:nvSpPr>
        <p:spPr>
          <a:xfrm>
            <a:off x="768240" y="2788920"/>
            <a:ext cx="10422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5400" spc="-1" strike="noStrike">
                <a:solidFill>
                  <a:srgbClr val="ffffff"/>
                </a:solidFill>
                <a:latin typeface="Play"/>
                <a:ea typeface="DejaVu Sans"/>
              </a:rPr>
              <a:t>Dziękujemy za uwagę!</a:t>
            </a:r>
            <a:endParaRPr b="0" lang="pl-PL" sz="5400" spc="-1" strike="noStrike">
              <a:latin typeface="Arial"/>
            </a:endParaRPr>
          </a:p>
        </p:txBody>
      </p:sp>
      <p:sp>
        <p:nvSpPr>
          <p:cNvPr id="487" name="TextBox 3"/>
          <p:cNvSpPr/>
          <p:nvPr/>
        </p:nvSpPr>
        <p:spPr>
          <a:xfrm>
            <a:off x="768240" y="3977640"/>
            <a:ext cx="100566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c9e9f5"/>
                </a:solidFill>
                <a:latin typeface="Arial"/>
                <a:ea typeface="DejaVu Sans"/>
              </a:rPr>
              <a:t>Pytania i dyskusja.</a:t>
            </a:r>
            <a:endParaRPr b="0" lang="pl-PL" sz="2000" spc="-1" strike="noStrike">
              <a:latin typeface="Arial"/>
            </a:endParaRPr>
          </a:p>
        </p:txBody>
      </p:sp>
      <p:sp>
        <p:nvSpPr>
          <p:cNvPr id="488" name="TextBox 4"/>
          <p:cNvSpPr/>
          <p:nvPr/>
        </p:nvSpPr>
        <p:spPr>
          <a:xfrm>
            <a:off x="768240" y="4754880"/>
            <a:ext cx="10056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00befe"/>
                </a:solidFill>
                <a:latin typeface="Arial"/>
                <a:ea typeface="DejaVu Sans"/>
              </a:rPr>
              <a:t>https://dss2026.radlab.dev/</a:t>
            </a:r>
            <a:endParaRPr b="0" lang="pl-PL" sz="1800" spc="-1" strike="noStrike">
              <a:latin typeface="Arial"/>
            </a:endParaRPr>
          </a:p>
        </p:txBody>
      </p:sp>
      <p:sp>
        <p:nvSpPr>
          <p:cNvPr id="489" name="TextBox 5"/>
          <p:cNvSpPr/>
          <p:nvPr/>
        </p:nvSpPr>
        <p:spPr>
          <a:xfrm>
            <a:off x="768240" y="5852160"/>
            <a:ext cx="731340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6b6478"/>
                </a:solidFill>
                <a:latin typeface="Arial"/>
                <a:ea typeface="DejaVu Sans"/>
              </a:rPr>
              <a:t>Radlab Developer Services · DSS 2026 AI Edition</a:t>
            </a:r>
            <a:endParaRPr b="0" lang="pl-PL" sz="1300" spc="-1" strike="noStrike">
              <a:latin typeface="Arial"/>
            </a:endParaRPr>
          </a:p>
        </p:txBody>
      </p:sp>
      <p:pic>
        <p:nvPicPr>
          <p:cNvPr id="490" name="" descr=""/>
          <p:cNvPicPr/>
          <p:nvPr/>
        </p:nvPicPr>
        <p:blipFill>
          <a:blip r:embed="rId1"/>
          <a:stretch/>
        </p:blipFill>
        <p:spPr>
          <a:xfrm>
            <a:off x="11016000" y="6170400"/>
            <a:ext cx="1061640" cy="596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pl-PL</dc:language>
  <cp:lastModifiedBy/>
  <dcterms:modified xsi:type="dcterms:W3CDTF">2026-06-18T06:31:30Z</dcterms:modified>
  <cp:revision>22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